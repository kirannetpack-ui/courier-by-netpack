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84789a06b54cfe" /><Relationship Type="http://schemas.openxmlformats.org/officeDocument/2006/relationships/extended-properties" Target="/docProps/app.xml" Id="R8e3d251d12b34e96" /><Relationship Type="http://schemas.openxmlformats.org/officeDocument/2006/relationships/officeDocument" Target="/ppt/presentation.xml" Id="Rf668d2b40fdf4c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f4fbfe7138410f"/>
  </p:sldMasterIdLst>
  <p:notesMasterIdLst>
    <p:notesMasterId xmlns:r="http://schemas.openxmlformats.org/officeDocument/2006/relationships" r:id="Rbee8b10e330c44c4"/>
  </p:notesMasterIdLst>
  <p:sldIdLst>
    <p:sldId xmlns:r="http://schemas.openxmlformats.org/officeDocument/2006/relationships" id="256" r:id="R438324a163424bb9"/>
    <p:sldId xmlns:r="http://schemas.openxmlformats.org/officeDocument/2006/relationships" id="257" r:id="R1f1811967bd743a8"/>
    <p:sldId xmlns:r="http://schemas.openxmlformats.org/officeDocument/2006/relationships" id="258" r:id="R7217748a96a24ed7"/>
    <p:sldId xmlns:r="http://schemas.openxmlformats.org/officeDocument/2006/relationships" id="259" r:id="R48658ffd110447e2"/>
    <p:sldId xmlns:r="http://schemas.openxmlformats.org/officeDocument/2006/relationships" id="260" r:id="Re53979c2b4ac4849"/>
    <p:sldId xmlns:r="http://schemas.openxmlformats.org/officeDocument/2006/relationships" id="261" r:id="R6ae3ea49a12146c6"/>
    <p:sldId xmlns:r="http://schemas.openxmlformats.org/officeDocument/2006/relationships" id="262" r:id="R085f7bfbb417450e"/>
    <p:sldId xmlns:r="http://schemas.openxmlformats.org/officeDocument/2006/relationships" id="263" r:id="Raa5175bf5c1f44b4"/>
    <p:sldId xmlns:r="http://schemas.openxmlformats.org/officeDocument/2006/relationships" id="264" r:id="Rd48ca04fb62a43a0"/>
    <p:sldId xmlns:r="http://schemas.openxmlformats.org/officeDocument/2006/relationships" id="265" r:id="Rc6092ddb487e42a2"/>
    <p:sldId xmlns:r="http://schemas.openxmlformats.org/officeDocument/2006/relationships" id="266" r:id="Reb0ada2bf4764ff1"/>
    <p:sldId xmlns:r="http://schemas.openxmlformats.org/officeDocument/2006/relationships" id="267" r:id="Rf55b813e03394485"/>
    <p:sldId xmlns:r="http://schemas.openxmlformats.org/officeDocument/2006/relationships" id="268" r:id="Rea871d0453f44600"/>
    <p:sldId xmlns:r="http://schemas.openxmlformats.org/officeDocument/2006/relationships" id="269" r:id="R3c72f79ecc5c4be3"/>
    <p:sldId xmlns:r="http://schemas.openxmlformats.org/officeDocument/2006/relationships" id="270" r:id="Raf52328ef4da4c59"/>
    <p:sldId xmlns:r="http://schemas.openxmlformats.org/officeDocument/2006/relationships" id="271" r:id="R3b91469d86164dca"/>
    <p:sldId xmlns:r="http://schemas.openxmlformats.org/officeDocument/2006/relationships" id="272" r:id="R63b687b5d87d472e"/>
    <p:sldId xmlns:r="http://schemas.openxmlformats.org/officeDocument/2006/relationships" id="273" r:id="R468ae681f14849e7"/>
    <p:sldId xmlns:r="http://schemas.openxmlformats.org/officeDocument/2006/relationships" id="274" r:id="Re316cc255c9e4cd7"/>
    <p:sldId xmlns:r="http://schemas.openxmlformats.org/officeDocument/2006/relationships" id="275" r:id="R3faff725ee7b4520"/>
    <p:sldId xmlns:r="http://schemas.openxmlformats.org/officeDocument/2006/relationships" id="276" r:id="R8c868620056347fa"/>
    <p:sldId xmlns:r="http://schemas.openxmlformats.org/officeDocument/2006/relationships" id="277" r:id="Rf71217486e264a58"/>
    <p:sldId xmlns:r="http://schemas.openxmlformats.org/officeDocument/2006/relationships" id="278" r:id="R4905924593a34205"/>
    <p:sldId xmlns:r="http://schemas.openxmlformats.org/officeDocument/2006/relationships" id="279" r:id="R09786c061b8a4170"/>
    <p:sldId xmlns:r="http://schemas.openxmlformats.org/officeDocument/2006/relationships" id="280" r:id="R653231ca7235426e"/>
    <p:sldId xmlns:r="http://schemas.openxmlformats.org/officeDocument/2006/relationships" id="281" r:id="R21494a7fc4954f15"/>
    <p:sldId xmlns:r="http://schemas.openxmlformats.org/officeDocument/2006/relationships" id="282" r:id="R5aab7512a79b4864"/>
    <p:sldId xmlns:r="http://schemas.openxmlformats.org/officeDocument/2006/relationships" id="283" r:id="R9316aa273ab64460"/>
    <p:sldId xmlns:r="http://schemas.openxmlformats.org/officeDocument/2006/relationships" id="284" r:id="Rb2a722b4f16f4255"/>
    <p:sldId xmlns:r="http://schemas.openxmlformats.org/officeDocument/2006/relationships" id="285" r:id="R4bf1276aa48241b0"/>
    <p:sldId xmlns:r="http://schemas.openxmlformats.org/officeDocument/2006/relationships" id="286" r:id="Rae7b93c8ba3341ef"/>
    <p:sldId xmlns:r="http://schemas.openxmlformats.org/officeDocument/2006/relationships" id="287" r:id="R8cbdf11abcbe484f"/>
    <p:sldId xmlns:r="http://schemas.openxmlformats.org/officeDocument/2006/relationships" id="288" r:id="R987e5bb922e14ebb"/>
    <p:sldId xmlns:r="http://schemas.openxmlformats.org/officeDocument/2006/relationships" id="289" r:id="R106cc5d6ad7b47b4"/>
    <p:sldId xmlns:r="http://schemas.openxmlformats.org/officeDocument/2006/relationships" id="290" r:id="Rc4bc0207062a49c8"/>
    <p:sldId xmlns:r="http://schemas.openxmlformats.org/officeDocument/2006/relationships" id="291" r:id="R95759d9189f342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636babffca45df" /><Relationship Type="http://schemas.openxmlformats.org/officeDocument/2006/relationships/slideMaster" Target="/ppt/slideMasters/slideMaster1.xml" Id="Re3f4fbfe7138410f" /><Relationship Type="http://schemas.openxmlformats.org/officeDocument/2006/relationships/notesMaster" Target="/ppt/notesMasters/notesMaster1.xml" Id="Rbee8b10e330c44c4" /><Relationship Type="http://schemas.openxmlformats.org/officeDocument/2006/relationships/presProps" Target="/ppt/presProps.xml" Id="R05f5c4da489c4321" /><Relationship Type="http://schemas.openxmlformats.org/officeDocument/2006/relationships/tableStyles" Target="/ppt/tableStyles.xml" Id="R8bc3bc67dde4495c" /><Relationship Type="http://schemas.openxmlformats.org/officeDocument/2006/relationships/slide" Target="/ppt/slides/slide1.xml" Id="R438324a163424bb9" /><Relationship Type="http://schemas.openxmlformats.org/officeDocument/2006/relationships/slide" Target="/ppt/slides/slide2.xml" Id="R1f1811967bd743a8" /><Relationship Type="http://schemas.openxmlformats.org/officeDocument/2006/relationships/slide" Target="/ppt/slides/slide3.xml" Id="R7217748a96a24ed7" /><Relationship Type="http://schemas.openxmlformats.org/officeDocument/2006/relationships/slide" Target="/ppt/slides/slide4.xml" Id="R48658ffd110447e2" /><Relationship Type="http://schemas.openxmlformats.org/officeDocument/2006/relationships/slide" Target="/ppt/slides/slide5.xml" Id="Re53979c2b4ac4849" /><Relationship Type="http://schemas.openxmlformats.org/officeDocument/2006/relationships/slide" Target="/ppt/slides/slide6.xml" Id="R6ae3ea49a12146c6" /><Relationship Type="http://schemas.openxmlformats.org/officeDocument/2006/relationships/slide" Target="/ppt/slides/slide7.xml" Id="R085f7bfbb417450e" /><Relationship Type="http://schemas.openxmlformats.org/officeDocument/2006/relationships/slide" Target="/ppt/slides/slide8.xml" Id="Raa5175bf5c1f44b4" /><Relationship Type="http://schemas.openxmlformats.org/officeDocument/2006/relationships/slide" Target="/ppt/slides/slide9.xml" Id="Rd48ca04fb62a43a0" /><Relationship Type="http://schemas.openxmlformats.org/officeDocument/2006/relationships/slide" Target="/ppt/slides/slide10.xml" Id="Rc6092ddb487e42a2" /><Relationship Type="http://schemas.openxmlformats.org/officeDocument/2006/relationships/slide" Target="/ppt/slides/slide11.xml" Id="Reb0ada2bf4764ff1" /><Relationship Type="http://schemas.openxmlformats.org/officeDocument/2006/relationships/slide" Target="/ppt/slides/slide12.xml" Id="Rf55b813e03394485" /><Relationship Type="http://schemas.openxmlformats.org/officeDocument/2006/relationships/slide" Target="/ppt/slides/slide13.xml" Id="Rea871d0453f44600" /><Relationship Type="http://schemas.openxmlformats.org/officeDocument/2006/relationships/slide" Target="/ppt/slides/slide14.xml" Id="R3c72f79ecc5c4be3" /><Relationship Type="http://schemas.openxmlformats.org/officeDocument/2006/relationships/slide" Target="/ppt/slides/slide15.xml" Id="Raf52328ef4da4c59" /><Relationship Type="http://schemas.openxmlformats.org/officeDocument/2006/relationships/slide" Target="/ppt/slides/slide16.xml" Id="R3b91469d86164dca" /><Relationship Type="http://schemas.openxmlformats.org/officeDocument/2006/relationships/slide" Target="/ppt/slides/slide17.xml" Id="R63b687b5d87d472e" /><Relationship Type="http://schemas.openxmlformats.org/officeDocument/2006/relationships/slide" Target="/ppt/slides/slide18.xml" Id="R468ae681f14849e7" /><Relationship Type="http://schemas.openxmlformats.org/officeDocument/2006/relationships/slide" Target="/ppt/slides/slide19.xml" Id="Re316cc255c9e4cd7" /><Relationship Type="http://schemas.openxmlformats.org/officeDocument/2006/relationships/slide" Target="/ppt/slides/slide20.xml" Id="R3faff725ee7b4520" /><Relationship Type="http://schemas.openxmlformats.org/officeDocument/2006/relationships/slide" Target="/ppt/slides/slide21.xml" Id="R8c868620056347fa" /><Relationship Type="http://schemas.openxmlformats.org/officeDocument/2006/relationships/slide" Target="/ppt/slides/slide22.xml" Id="Rf71217486e264a58" /><Relationship Type="http://schemas.openxmlformats.org/officeDocument/2006/relationships/slide" Target="/ppt/slides/slide23.xml" Id="R4905924593a34205" /><Relationship Type="http://schemas.openxmlformats.org/officeDocument/2006/relationships/slide" Target="/ppt/slides/slide24.xml" Id="R09786c061b8a4170" /><Relationship Type="http://schemas.openxmlformats.org/officeDocument/2006/relationships/slide" Target="/ppt/slides/slide25.xml" Id="R653231ca7235426e" /><Relationship Type="http://schemas.openxmlformats.org/officeDocument/2006/relationships/slide" Target="/ppt/slides/slide26.xml" Id="R21494a7fc4954f15" /><Relationship Type="http://schemas.openxmlformats.org/officeDocument/2006/relationships/slide" Target="/ppt/slides/slide27.xml" Id="R5aab7512a79b4864" /><Relationship Type="http://schemas.openxmlformats.org/officeDocument/2006/relationships/slide" Target="/ppt/slides/slide28.xml" Id="R9316aa273ab64460" /><Relationship Type="http://schemas.openxmlformats.org/officeDocument/2006/relationships/slide" Target="/ppt/slides/slide29.xml" Id="Rb2a722b4f16f4255" /><Relationship Type="http://schemas.openxmlformats.org/officeDocument/2006/relationships/slide" Target="/ppt/slides/slide30.xml" Id="R4bf1276aa48241b0" /><Relationship Type="http://schemas.openxmlformats.org/officeDocument/2006/relationships/slide" Target="/ppt/slides/slide31.xml" Id="Rae7b93c8ba3341ef" /><Relationship Type="http://schemas.openxmlformats.org/officeDocument/2006/relationships/slide" Target="/ppt/slides/slide32.xml" Id="R8cbdf11abcbe484f" /><Relationship Type="http://schemas.openxmlformats.org/officeDocument/2006/relationships/slide" Target="/ppt/slides/slide33.xml" Id="R987e5bb922e14ebb" /><Relationship Type="http://schemas.openxmlformats.org/officeDocument/2006/relationships/slide" Target="/ppt/slides/slide34.xml" Id="R106cc5d6ad7b47b4" /><Relationship Type="http://schemas.openxmlformats.org/officeDocument/2006/relationships/slide" Target="/ppt/slides/slide35.xml" Id="Rc4bc0207062a49c8" /><Relationship Type="http://schemas.openxmlformats.org/officeDocument/2006/relationships/slide" Target="/ppt/slides/slide36.xml" Id="R95759d9189f342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54bb81d93040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60146c02db4150" /><Relationship Type="http://schemas.openxmlformats.org/officeDocument/2006/relationships/notesMaster" Target="/ppt/notesMasters/notesMaster1.xml" Id="R8aea6030c86f40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c9df7562f84d0a" /><Relationship Type="http://schemas.openxmlformats.org/officeDocument/2006/relationships/notesMaster" Target="/ppt/notesMasters/notesMaster1.xml" Id="Rdf3230ef32a146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8954fe6bef492a" /><Relationship Type="http://schemas.openxmlformats.org/officeDocument/2006/relationships/notesMaster" Target="/ppt/notesMasters/notesMaster1.xml" Id="R07ba391d03e44a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45f558d4ae4e7f" /><Relationship Type="http://schemas.openxmlformats.org/officeDocument/2006/relationships/notesMaster" Target="/ppt/notesMasters/notesMaster1.xml" Id="R4c5fb1e47dd940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39f90d41e44922" /><Relationship Type="http://schemas.openxmlformats.org/officeDocument/2006/relationships/notesMaster" Target="/ppt/notesMasters/notesMaster1.xml" Id="Rad3d8b26191847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1d34db7eff40d4" /><Relationship Type="http://schemas.openxmlformats.org/officeDocument/2006/relationships/notesMaster" Target="/ppt/notesMasters/notesMaster1.xml" Id="Ra1ab2e778e5c43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d10edbb9984d10" /><Relationship Type="http://schemas.openxmlformats.org/officeDocument/2006/relationships/notesMaster" Target="/ppt/notesMasters/notesMaster1.xml" Id="Rf775c08fd67545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2528f5e1bb4e7e" /><Relationship Type="http://schemas.openxmlformats.org/officeDocument/2006/relationships/notesMaster" Target="/ppt/notesMasters/notesMaster1.xml" Id="Rf96380c9268b43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68602acf304d74" /><Relationship Type="http://schemas.openxmlformats.org/officeDocument/2006/relationships/notesMaster" Target="/ppt/notesMasters/notesMaster1.xml" Id="Rf42fb0af156644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e967938f1046e6" /><Relationship Type="http://schemas.openxmlformats.org/officeDocument/2006/relationships/notesMaster" Target="/ppt/notesMasters/notesMaster1.xml" Id="R4af10ca3e56a4e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c9b4f79fc84cde" /><Relationship Type="http://schemas.openxmlformats.org/officeDocument/2006/relationships/notesMaster" Target="/ppt/notesMasters/notesMaster1.xml" Id="R32c38be6a2ee48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399c64f01346cb" /><Relationship Type="http://schemas.openxmlformats.org/officeDocument/2006/relationships/notesMaster" Target="/ppt/notesMasters/notesMaster1.xml" Id="Ra6112dc8298e49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743130ebeb4c1c" /><Relationship Type="http://schemas.openxmlformats.org/officeDocument/2006/relationships/notesMaster" Target="/ppt/notesMasters/notesMaster1.xml" Id="Rf8d052e33b0246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e56e1481874d77" /><Relationship Type="http://schemas.openxmlformats.org/officeDocument/2006/relationships/notesMaster" Target="/ppt/notesMasters/notesMaster1.xml" Id="R06ad6c664d2749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39328e053c4d7d" /><Relationship Type="http://schemas.openxmlformats.org/officeDocument/2006/relationships/notesMaster" Target="/ppt/notesMasters/notesMaster1.xml" Id="Rb759e88dee6441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d8b21e45554991" /><Relationship Type="http://schemas.openxmlformats.org/officeDocument/2006/relationships/notesMaster" Target="/ppt/notesMasters/notesMaster1.xml" Id="R23ee380495d54b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49aef3fafa40bb" /><Relationship Type="http://schemas.openxmlformats.org/officeDocument/2006/relationships/notesMaster" Target="/ppt/notesMasters/notesMaster1.xml" Id="R3de7543ea9a34d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ec1a8cbb1df4189" /><Relationship Type="http://schemas.openxmlformats.org/officeDocument/2006/relationships/notesMaster" Target="/ppt/notesMasters/notesMaster1.xml" Id="R20d9e4b8701543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e33c8e571f54611" /><Relationship Type="http://schemas.openxmlformats.org/officeDocument/2006/relationships/notesMaster" Target="/ppt/notesMasters/notesMaster1.xml" Id="Rcbe874e535a94a1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c1bbb9582ef4e8d" /><Relationship Type="http://schemas.openxmlformats.org/officeDocument/2006/relationships/notesMaster" Target="/ppt/notesMasters/notesMaster1.xml" Id="Rbea17a35e7ab43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05187de2a3444e" /><Relationship Type="http://schemas.openxmlformats.org/officeDocument/2006/relationships/notesMaster" Target="/ppt/notesMasters/notesMaster1.xml" Id="R24a8f1020af04df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b0698699bc646a2" /><Relationship Type="http://schemas.openxmlformats.org/officeDocument/2006/relationships/notesMaster" Target="/ppt/notesMasters/notesMaster1.xml" Id="Rdf9d6f56af564f3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a7ee6dee1964aa1" /><Relationship Type="http://schemas.openxmlformats.org/officeDocument/2006/relationships/notesMaster" Target="/ppt/notesMasters/notesMaster1.xml" Id="R420791cf26e74b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c24be7ba82a484d" /><Relationship Type="http://schemas.openxmlformats.org/officeDocument/2006/relationships/notesMaster" Target="/ppt/notesMasters/notesMaster1.xml" Id="Rd3dd6403fbea4df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f56e319a614c53" /><Relationship Type="http://schemas.openxmlformats.org/officeDocument/2006/relationships/notesMaster" Target="/ppt/notesMasters/notesMaster1.xml" Id="R6c1cab8974a0419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c683f814ae94e29" /><Relationship Type="http://schemas.openxmlformats.org/officeDocument/2006/relationships/notesMaster" Target="/ppt/notesMasters/notesMaster1.xml" Id="R9df282e69cd8448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15b6546d59546c1" /><Relationship Type="http://schemas.openxmlformats.org/officeDocument/2006/relationships/notesMaster" Target="/ppt/notesMasters/notesMaster1.xml" Id="R52b71aa33cfe44a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3c2a04ad21b4b08" /><Relationship Type="http://schemas.openxmlformats.org/officeDocument/2006/relationships/notesMaster" Target="/ppt/notesMasters/notesMaster1.xml" Id="Rdf2106da270a451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874b915a4794ba9" /><Relationship Type="http://schemas.openxmlformats.org/officeDocument/2006/relationships/notesMaster" Target="/ppt/notesMasters/notesMaster1.xml" Id="R2bdcc84334e0421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2983ceed51f4459" /><Relationship Type="http://schemas.openxmlformats.org/officeDocument/2006/relationships/notesMaster" Target="/ppt/notesMasters/notesMaster1.xml" Id="R8eaffe2ca2ec4b6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b09b47c835b44ec" /><Relationship Type="http://schemas.openxmlformats.org/officeDocument/2006/relationships/notesMaster" Target="/ppt/notesMasters/notesMaster1.xml" Id="Rd92de85f7be24f6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87bea5524134f47" /><Relationship Type="http://schemas.openxmlformats.org/officeDocument/2006/relationships/notesMaster" Target="/ppt/notesMasters/notesMaster1.xml" Id="R03a368ab515a429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e58ffda59c04334" /><Relationship Type="http://schemas.openxmlformats.org/officeDocument/2006/relationships/notesMaster" Target="/ppt/notesMasters/notesMaster1.xml" Id="R0b6d5e877a5b4a5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babd0e0655a4e21" /><Relationship Type="http://schemas.openxmlformats.org/officeDocument/2006/relationships/notesMaster" Target="/ppt/notesMasters/notesMaster1.xml" Id="R703c74228011484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a3347f2d73044de" /><Relationship Type="http://schemas.openxmlformats.org/officeDocument/2006/relationships/notesMaster" Target="/ppt/notesMasters/notesMaster1.xml" Id="R13878037296b4a1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886475851be4fd4" /><Relationship Type="http://schemas.openxmlformats.org/officeDocument/2006/relationships/notesMaster" Target="/ppt/notesMasters/notesMaster1.xml" Id="R38cd738806a841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app/Models/User.php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app/Http/Controllers/ShipmentController.php</a:t>
            </a:r>
          </a:p>
          <a:p xmlns:a="http://schemas.openxmlformats.org/drawingml/2006/main">
            <a:r>
              <a:t>- Internal source: app/Http/Controllers/Domestic</a:t>
            </a:r>
          </a:p>
          <a:p xmlns:a="http://schemas.openxmlformats.org/drawingml/2006/main">
            <a:r>
              <a:t>- Internal source: app/Http/Controllers/Seller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app/Http/Controllers/TrackingController.php</a:t>
            </a:r>
          </a:p>
          <a:p xmlns:a="http://schemas.openxmlformats.org/drawingml/2006/main">
            <a:r>
              <a:t>- Internal source: app/Models/ShipmentTracking.php</a:t>
            </a:r>
          </a:p>
          <a:p xmlns:a="http://schemas.openxmlformats.org/drawingml/2006/main">
            <a:r>
              <a:t>- Internal source: app/Models/DomesticTrackingEvent.php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app/Http/Controllers/Auth/RegistrationController.php</a:t>
            </a:r>
          </a:p>
          <a:p xmlns:a="http://schemas.openxmlformats.org/drawingml/2006/main">
            <a:r>
              <a:t>- Internal source: app/Models/User.php</a:t>
            </a:r>
          </a:p>
          <a:p xmlns:a="http://schemas.openxmlformats.org/drawingml/2006/main">
            <a:r>
              <a:t>- Internal source: routes/web.php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app/Http/Controllers/International/AdminController.php</a:t>
            </a:r>
          </a:p>
          <a:p xmlns:a="http://schemas.openxmlformats.org/drawingml/2006/main">
            <a:r>
              <a:t>- Internal source: app/Http/Controllers/Overseas</a:t>
            </a:r>
          </a:p>
          <a:p xmlns:a="http://schemas.openxmlformats.org/drawingml/2006/main">
            <a:r>
              <a:t>- Internal source: app/Http/Controllers/HAWBController.php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app/Http/Controllers/Api/RateCalculationController.php</a:t>
            </a:r>
          </a:p>
          <a:p xmlns:a="http://schemas.openxmlformats.org/drawingml/2006/main">
            <a:r>
              <a:t>- Internal source: app/Models/OverseasRate.php</a:t>
            </a:r>
          </a:p>
          <a:p xmlns:a="http://schemas.openxmlformats.org/drawingml/2006/main">
            <a:r>
              <a:t>- Internal source: app/Models/MarginRule.php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app/Http/Controllers/Overseas/ShipmentController.php</a:t>
            </a:r>
          </a:p>
          <a:p xmlns:a="http://schemas.openxmlformats.org/drawingml/2006/main">
            <a:r>
              <a:t>- Internal source: resources/views/overseas</a:t>
            </a:r>
          </a:p>
          <a:p xmlns:a="http://schemas.openxmlformats.org/drawingml/2006/main">
            <a:r>
              <a:t>- Activation dependency: official carrier and customs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app/Models/DeliveryZone.php</a:t>
            </a:r>
          </a:p>
          <a:p xmlns:a="http://schemas.openxmlformats.org/drawingml/2006/main">
            <a:r>
              <a:t>- Internal source: app/Models/DomesticRate.php</a:t>
            </a:r>
          </a:p>
          <a:p xmlns:a="http://schemas.openxmlformats.org/drawingml/2006/main">
            <a:r>
              <a:t>- Internal source: app/Http/Controllers/Domestic/ManifestController.php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app/Models/DeliveryZone.php</a:t>
            </a:r>
          </a:p>
          <a:p xmlns:a="http://schemas.openxmlformats.org/drawingml/2006/main">
            <a:r>
              <a:t>- Internal source: app/Models/DomesticPartner.php</a:t>
            </a:r>
          </a:p>
          <a:p xmlns:a="http://schemas.openxmlformats.org/drawingml/2006/main">
            <a:r>
              <a:t>- Internal source: app/Models/DomesticRate.php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app/Contracts</a:t>
            </a:r>
          </a:p>
          <a:p xmlns:a="http://schemas.openxmlformats.org/drawingml/2006/main">
            <a:r>
              <a:t>- Internal source: app/Services/RemoteAreaSurchargeService.php</a:t>
            </a:r>
          </a:p>
          <a:p xmlns:a="http://schemas.openxmlformats.org/drawingml/2006/main">
            <a:r>
              <a:t>- Internal source: app/Models/RemoteAreaSurcharge.php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routes/web.php rider and seller groups</a:t>
            </a:r>
          </a:p>
          <a:p xmlns:a="http://schemas.openxmlformats.org/drawingml/2006/main">
            <a:r>
              <a:t>- Internal source: app/Http/Controllers/Rider/OrderController.php</a:t>
            </a:r>
          </a:p>
          <a:p xmlns:a="http://schemas.openxmlformats.org/drawingml/2006/main">
            <a:r>
              <a:t>- Internal source: app/Http/Controllers/Admin/CODSettlementController.php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app/Http/Controllers/Rider/OrderController.php</a:t>
            </a:r>
          </a:p>
          <a:p xmlns:a="http://schemas.openxmlformats.org/drawingml/2006/main">
            <a:r>
              <a:t>- Internal source: app/Http/Controllers/Api/RateCalculationController.php</a:t>
            </a:r>
          </a:p>
          <a:p xmlns:a="http://schemas.openxmlformats.org/drawingml/2006/main">
            <a:r>
              <a:t>- Internal source: routes/web.php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app/Http/Controllers/GroceryBoxController.php</a:t>
            </a:r>
          </a:p>
          <a:p xmlns:a="http://schemas.openxmlformats.org/drawingml/2006/main">
            <a:r>
              <a:t>- Internal source: app/Http/Controllers/Agency</a:t>
            </a:r>
          </a:p>
          <a:p xmlns:a="http://schemas.openxmlformats.org/drawingml/2006/main">
            <a:r>
              <a:t>- Internal source: app/Http/Controllers/Admin/ReportController.php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app/Http/Controllers/HAWBController.php</a:t>
            </a:r>
          </a:p>
          <a:p xmlns:a="http://schemas.openxmlformats.org/drawingml/2006/main">
            <a:r>
              <a:t>- Internal source: app/Http/Controllers/Partner/ScanController.php</a:t>
            </a:r>
          </a:p>
          <a:p xmlns:a="http://schemas.openxmlformats.org/drawingml/2006/main">
            <a:r>
              <a:t>- Internal source: app/Http/Controllers/Overseas/ScanController.php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app/Http/Controllers/PaymentController.php</a:t>
            </a:r>
          </a:p>
          <a:p xmlns:a="http://schemas.openxmlformats.org/drawingml/2006/main">
            <a:r>
              <a:t>- Internal source: app/Http/Controllers/NotificationController.php</a:t>
            </a:r>
          </a:p>
          <a:p xmlns:a="http://schemas.openxmlformats.org/drawingml/2006/main">
            <a:r>
              <a:t>- Internal source: app/Http/Controllers/ChatController.php</a:t>
            </a:r>
          </a:p>
          <a:p xmlns:a="http://schemas.openxmlformats.org/drawingml/2006/main">
            <a:r>
              <a:t>- Internal source: app/Http/Controllers/Seller/SupportController.php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app/Models/User.php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role-specific dashboard controllers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app/Http/Controllers</a:t>
            </a:r>
          </a:p>
          <a:p xmlns:a="http://schemas.openxmlformats.org/drawingml/2006/main">
            <a:r>
              <a:t>- Internal source: role-specific models and policies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app/Models/User.php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role-specific dashboard controllers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app/Http/Controllers</a:t>
            </a:r>
          </a:p>
          <a:p xmlns:a="http://schemas.openxmlformats.org/drawingml/2006/main">
            <a:r>
              <a:t>- Internal source: role-specific models and policies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app/Models/User.php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role-specific dashboard controllers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app/Http/Controllers</a:t>
            </a:r>
          </a:p>
          <a:p xmlns:a="http://schemas.openxmlformats.org/drawingml/2006/main">
            <a:r>
              <a:t>- Internal source: role-specific models and policies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app/Models/User.php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role-specific dashboard controllers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app/Http/Controllers</a:t>
            </a:r>
          </a:p>
          <a:p xmlns:a="http://schemas.openxmlformats.org/drawingml/2006/main">
            <a:r>
              <a:t>- Internal source: role-specific models and policies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app/Models/User.php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role-specific dashboard controllers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app/Http/Controllers</a:t>
            </a:r>
          </a:p>
          <a:p xmlns:a="http://schemas.openxmlformats.org/drawingml/2006/main">
            <a:r>
              <a:t>- Internal source: role-specific models and policies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app/Models/User.php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role-specific dashboard controllers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app/Http/Controllers</a:t>
            </a:r>
          </a:p>
          <a:p xmlns:a="http://schemas.openxmlformats.org/drawingml/2006/main">
            <a:r>
              <a:t>- Internal source: role-specific models and policies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app/Models/User.php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role-specific dashboard controllers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routes/web.php</a:t>
            </a:r>
          </a:p>
          <a:p xmlns:a="http://schemas.openxmlformats.org/drawingml/2006/main">
            <a:r>
              <a:t>- Internal source: app/Http/Controllers</a:t>
            </a:r>
          </a:p>
          <a:p xmlns:a="http://schemas.openxmlformats.org/drawingml/2006/main">
            <a:r>
              <a:t>- Internal source: role-specific models and policies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app/Http/Controllers/TrackingController.php</a:t>
            </a:r>
          </a:p>
          <a:p xmlns:a="http://schemas.openxmlformats.org/drawingml/2006/main">
            <a:r>
              <a:t>- Internal source: app/Models/ProofOfDelivery.php</a:t>
            </a:r>
          </a:p>
          <a:p xmlns:a="http://schemas.openxmlformats.org/drawingml/2006/main">
            <a:r>
              <a:t>- Internal source: app/Http/Controllers/Admin/CODSettlementController.php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manifest forwarding and delivery status controllers</a:t>
            </a:r>
          </a:p>
          <a:p xmlns:a="http://schemas.openxmlformats.org/drawingml/2006/main">
            <a:r>
              <a:t>- Project requirement: failed delivery, partner exception and return lifecycle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app/Http/Controllers/Auth/RegistrationController.php</a:t>
            </a:r>
          </a:p>
          <a:p xmlns:a="http://schemas.openxmlformats.org/drawingml/2006/main">
            <a:r>
              <a:t>- Internal source: app/Models/DeliveryZone.php</a:t>
            </a:r>
          </a:p>
          <a:p xmlns:a="http://schemas.openxmlformats.org/drawingml/2006/main">
            <a:r>
              <a:t>- Project requirement: Nepal-specific operational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route middleware and role groups</a:t>
            </a:r>
          </a:p>
          <a:p xmlns:a="http://schemas.openxmlformats.org/drawingml/2006/main">
            <a:r>
              <a:t>- Internal source: app/Models/User.php</a:t>
            </a:r>
          </a:p>
          <a:p xmlns:a="http://schemas.openxmlformats.org/drawingml/2006/main">
            <a:r>
              <a:t>- Project security requirements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current repository audit</a:t>
            </a:r>
          </a:p>
          <a:p xmlns:a="http://schemas.openxmlformats.org/drawingml/2006/main">
            <a:r>
              <a:t>- Internal source: config/services.php</a:t>
            </a:r>
          </a:p>
          <a:p xmlns:a="http://schemas.openxmlformats.org/drawingml/2006/main">
            <a:r>
              <a:t>- Internal source: app/Contracts and app/Services/RemoteAreaSurchargeService.php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roadmap synthesized from implemented modules and stated business goals</a:t>
            </a:r>
          </a:p>
          <a:p xmlns:a="http://schemas.openxmlformats.org/drawingml/2006/main">
            <a:r>
              <a:t>- No external quantitative claims used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project stabilization and staging validation 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f26c4ce024f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dac7b970674e2c" /><Relationship Type="http://schemas.openxmlformats.org/officeDocument/2006/relationships/slideLayout" Target="/ppt/slideLayouts/slideLayout1.xml" Id="Rc3c2dfb8c1e14f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c2dfb8c1e14f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d554898cf465a" /><Relationship Type="http://schemas.openxmlformats.org/officeDocument/2006/relationships/notesSlide" Target="/ppt/notesSlides/notesSlide1.xml" Id="R918a529621144c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5322f9b264b72" /><Relationship Type="http://schemas.openxmlformats.org/officeDocument/2006/relationships/notesSlide" Target="/ppt/notesSlides/notesSlide2.xml" Id="R3c1b069df74c44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b6068f3754a19" /><Relationship Type="http://schemas.openxmlformats.org/officeDocument/2006/relationships/notesSlide" Target="/ppt/notesSlides/notesSlide3.xml" Id="Rad69bf2b53164b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2574142844296" /><Relationship Type="http://schemas.openxmlformats.org/officeDocument/2006/relationships/notesSlide" Target="/ppt/notesSlides/notesSlide4.xml" Id="R52332a39af3247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b0f14213c47a7" /><Relationship Type="http://schemas.openxmlformats.org/officeDocument/2006/relationships/notesSlide" Target="/ppt/notesSlides/notesSlide5.xml" Id="R7de7703e58de46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506f6da554f37" /><Relationship Type="http://schemas.openxmlformats.org/officeDocument/2006/relationships/notesSlide" Target="/ppt/notesSlides/notesSlide6.xml" Id="R3213f9e1172d4b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d5c3b49f349ff" /><Relationship Type="http://schemas.openxmlformats.org/officeDocument/2006/relationships/notesSlide" Target="/ppt/notesSlides/notesSlide7.xml" Id="R29f13e2c7a5545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e51a4e92940f4" /><Relationship Type="http://schemas.openxmlformats.org/officeDocument/2006/relationships/notesSlide" Target="/ppt/notesSlides/notesSlide8.xml" Id="R96bf3ea0bc254d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59af3e86e4b96" /><Relationship Type="http://schemas.openxmlformats.org/officeDocument/2006/relationships/notesSlide" Target="/ppt/notesSlides/notesSlide9.xml" Id="Rb6ca079e489947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72d7a29c44385" /><Relationship Type="http://schemas.openxmlformats.org/officeDocument/2006/relationships/notesSlide" Target="/ppt/notesSlides/notesSlide10.xml" Id="Reb02021e7c4a45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43842dc0c4e32" /><Relationship Type="http://schemas.openxmlformats.org/officeDocument/2006/relationships/notesSlide" Target="/ppt/notesSlides/notesSlide11.xml" Id="R6f4e38ffb74b45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b96c75dc4489e" /><Relationship Type="http://schemas.openxmlformats.org/officeDocument/2006/relationships/notesSlide" Target="/ppt/notesSlides/notesSlide12.xml" Id="Rb68c7c2130814e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f044e56c84aae" /><Relationship Type="http://schemas.openxmlformats.org/officeDocument/2006/relationships/notesSlide" Target="/ppt/notesSlides/notesSlide13.xml" Id="Rc6b63f87c0a94f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7b399853c4dc0" /><Relationship Type="http://schemas.openxmlformats.org/officeDocument/2006/relationships/notesSlide" Target="/ppt/notesSlides/notesSlide14.xml" Id="R7b0c9b85f03f43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aa524d4834568" /><Relationship Type="http://schemas.openxmlformats.org/officeDocument/2006/relationships/notesSlide" Target="/ppt/notesSlides/notesSlide15.xml" Id="R646e2c3e878d44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aa7af8b1d4e8c" /><Relationship Type="http://schemas.openxmlformats.org/officeDocument/2006/relationships/notesSlide" Target="/ppt/notesSlides/notesSlide16.xml" Id="Rcdcf3d1cd2d24d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8306e474a4ba5" /><Relationship Type="http://schemas.openxmlformats.org/officeDocument/2006/relationships/notesSlide" Target="/ppt/notesSlides/notesSlide17.xml" Id="Rae6e545d86b34ea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e42b6782c406b" /><Relationship Type="http://schemas.openxmlformats.org/officeDocument/2006/relationships/notesSlide" Target="/ppt/notesSlides/notesSlide18.xml" Id="R66e00ce9367f42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d60fd5b944c7b" /><Relationship Type="http://schemas.openxmlformats.org/officeDocument/2006/relationships/notesSlide" Target="/ppt/notesSlides/notesSlide19.xml" Id="R933907dfcf1947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5c663c94d44df" /><Relationship Type="http://schemas.openxmlformats.org/officeDocument/2006/relationships/notesSlide" Target="/ppt/notesSlides/notesSlide20.xml" Id="Refb8255c10d84ca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e02ef3bdd42f2" /><Relationship Type="http://schemas.openxmlformats.org/officeDocument/2006/relationships/notesSlide" Target="/ppt/notesSlides/notesSlide21.xml" Id="Rdb5eb25b5fd348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2ddfb50954ed3" /><Relationship Type="http://schemas.openxmlformats.org/officeDocument/2006/relationships/notesSlide" Target="/ppt/notesSlides/notesSlide22.xml" Id="Rf8a226ecb2b4480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aee7a78f44adc" /><Relationship Type="http://schemas.openxmlformats.org/officeDocument/2006/relationships/notesSlide" Target="/ppt/notesSlides/notesSlide23.xml" Id="R1fe0c6e9ea92438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ba85546784517" /><Relationship Type="http://schemas.openxmlformats.org/officeDocument/2006/relationships/notesSlide" Target="/ppt/notesSlides/notesSlide24.xml" Id="Rf9b4f58334cb400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f661889cc405d" /><Relationship Type="http://schemas.openxmlformats.org/officeDocument/2006/relationships/notesSlide" Target="/ppt/notesSlides/notesSlide25.xml" Id="Rc2ef01cf808e47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ed541cf584dcd" /><Relationship Type="http://schemas.openxmlformats.org/officeDocument/2006/relationships/notesSlide" Target="/ppt/notesSlides/notesSlide26.xml" Id="Rab203236e6044f4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02c4226fe46b3" /><Relationship Type="http://schemas.openxmlformats.org/officeDocument/2006/relationships/notesSlide" Target="/ppt/notesSlides/notesSlide27.xml" Id="R906a221c890d448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42a94db7f48c1" /><Relationship Type="http://schemas.openxmlformats.org/officeDocument/2006/relationships/notesSlide" Target="/ppt/notesSlides/notesSlide28.xml" Id="R81e839e4e28640e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96f7696044d3f" /><Relationship Type="http://schemas.openxmlformats.org/officeDocument/2006/relationships/notesSlide" Target="/ppt/notesSlides/notesSlide29.xml" Id="R060e72fc7ce5453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b2af8d60c4efc" /><Relationship Type="http://schemas.openxmlformats.org/officeDocument/2006/relationships/notesSlide" Target="/ppt/notesSlides/notesSlide30.xml" Id="Rf93662ee15e6449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6ba77d84f40b8" /><Relationship Type="http://schemas.openxmlformats.org/officeDocument/2006/relationships/notesSlide" Target="/ppt/notesSlides/notesSlide31.xml" Id="R345f3ac273cc485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5cd3ca6014e34" /><Relationship Type="http://schemas.openxmlformats.org/officeDocument/2006/relationships/notesSlide" Target="/ppt/notesSlides/notesSlide32.xml" Id="R1b6b18aff8e44eb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96cbcec524ffb" /><Relationship Type="http://schemas.openxmlformats.org/officeDocument/2006/relationships/notesSlide" Target="/ppt/notesSlides/notesSlide33.xml" Id="Ra6502801db0246d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072ca73914376" /><Relationship Type="http://schemas.openxmlformats.org/officeDocument/2006/relationships/notesSlide" Target="/ppt/notesSlides/notesSlide34.xml" Id="R48a9db5dc3454d7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9154dde184356" /><Relationship Type="http://schemas.openxmlformats.org/officeDocument/2006/relationships/notesSlide" Target="/ppt/notesSlides/notesSlide35.xml" Id="R3a6b25df3ca44c1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8e6d7091d41b9" /><Relationship Type="http://schemas.openxmlformats.org/officeDocument/2006/relationships/notesSlide" Target="/ppt/notesSlides/notesSlide36.xml" Id="Rf1020c90feaf4a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63A3BFC-C582-433B-B691-99CD8AD5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4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DOOR-TO-DOOR LOGISTICS TECHNOLOGY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716BBE0-648D-4ACB-9BBA-E8D2F43F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58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COURIER</a:t>
            </a:r>
          </a:p>
          <a:p xmlns:a="http://schemas.openxmlformats.org/drawingml/2006/main">
            <a:pPr algn="l">
              <a:defRPr sz="58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58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with NETPACK</a:t>
            </a:r>
          </a:p>
        </p:txBody>
      </p:sp>
      <p:sp>
        <p:nvSpPr>
          <p:cNvPr id="3" name="cover-mark">
            <a:extLst xmlns:a="http://schemas.openxmlformats.org/drawingml/2006/main">
              <a:ext uri="{FF2B5EF4-FFF2-40B4-BE49-F238E27FC236}">
                <a16:creationId xmlns:a16="http://schemas.microsoft.com/office/drawing/2014/main" id="{87D4630F-05EB-4F6E-8E06-F4E5D01A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19250"/>
            <a:ext cx="26098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cover-mark-text">
            <a:extLst xmlns:a="http://schemas.openxmlformats.org/drawingml/2006/main">
              <a:ext uri="{FF2B5EF4-FFF2-40B4-BE49-F238E27FC236}">
                <a16:creationId xmlns:a16="http://schemas.microsoft.com/office/drawing/2014/main" id="{5BCDB6C7-345B-4BAB-84E0-25BA294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14525"/>
            <a:ext cx="1714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rPr sz="570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rPr sz="570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N</a:t>
            </a:r>
          </a:p>
        </p:txBody>
      </p:sp>
      <p:sp>
        <p:nvSpPr>
          <p:cNvPr id="5" name="cover-sub">
            <a:extLst xmlns:a="http://schemas.openxmlformats.org/drawingml/2006/main">
              <a:ext uri="{FF2B5EF4-FFF2-40B4-BE49-F238E27FC236}">
                <a16:creationId xmlns:a16="http://schemas.microsoft.com/office/drawing/2014/main" id="{7A28792F-561D-4635-B199-63D1A775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202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Services, user journeys, operational controls and future goals</a:t>
            </a:r>
          </a:p>
        </p:txBody>
      </p:sp>
      <p:sp>
        <p:nvSpPr>
          <p:cNvPr id="6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6277CC76-3744-4E00-BF59-7BDC972B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Prepared from the current Laravel codebase</a:t>
            </a:r>
          </a:p>
        </p:txBody>
      </p:sp>
      <p:sp>
        <p:nvSpPr>
          <p:cNvPr id="7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701E7813-307C-4D14-8986-983025F9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8938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ortfolio-section">
            <a:extLst xmlns:a="http://schemas.openxmlformats.org/drawingml/2006/main">
              <a:ext uri="{FF2B5EF4-FFF2-40B4-BE49-F238E27FC236}">
                <a16:creationId xmlns:a16="http://schemas.microsoft.com/office/drawing/2014/main" id="{6F83CA3E-70BE-44C9-B498-53C11F77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SERVICE PORTFOLIO</a:t>
            </a:r>
          </a:p>
        </p:txBody>
      </p:sp>
      <p:sp>
        <p:nvSpPr>
          <p:cNvPr id="2" name="portfolio-title">
            <a:extLst xmlns:a="http://schemas.openxmlformats.org/drawingml/2006/main">
              <a:ext uri="{FF2B5EF4-FFF2-40B4-BE49-F238E27FC236}">
                <a16:creationId xmlns:a16="http://schemas.microsoft.com/office/drawing/2014/main" id="{B6291F3B-860E-42FA-B82C-0DE9FE85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One platform, three delivery services</a:t>
            </a:r>
          </a:p>
        </p:txBody>
      </p:sp>
      <p:cxnSp>
        <p:nvCxnSpPr>
          <p:cNvPr id="23" name="portfolio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portfolio-card-0">
            <a:extLst xmlns:a="http://schemas.openxmlformats.org/drawingml/2006/main">
              <a:ext uri="{FF2B5EF4-FFF2-40B4-BE49-F238E27FC236}">
                <a16:creationId xmlns:a16="http://schemas.microsoft.com/office/drawing/2014/main" id="{5B48678D-DBF4-41E3-9864-3D21150F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3429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portfolio-head-0">
            <a:extLst xmlns:a="http://schemas.openxmlformats.org/drawingml/2006/main">
              <a:ext uri="{FF2B5EF4-FFF2-40B4-BE49-F238E27FC236}">
                <a16:creationId xmlns:a16="http://schemas.microsoft.com/office/drawing/2014/main" id="{0E119AE7-012E-4A0F-B304-ED4DABD5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97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87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INTERNATIONAL COURIER</a:t>
            </a:r>
          </a:p>
        </p:txBody>
      </p:sp>
      <p:sp>
        <p:nvSpPr>
          <p:cNvPr id="6" name="portfolio-copy-0">
            <a:extLst xmlns:a="http://schemas.openxmlformats.org/drawingml/2006/main">
              <a:ext uri="{FF2B5EF4-FFF2-40B4-BE49-F238E27FC236}">
                <a16:creationId xmlns:a16="http://schemas.microsoft.com/office/drawing/2014/main" id="{E8FE92B6-1CA0-4EF9-828D-2E76A05C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971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Country and partner rates, actual/volumetric weight, HAWB/labels, overseas hubs, transit scans and unified tracking.</a:t>
            </a:r>
          </a:p>
        </p:txBody>
      </p:sp>
      <p:sp>
        <p:nvSpPr>
          <p:cNvPr id="7" name="portfolio-card-1">
            <a:extLst xmlns:a="http://schemas.openxmlformats.org/drawingml/2006/main">
              <a:ext uri="{FF2B5EF4-FFF2-40B4-BE49-F238E27FC236}">
                <a16:creationId xmlns:a16="http://schemas.microsoft.com/office/drawing/2014/main" id="{A1975D96-B88C-4CD8-B381-29211E1E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429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portfolio-head-1">
            <a:extLst xmlns:a="http://schemas.openxmlformats.org/drawingml/2006/main">
              <a:ext uri="{FF2B5EF4-FFF2-40B4-BE49-F238E27FC236}">
                <a16:creationId xmlns:a16="http://schemas.microsoft.com/office/drawing/2014/main" id="{5423C969-8DED-4B4F-84FE-4C366CB8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297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8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DOMESTIC COURIER</a:t>
            </a:r>
          </a:p>
        </p:txBody>
      </p:sp>
      <p:sp>
        <p:nvSpPr>
          <p:cNvPr id="9" name="portfolio-copy-1">
            <a:extLst xmlns:a="http://schemas.openxmlformats.org/drawingml/2006/main">
              <a:ext uri="{FF2B5EF4-FFF2-40B4-BE49-F238E27FC236}">
                <a16:creationId xmlns:a16="http://schemas.microsoft.com/office/drawing/2014/main" id="{4C73CA09-93B4-47C6-8EE4-E8C072D7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52800"/>
            <a:ext cx="2971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Nepal zones, partner rates, pickup requests, manifests, bag scans, proof of delivery and settlement controls.</a:t>
            </a:r>
          </a:p>
        </p:txBody>
      </p:sp>
      <p:sp>
        <p:nvSpPr>
          <p:cNvPr id="10" name="portfolio-card-2">
            <a:extLst xmlns:a="http://schemas.openxmlformats.org/drawingml/2006/main">
              <a:ext uri="{FF2B5EF4-FFF2-40B4-BE49-F238E27FC236}">
                <a16:creationId xmlns:a16="http://schemas.microsoft.com/office/drawing/2014/main" id="{906DE143-8BBA-4ECA-8000-92A74B26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429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11" name="portfolio-head-2">
            <a:extLst xmlns:a="http://schemas.openxmlformats.org/drawingml/2006/main">
              <a:ext uri="{FF2B5EF4-FFF2-40B4-BE49-F238E27FC236}">
                <a16:creationId xmlns:a16="http://schemas.microsoft.com/office/drawing/2014/main" id="{076EA947-9674-4029-87BF-A9388A92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97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87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E-COMMERCE / ON-DEMAND</a:t>
            </a:r>
          </a:p>
        </p:txBody>
      </p:sp>
      <p:sp>
        <p:nvSpPr>
          <p:cNvPr id="12" name="portfolio-copy-2">
            <a:extLst xmlns:a="http://schemas.openxmlformats.org/drawingml/2006/main">
              <a:ext uri="{FF2B5EF4-FFF2-40B4-BE49-F238E27FC236}">
                <a16:creationId xmlns:a16="http://schemas.microsoft.com/office/drawing/2014/main" id="{3F8A8D6C-CE05-4C89-81DC-4E2905BC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52800"/>
            <a:ext cx="2971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Seller orders, rider assignment, pickup, live GPS tracking, OTP/POD, COD and wallet workflows.</a:t>
            </a:r>
          </a:p>
        </p:txBody>
      </p:sp>
      <p:sp>
        <p:nvSpPr>
          <p:cNvPr id="13" name="portfolio-legend-0">
            <a:extLst xmlns:a="http://schemas.openxmlformats.org/drawingml/2006/main">
              <a:ext uri="{FF2B5EF4-FFF2-40B4-BE49-F238E27FC236}">
                <a16:creationId xmlns:a16="http://schemas.microsoft.com/office/drawing/2014/main" id="{DD5A26A3-D9CE-4906-B6FD-F5C9E79C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4" name="portfolio-legend-text-0">
            <a:extLst xmlns:a="http://schemas.openxmlformats.org/drawingml/2006/main">
              <a:ext uri="{FF2B5EF4-FFF2-40B4-BE49-F238E27FC236}">
                <a16:creationId xmlns:a16="http://schemas.microsoft.com/office/drawing/2014/main" id="{E9BCC269-E707-42FF-92E2-1686C577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Nirmala UI"/>
                <a:ea typeface="Nirmala UI"/>
                <a:cs typeface="Nirmala UI"/>
              </a:defRPr>
            </a:pPr>
            <a:r>
              <a:rPr sz="1125" b="1">
                <a:solidFill>
                  <a:srgbClr val="15803D"/>
                </a:solidFill>
                <a:latin typeface="Nirmala UI"/>
                <a:ea typeface="Nirmala UI"/>
                <a:cs typeface="Nirmala UI"/>
              </a:rPr>
              <a:t>AVAILABLE NOW</a:t>
            </a:r>
          </a:p>
        </p:txBody>
      </p:sp>
      <p:sp>
        <p:nvSpPr>
          <p:cNvPr id="15" name="portfolio-legend-1">
            <a:extLst xmlns:a="http://schemas.openxmlformats.org/drawingml/2006/main">
              <a:ext uri="{FF2B5EF4-FFF2-40B4-BE49-F238E27FC236}">
                <a16:creationId xmlns:a16="http://schemas.microsoft.com/office/drawing/2014/main" id="{E7F5B1DD-C212-45DD-AD3B-B3C5D2BA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6260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6" name="portfolio-legend-text-1">
            <a:extLst xmlns:a="http://schemas.openxmlformats.org/drawingml/2006/main">
              <a:ext uri="{FF2B5EF4-FFF2-40B4-BE49-F238E27FC236}">
                <a16:creationId xmlns:a16="http://schemas.microsoft.com/office/drawing/2014/main" id="{7CDE0EA8-57E9-4536-B3B9-B8A602E6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673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125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CONFIGURABLE / MANUAL</a:t>
            </a:r>
          </a:p>
        </p:txBody>
      </p:sp>
      <p:sp>
        <p:nvSpPr>
          <p:cNvPr id="17" name="portfolio-legend-2">
            <a:extLst xmlns:a="http://schemas.openxmlformats.org/drawingml/2006/main">
              <a:ext uri="{FF2B5EF4-FFF2-40B4-BE49-F238E27FC236}">
                <a16:creationId xmlns:a16="http://schemas.microsoft.com/office/drawing/2014/main" id="{85306A9D-13D6-4139-8DF9-5890211A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6260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portfolio-legend-text-2">
            <a:extLst xmlns:a="http://schemas.openxmlformats.org/drawingml/2006/main">
              <a:ext uri="{FF2B5EF4-FFF2-40B4-BE49-F238E27FC236}">
                <a16:creationId xmlns:a16="http://schemas.microsoft.com/office/drawing/2014/main" id="{8857EE8B-5408-476B-B646-D269D1E7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673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1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FUTURE GOAL</a:t>
            </a:r>
          </a:p>
        </p:txBody>
      </p:sp>
      <p:sp>
        <p:nvSpPr>
          <p:cNvPr id="19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D00B4428-EF81-459B-B2A1-1895508E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2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AD7268EA-EB95-4211-BAAE-B86B2169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3496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door-section">
            <a:extLst xmlns:a="http://schemas.openxmlformats.org/drawingml/2006/main">
              <a:ext uri="{FF2B5EF4-FFF2-40B4-BE49-F238E27FC236}">
                <a16:creationId xmlns:a16="http://schemas.microsoft.com/office/drawing/2014/main" id="{79B4181F-DD22-4703-8EEC-24989DDB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MASTER SERVICE FLOW</a:t>
            </a:r>
          </a:p>
        </p:txBody>
      </p:sp>
      <p:sp>
        <p:nvSpPr>
          <p:cNvPr id="2" name="door-title">
            <a:extLst xmlns:a="http://schemas.openxmlformats.org/drawingml/2006/main">
              <a:ext uri="{FF2B5EF4-FFF2-40B4-BE49-F238E27FC236}">
                <a16:creationId xmlns:a16="http://schemas.microsoft.com/office/drawing/2014/main" id="{26086D75-DD2E-47F9-A294-7D3CE2A3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Door-to-door delivery is one connected chain</a:t>
            </a:r>
          </a:p>
        </p:txBody>
      </p:sp>
      <p:cxnSp>
        <p:nvCxnSpPr>
          <p:cNvPr id="39" name="door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40" name="door-top-edge-0"/>
          <p:cNvCxnSpPr/>
          <p:nvPr/>
        </p:nvCxnSpPr>
        <p:spPr>
          <a:xfrm xmlns:a="http://schemas.openxmlformats.org/drawingml/2006/main">
            <a:off x="3171825" y="24765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1" name="door-top-edge-1"/>
          <p:cNvCxnSpPr/>
          <p:nvPr/>
        </p:nvCxnSpPr>
        <p:spPr>
          <a:xfrm xmlns:a="http://schemas.openxmlformats.org/drawingml/2006/main">
            <a:off x="6019800" y="24765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2" name="door-top-edge-2"/>
          <p:cNvCxnSpPr/>
          <p:nvPr/>
        </p:nvCxnSpPr>
        <p:spPr>
          <a:xfrm xmlns:a="http://schemas.openxmlformats.org/drawingml/2006/main">
            <a:off x="8867775" y="24765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7" name="door-top-node-0">
            <a:extLst xmlns:a="http://schemas.openxmlformats.org/drawingml/2006/main">
              <a:ext uri="{FF2B5EF4-FFF2-40B4-BE49-F238E27FC236}">
                <a16:creationId xmlns:a16="http://schemas.microsoft.com/office/drawing/2014/main" id="{C453B399-58C9-4E5C-9EBF-3ECB8A9D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26955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door-top-step-0">
            <a:extLst xmlns:a="http://schemas.openxmlformats.org/drawingml/2006/main">
              <a:ext uri="{FF2B5EF4-FFF2-40B4-BE49-F238E27FC236}">
                <a16:creationId xmlns:a16="http://schemas.microsoft.com/office/drawing/2014/main" id="{811791C1-30D3-4B4D-9B14-8C2527F2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9" name="door-top-copy-0">
            <a:extLst xmlns:a="http://schemas.openxmlformats.org/drawingml/2006/main">
              <a:ext uri="{FF2B5EF4-FFF2-40B4-BE49-F238E27FC236}">
                <a16:creationId xmlns:a16="http://schemas.microsoft.com/office/drawing/2014/main" id="{58346B66-6B50-48C4-B067-FD204ACB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Request</a:t>
            </a:r>
          </a:p>
        </p:txBody>
      </p:sp>
      <p:sp>
        <p:nvSpPr>
          <p:cNvPr id="10" name="door-top-node-1">
            <a:extLst xmlns:a="http://schemas.openxmlformats.org/drawingml/2006/main">
              <a:ext uri="{FF2B5EF4-FFF2-40B4-BE49-F238E27FC236}">
                <a16:creationId xmlns:a16="http://schemas.microsoft.com/office/drawing/2014/main" id="{E08A0DA6-4126-4E17-BCAE-005828AF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81200"/>
            <a:ext cx="26955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door-top-step-1">
            <a:extLst xmlns:a="http://schemas.openxmlformats.org/drawingml/2006/main">
              <a:ext uri="{FF2B5EF4-FFF2-40B4-BE49-F238E27FC236}">
                <a16:creationId xmlns:a16="http://schemas.microsoft.com/office/drawing/2014/main" id="{FD576426-CA1F-46A8-AEE2-2C160CC0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2" name="door-top-copy-1">
            <a:extLst xmlns:a="http://schemas.openxmlformats.org/drawingml/2006/main">
              <a:ext uri="{FF2B5EF4-FFF2-40B4-BE49-F238E27FC236}">
                <a16:creationId xmlns:a16="http://schemas.microsoft.com/office/drawing/2014/main" id="{0867F5FD-8824-47F3-B029-B5897A2D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6220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Validate address</a:t>
            </a:r>
          </a:p>
        </p:txBody>
      </p:sp>
      <p:sp>
        <p:nvSpPr>
          <p:cNvPr id="13" name="door-top-node-2">
            <a:extLst xmlns:a="http://schemas.openxmlformats.org/drawingml/2006/main">
              <a:ext uri="{FF2B5EF4-FFF2-40B4-BE49-F238E27FC236}">
                <a16:creationId xmlns:a16="http://schemas.microsoft.com/office/drawing/2014/main" id="{0404203F-9E96-486C-A289-2CF859C4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81200"/>
            <a:ext cx="26955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door-top-step-2">
            <a:extLst xmlns:a="http://schemas.openxmlformats.org/drawingml/2006/main">
              <a:ext uri="{FF2B5EF4-FFF2-40B4-BE49-F238E27FC236}">
                <a16:creationId xmlns:a16="http://schemas.microsoft.com/office/drawing/2014/main" id="{CEA50640-9191-464B-954F-AC2A80FE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5" name="door-top-copy-2">
            <a:extLst xmlns:a="http://schemas.openxmlformats.org/drawingml/2006/main">
              <a:ext uri="{FF2B5EF4-FFF2-40B4-BE49-F238E27FC236}">
                <a16:creationId xmlns:a16="http://schemas.microsoft.com/office/drawing/2014/main" id="{16F76624-42FF-4A52-A63D-84A7F955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Quote &amp; confirm</a:t>
            </a:r>
          </a:p>
        </p:txBody>
      </p:sp>
      <p:sp>
        <p:nvSpPr>
          <p:cNvPr id="16" name="door-top-node-3">
            <a:extLst xmlns:a="http://schemas.openxmlformats.org/drawingml/2006/main">
              <a:ext uri="{FF2B5EF4-FFF2-40B4-BE49-F238E27FC236}">
                <a16:creationId xmlns:a16="http://schemas.microsoft.com/office/drawing/2014/main" id="{52F856EF-6A9B-4BD3-A586-4811CD80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26955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7" name="door-top-step-3">
            <a:extLst xmlns:a="http://schemas.openxmlformats.org/drawingml/2006/main">
              <a:ext uri="{FF2B5EF4-FFF2-40B4-BE49-F238E27FC236}">
                <a16:creationId xmlns:a16="http://schemas.microsoft.com/office/drawing/2014/main" id="{05510A68-64FB-4901-9D8D-AA7A5BBC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95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18" name="door-top-copy-3">
            <a:extLst xmlns:a="http://schemas.openxmlformats.org/drawingml/2006/main">
              <a:ext uri="{FF2B5EF4-FFF2-40B4-BE49-F238E27FC236}">
                <a16:creationId xmlns:a16="http://schemas.microsoft.com/office/drawing/2014/main" id="{27CEB555-9BAB-4EF6-BF30-D9C53228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6220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Pickup</a:t>
            </a:r>
          </a:p>
        </p:txBody>
      </p:sp>
      <p:cxnSp>
        <p:nvCxnSpPr>
          <p:cNvPr id="55" name="door-bottom-edge-0"/>
          <p:cNvCxnSpPr/>
          <p:nvPr/>
        </p:nvCxnSpPr>
        <p:spPr>
          <a:xfrm xmlns:a="http://schemas.openxmlformats.org/drawingml/2006/main">
            <a:off x="3171825" y="42481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56" name="door-bottom-edge-1"/>
          <p:cNvCxnSpPr/>
          <p:nvPr/>
        </p:nvCxnSpPr>
        <p:spPr>
          <a:xfrm xmlns:a="http://schemas.openxmlformats.org/drawingml/2006/main">
            <a:off x="6019800" y="42481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57" name="door-bottom-edge-2"/>
          <p:cNvCxnSpPr/>
          <p:nvPr/>
        </p:nvCxnSpPr>
        <p:spPr>
          <a:xfrm xmlns:a="http://schemas.openxmlformats.org/drawingml/2006/main">
            <a:off x="8867775" y="42481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22" name="door-bottom-node-0">
            <a:extLst xmlns:a="http://schemas.openxmlformats.org/drawingml/2006/main">
              <a:ext uri="{FF2B5EF4-FFF2-40B4-BE49-F238E27FC236}">
                <a16:creationId xmlns:a16="http://schemas.microsoft.com/office/drawing/2014/main" id="{3D3092DE-9F83-4487-BC4A-51AF6378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52850"/>
            <a:ext cx="26955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door-bottom-step-0">
            <a:extLst xmlns:a="http://schemas.openxmlformats.org/drawingml/2006/main">
              <a:ext uri="{FF2B5EF4-FFF2-40B4-BE49-F238E27FC236}">
                <a16:creationId xmlns:a16="http://schemas.microsoft.com/office/drawing/2014/main" id="{8AE53384-FDAC-4A11-9F1E-F7E7AFF8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24" name="door-bottom-copy-0">
            <a:extLst xmlns:a="http://schemas.openxmlformats.org/drawingml/2006/main">
              <a:ext uri="{FF2B5EF4-FFF2-40B4-BE49-F238E27FC236}">
                <a16:creationId xmlns:a16="http://schemas.microsoft.com/office/drawing/2014/main" id="{F3B394E1-3119-4EFD-99FE-C7C8CBB6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Hub / partner</a:t>
            </a:r>
          </a:p>
        </p:txBody>
      </p:sp>
      <p:sp>
        <p:nvSpPr>
          <p:cNvPr id="25" name="door-bottom-node-1">
            <a:extLst xmlns:a="http://schemas.openxmlformats.org/drawingml/2006/main">
              <a:ext uri="{FF2B5EF4-FFF2-40B4-BE49-F238E27FC236}">
                <a16:creationId xmlns:a16="http://schemas.microsoft.com/office/drawing/2014/main" id="{038CD51F-0065-4516-9143-F7F0ADAE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52850"/>
            <a:ext cx="26955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6" name="door-bottom-step-1">
            <a:extLst xmlns:a="http://schemas.openxmlformats.org/drawingml/2006/main">
              <a:ext uri="{FF2B5EF4-FFF2-40B4-BE49-F238E27FC236}">
                <a16:creationId xmlns:a16="http://schemas.microsoft.com/office/drawing/2014/main" id="{3F035026-4F5A-4D14-BDC6-7F57A852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67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27" name="door-bottom-copy-1">
            <a:extLst xmlns:a="http://schemas.openxmlformats.org/drawingml/2006/main">
              <a:ext uri="{FF2B5EF4-FFF2-40B4-BE49-F238E27FC236}">
                <a16:creationId xmlns:a16="http://schemas.microsoft.com/office/drawing/2014/main" id="{A20FFFD3-3870-40BE-9D25-66F509BC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3385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Transit / live GPS</a:t>
            </a:r>
          </a:p>
        </p:txBody>
      </p:sp>
      <p:sp>
        <p:nvSpPr>
          <p:cNvPr id="28" name="door-bottom-node-2">
            <a:extLst xmlns:a="http://schemas.openxmlformats.org/drawingml/2006/main">
              <a:ext uri="{FF2B5EF4-FFF2-40B4-BE49-F238E27FC236}">
                <a16:creationId xmlns:a16="http://schemas.microsoft.com/office/drawing/2014/main" id="{E766944A-730C-42DD-A5B2-DA8AC8CD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52850"/>
            <a:ext cx="26955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9" name="door-bottom-step-2">
            <a:extLst xmlns:a="http://schemas.openxmlformats.org/drawingml/2006/main">
              <a:ext uri="{FF2B5EF4-FFF2-40B4-BE49-F238E27FC236}">
                <a16:creationId xmlns:a16="http://schemas.microsoft.com/office/drawing/2014/main" id="{295003FF-B90D-4015-BF61-92764895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67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30" name="door-bottom-copy-2">
            <a:extLst xmlns:a="http://schemas.openxmlformats.org/drawingml/2006/main">
              <a:ext uri="{FF2B5EF4-FFF2-40B4-BE49-F238E27FC236}">
                <a16:creationId xmlns:a16="http://schemas.microsoft.com/office/drawing/2014/main" id="{73E0F415-24CC-48B3-A521-E06679CA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OTP + POD + COD</a:t>
            </a:r>
          </a:p>
        </p:txBody>
      </p:sp>
      <p:sp>
        <p:nvSpPr>
          <p:cNvPr id="31" name="door-bottom-node-3">
            <a:extLst xmlns:a="http://schemas.openxmlformats.org/drawingml/2006/main">
              <a:ext uri="{FF2B5EF4-FFF2-40B4-BE49-F238E27FC236}">
                <a16:creationId xmlns:a16="http://schemas.microsoft.com/office/drawing/2014/main" id="{390273EF-2F54-43AB-BE22-7387480F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52850"/>
            <a:ext cx="26955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2" name="door-bottom-step-3">
            <a:extLst xmlns:a="http://schemas.openxmlformats.org/drawingml/2006/main">
              <a:ext uri="{FF2B5EF4-FFF2-40B4-BE49-F238E27FC236}">
                <a16:creationId xmlns:a16="http://schemas.microsoft.com/office/drawing/2014/main" id="{4B149897-44E9-426F-A32E-AEBD29BB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67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33" name="door-bottom-copy-3">
            <a:extLst xmlns:a="http://schemas.openxmlformats.org/drawingml/2006/main">
              <a:ext uri="{FF2B5EF4-FFF2-40B4-BE49-F238E27FC236}">
                <a16:creationId xmlns:a16="http://schemas.microsoft.com/office/drawing/2014/main" id="{7108152B-122A-4F66-9F36-79D1B4DD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3385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Delivered</a:t>
            </a:r>
          </a:p>
        </p:txBody>
      </p:sp>
      <p:sp>
        <p:nvSpPr>
          <p:cNvPr id="34" name="door-note">
            <a:extLst xmlns:a="http://schemas.openxmlformats.org/drawingml/2006/main">
              <a:ext uri="{FF2B5EF4-FFF2-40B4-BE49-F238E27FC236}">
                <a16:creationId xmlns:a16="http://schemas.microsoft.com/office/drawing/2014/main" id="{DA4A7970-1DC3-4F0F-ADBE-D77F0C40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6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Every handoff should create a timestamped tracking event and preserve who acted, when, where and why.</a:t>
            </a:r>
          </a:p>
        </p:txBody>
      </p:sp>
      <p:sp>
        <p:nvSpPr>
          <p:cNvPr id="35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7A23B91D-E476-4DB4-BF7A-8C11A945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6164E5E9-6B48-4209-9E5B-6476B8FB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5479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g-section">
            <a:extLst xmlns:a="http://schemas.openxmlformats.org/drawingml/2006/main">
              <a:ext uri="{FF2B5EF4-FFF2-40B4-BE49-F238E27FC236}">
                <a16:creationId xmlns:a16="http://schemas.microsoft.com/office/drawing/2014/main" id="{4C0EB2C5-A522-49A2-BBD3-B4EEEF59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REGISTRATION AND ACCESS</a:t>
            </a:r>
          </a:p>
        </p:txBody>
      </p:sp>
      <p:sp>
        <p:nvSpPr>
          <p:cNvPr id="2" name="reg-title">
            <a:extLst xmlns:a="http://schemas.openxmlformats.org/drawingml/2006/main">
              <a:ext uri="{FF2B5EF4-FFF2-40B4-BE49-F238E27FC236}">
                <a16:creationId xmlns:a16="http://schemas.microsoft.com/office/drawing/2014/main" id="{C3F4F89E-BFBF-4C7E-95D8-77C27ADA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Registration starts with identity, role and approval</a:t>
            </a:r>
          </a:p>
        </p:txBody>
      </p:sp>
      <p:cxnSp>
        <p:nvCxnSpPr>
          <p:cNvPr id="20" name="reg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reg-left">
            <a:extLst xmlns:a="http://schemas.openxmlformats.org/drawingml/2006/main">
              <a:ext uri="{FF2B5EF4-FFF2-40B4-BE49-F238E27FC236}">
                <a16:creationId xmlns:a16="http://schemas.microsoft.com/office/drawing/2014/main" id="{6A616494-93CC-483E-B352-545AEB8B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reg-right">
            <a:extLst xmlns:a="http://schemas.openxmlformats.org/drawingml/2006/main">
              <a:ext uri="{FF2B5EF4-FFF2-40B4-BE49-F238E27FC236}">
                <a16:creationId xmlns:a16="http://schemas.microsoft.com/office/drawing/2014/main" id="{12BC69DE-A288-4D5E-923A-F82D6752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reg-lh">
            <a:extLst xmlns:a="http://schemas.openxmlformats.org/drawingml/2006/main">
              <a:ext uri="{FF2B5EF4-FFF2-40B4-BE49-F238E27FC236}">
                <a16:creationId xmlns:a16="http://schemas.microsoft.com/office/drawing/2014/main" id="{EB5CD2FC-CE37-41A1-ABB2-79329B17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PUBLIC SELF-REGISTRATION</a:t>
            </a:r>
          </a:p>
        </p:txBody>
      </p:sp>
      <p:sp>
        <p:nvSpPr>
          <p:cNvPr id="7" name="reg-lb">
            <a:extLst xmlns:a="http://schemas.openxmlformats.org/drawingml/2006/main">
              <a:ext uri="{FF2B5EF4-FFF2-40B4-BE49-F238E27FC236}">
                <a16:creationId xmlns:a16="http://schemas.microsoft.com/office/drawing/2014/main" id="{A8C40055-802A-41C9-AF7C-2BC09FB6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Customer, Seller, Rider and Domestic Partner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1. Select role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2. Enter personal and Nepal address details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3. Add business or vehicle details where required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4. Accept terms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5. Wait for admin approval</a:t>
            </a:r>
          </a:p>
        </p:txBody>
      </p:sp>
      <p:sp>
        <p:nvSpPr>
          <p:cNvPr id="8" name="reg-rh">
            <a:extLst xmlns:a="http://schemas.openxmlformats.org/drawingml/2006/main">
              <a:ext uri="{FF2B5EF4-FFF2-40B4-BE49-F238E27FC236}">
                <a16:creationId xmlns:a16="http://schemas.microsoft.com/office/drawing/2014/main" id="{54CE9AFB-DBCC-4935-9089-97456300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CONTROLLED ACCESS</a:t>
            </a:r>
          </a:p>
        </p:txBody>
      </p:sp>
      <p:sp>
        <p:nvSpPr>
          <p:cNvPr id="9" name="reg-rb">
            <a:extLst xmlns:a="http://schemas.openxmlformats.org/drawingml/2006/main">
              <a:ext uri="{FF2B5EF4-FFF2-40B4-BE49-F238E27FC236}">
                <a16:creationId xmlns:a16="http://schemas.microsoft.com/office/drawing/2014/main" id="{8C81D5B7-91B3-4C60-A195-10DEB342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Admin, staff, specialist admins, overseas partner and agency accounts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Created or approved through authorized administration. Role-based access decides the dashboard, data visibility and permitted actions.</a:t>
            </a:r>
          </a:p>
        </p:txBody>
      </p:sp>
      <p:sp>
        <p:nvSpPr>
          <p:cNvPr id="10" name="reg-legend-0">
            <a:extLst xmlns:a="http://schemas.openxmlformats.org/drawingml/2006/main">
              <a:ext uri="{FF2B5EF4-FFF2-40B4-BE49-F238E27FC236}">
                <a16:creationId xmlns:a16="http://schemas.microsoft.com/office/drawing/2014/main" id="{229D5F30-0F4D-4AB6-AA43-E1CAD42F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3405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1" name="reg-legend-text-0">
            <a:extLst xmlns:a="http://schemas.openxmlformats.org/drawingml/2006/main">
              <a:ext uri="{FF2B5EF4-FFF2-40B4-BE49-F238E27FC236}">
                <a16:creationId xmlns:a16="http://schemas.microsoft.com/office/drawing/2014/main" id="{FD5F94E0-8BE1-4986-9D10-03B70C00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Nirmala UI"/>
                <a:ea typeface="Nirmala UI"/>
                <a:cs typeface="Nirmala UI"/>
              </a:defRPr>
            </a:pPr>
            <a:r>
              <a:rPr sz="1125" b="1">
                <a:solidFill>
                  <a:srgbClr val="15803D"/>
                </a:solidFill>
                <a:latin typeface="Nirmala UI"/>
                <a:ea typeface="Nirmala UI"/>
                <a:cs typeface="Nirmala UI"/>
              </a:rPr>
              <a:t>AVAILABLE NOW</a:t>
            </a:r>
          </a:p>
        </p:txBody>
      </p:sp>
      <p:sp>
        <p:nvSpPr>
          <p:cNvPr id="12" name="reg-legend-1">
            <a:extLst xmlns:a="http://schemas.openxmlformats.org/drawingml/2006/main">
              <a:ext uri="{FF2B5EF4-FFF2-40B4-BE49-F238E27FC236}">
                <a16:creationId xmlns:a16="http://schemas.microsoft.com/office/drawing/2014/main" id="{EBFBC979-AA60-4155-B027-3576C11B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73405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3" name="reg-legend-text-1">
            <a:extLst xmlns:a="http://schemas.openxmlformats.org/drawingml/2006/main">
              <a:ext uri="{FF2B5EF4-FFF2-40B4-BE49-F238E27FC236}">
                <a16:creationId xmlns:a16="http://schemas.microsoft.com/office/drawing/2014/main" id="{3511EAA0-DE0E-426E-8BBC-C5914CC8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388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125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CONFIGURABLE / MANUAL</a:t>
            </a:r>
          </a:p>
        </p:txBody>
      </p:sp>
      <p:sp>
        <p:nvSpPr>
          <p:cNvPr id="14" name="reg-legend-2">
            <a:extLst xmlns:a="http://schemas.openxmlformats.org/drawingml/2006/main">
              <a:ext uri="{FF2B5EF4-FFF2-40B4-BE49-F238E27FC236}">
                <a16:creationId xmlns:a16="http://schemas.microsoft.com/office/drawing/2014/main" id="{EABA5A98-8693-45B8-8982-838DF9BE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3405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reg-legend-text-2">
            <a:extLst xmlns:a="http://schemas.openxmlformats.org/drawingml/2006/main">
              <a:ext uri="{FF2B5EF4-FFF2-40B4-BE49-F238E27FC236}">
                <a16:creationId xmlns:a16="http://schemas.microsoft.com/office/drawing/2014/main" id="{869EC0D2-E63C-4C21-8896-38CE2EE2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8388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1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FUTURE GOAL</a:t>
            </a:r>
          </a:p>
        </p:txBody>
      </p:sp>
      <p:sp>
        <p:nvSpPr>
          <p:cNvPr id="16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3057E87F-1EF1-400E-8853-21A7EC10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936D757E-C054-4989-987D-19756572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8377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intl-section">
            <a:extLst xmlns:a="http://schemas.openxmlformats.org/drawingml/2006/main">
              <a:ext uri="{FF2B5EF4-FFF2-40B4-BE49-F238E27FC236}">
                <a16:creationId xmlns:a16="http://schemas.microsoft.com/office/drawing/2014/main" id="{66F206D8-BCC6-49B9-A000-693764D0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INTERNATIONAL COURIER</a:t>
            </a:r>
          </a:p>
        </p:txBody>
      </p:sp>
      <p:sp>
        <p:nvSpPr>
          <p:cNvPr id="2" name="intl-title">
            <a:extLst xmlns:a="http://schemas.openxmlformats.org/drawingml/2006/main">
              <a:ext uri="{FF2B5EF4-FFF2-40B4-BE49-F238E27FC236}">
                <a16:creationId xmlns:a16="http://schemas.microsoft.com/office/drawing/2014/main" id="{6344D20A-0326-493E-8038-F968020D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3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International courier combines rates, documents and partner scans</a:t>
            </a:r>
          </a:p>
        </p:txBody>
      </p:sp>
      <p:cxnSp>
        <p:nvCxnSpPr>
          <p:cNvPr id="37" name="intl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8" name="intl-edge-0"/>
          <p:cNvCxnSpPr/>
          <p:nvPr/>
        </p:nvCxnSpPr>
        <p:spPr>
          <a:xfrm xmlns:a="http://schemas.openxmlformats.org/drawingml/2006/main">
            <a:off x="222250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intl-edge-1"/>
          <p:cNvCxnSpPr/>
          <p:nvPr/>
        </p:nvCxnSpPr>
        <p:spPr>
          <a:xfrm xmlns:a="http://schemas.openxmlformats.org/drawingml/2006/main">
            <a:off x="412115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0" name="intl-edge-2"/>
          <p:cNvCxnSpPr/>
          <p:nvPr/>
        </p:nvCxnSpPr>
        <p:spPr>
          <a:xfrm xmlns:a="http://schemas.openxmlformats.org/drawingml/2006/main">
            <a:off x="601980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1" name="intl-edge-3"/>
          <p:cNvCxnSpPr/>
          <p:nvPr/>
        </p:nvCxnSpPr>
        <p:spPr>
          <a:xfrm xmlns:a="http://schemas.openxmlformats.org/drawingml/2006/main">
            <a:off x="791845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2" name="intl-edge-4"/>
          <p:cNvCxnSpPr/>
          <p:nvPr/>
        </p:nvCxnSpPr>
        <p:spPr>
          <a:xfrm xmlns:a="http://schemas.openxmlformats.org/drawingml/2006/main">
            <a:off x="981710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intl-node-0">
            <a:extLst xmlns:a="http://schemas.openxmlformats.org/drawingml/2006/main">
              <a:ext uri="{FF2B5EF4-FFF2-40B4-BE49-F238E27FC236}">
                <a16:creationId xmlns:a16="http://schemas.microsoft.com/office/drawing/2014/main" id="{9014D966-C54C-42BF-9874-B63B228C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intl-step-0">
            <a:extLst xmlns:a="http://schemas.openxmlformats.org/drawingml/2006/main">
              <a:ext uri="{FF2B5EF4-FFF2-40B4-BE49-F238E27FC236}">
                <a16:creationId xmlns:a16="http://schemas.microsoft.com/office/drawing/2014/main" id="{39B72D53-5638-48A8-A729-73F170B1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intl-copy-0">
            <a:extLst xmlns:a="http://schemas.openxmlformats.org/drawingml/2006/main">
              <a:ext uri="{FF2B5EF4-FFF2-40B4-BE49-F238E27FC236}">
                <a16:creationId xmlns:a16="http://schemas.microsoft.com/office/drawing/2014/main" id="{F17B3EAE-8721-43C4-8438-41F7C60D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Origin / destination</a:t>
            </a:r>
          </a:p>
        </p:txBody>
      </p:sp>
      <p:sp>
        <p:nvSpPr>
          <p:cNvPr id="12" name="intl-node-1">
            <a:extLst xmlns:a="http://schemas.openxmlformats.org/drawingml/2006/main">
              <a:ext uri="{FF2B5EF4-FFF2-40B4-BE49-F238E27FC236}">
                <a16:creationId xmlns:a16="http://schemas.microsoft.com/office/drawing/2014/main" id="{4E09AB94-23EA-45E9-9FF3-E48B1EFE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intl-step-1">
            <a:extLst xmlns:a="http://schemas.openxmlformats.org/drawingml/2006/main">
              <a:ext uri="{FF2B5EF4-FFF2-40B4-BE49-F238E27FC236}">
                <a16:creationId xmlns:a16="http://schemas.microsoft.com/office/drawing/2014/main" id="{B1D79FA1-7391-431C-9A51-D34A65C0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intl-copy-1">
            <a:extLst xmlns:a="http://schemas.openxmlformats.org/drawingml/2006/main">
              <a:ext uri="{FF2B5EF4-FFF2-40B4-BE49-F238E27FC236}">
                <a16:creationId xmlns:a16="http://schemas.microsoft.com/office/drawing/2014/main" id="{454C43CE-4504-4B2C-B148-95F4C138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Actual + volumetric</a:t>
            </a:r>
          </a:p>
        </p:txBody>
      </p:sp>
      <p:sp>
        <p:nvSpPr>
          <p:cNvPr id="15" name="intl-node-2">
            <a:extLst xmlns:a="http://schemas.openxmlformats.org/drawingml/2006/main">
              <a:ext uri="{FF2B5EF4-FFF2-40B4-BE49-F238E27FC236}">
                <a16:creationId xmlns:a16="http://schemas.microsoft.com/office/drawing/2014/main" id="{0D1CF4B2-D77E-492F-BAEC-12DDB83B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intl-step-2">
            <a:extLst xmlns:a="http://schemas.openxmlformats.org/drawingml/2006/main">
              <a:ext uri="{FF2B5EF4-FFF2-40B4-BE49-F238E27FC236}">
                <a16:creationId xmlns:a16="http://schemas.microsoft.com/office/drawing/2014/main" id="{CE067A40-7C0B-4DB2-9C85-D8BE054B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intl-copy-2">
            <a:extLst xmlns:a="http://schemas.openxmlformats.org/drawingml/2006/main">
              <a:ext uri="{FF2B5EF4-FFF2-40B4-BE49-F238E27FC236}">
                <a16:creationId xmlns:a16="http://schemas.microsoft.com/office/drawing/2014/main" id="{1DE63A77-993A-405D-9514-C6D62F61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Rate + surcharge</a:t>
            </a:r>
          </a:p>
        </p:txBody>
      </p:sp>
      <p:sp>
        <p:nvSpPr>
          <p:cNvPr id="18" name="intl-node-3">
            <a:extLst xmlns:a="http://schemas.openxmlformats.org/drawingml/2006/main">
              <a:ext uri="{FF2B5EF4-FFF2-40B4-BE49-F238E27FC236}">
                <a16:creationId xmlns:a16="http://schemas.microsoft.com/office/drawing/2014/main" id="{FE7201C5-E51A-4E97-90FF-86E9127A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intl-step-3">
            <a:extLst xmlns:a="http://schemas.openxmlformats.org/drawingml/2006/main">
              <a:ext uri="{FF2B5EF4-FFF2-40B4-BE49-F238E27FC236}">
                <a16:creationId xmlns:a16="http://schemas.microsoft.com/office/drawing/2014/main" id="{9C542A94-161F-4B0E-9E5F-C3372D88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intl-copy-3">
            <a:extLst xmlns:a="http://schemas.openxmlformats.org/drawingml/2006/main">
              <a:ext uri="{FF2B5EF4-FFF2-40B4-BE49-F238E27FC236}">
                <a16:creationId xmlns:a16="http://schemas.microsoft.com/office/drawing/2014/main" id="{6F3ED029-BE11-4B6E-8572-02E4677B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HAWB / label</a:t>
            </a:r>
          </a:p>
        </p:txBody>
      </p:sp>
      <p:sp>
        <p:nvSpPr>
          <p:cNvPr id="21" name="intl-node-4">
            <a:extLst xmlns:a="http://schemas.openxmlformats.org/drawingml/2006/main">
              <a:ext uri="{FF2B5EF4-FFF2-40B4-BE49-F238E27FC236}">
                <a16:creationId xmlns:a16="http://schemas.microsoft.com/office/drawing/2014/main" id="{38E8BE8F-CB15-436D-ABCC-BE3DA2AC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intl-step-4">
            <a:extLst xmlns:a="http://schemas.openxmlformats.org/drawingml/2006/main">
              <a:ext uri="{FF2B5EF4-FFF2-40B4-BE49-F238E27FC236}">
                <a16:creationId xmlns:a16="http://schemas.microsoft.com/office/drawing/2014/main" id="{0D1C8A71-32ED-4AED-BA5E-74A28527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intl-copy-4">
            <a:extLst xmlns:a="http://schemas.openxmlformats.org/drawingml/2006/main">
              <a:ext uri="{FF2B5EF4-FFF2-40B4-BE49-F238E27FC236}">
                <a16:creationId xmlns:a16="http://schemas.microsoft.com/office/drawing/2014/main" id="{F58FABDF-9DDA-492A-959B-AF470311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Partner scans</a:t>
            </a:r>
          </a:p>
        </p:txBody>
      </p:sp>
      <p:sp>
        <p:nvSpPr>
          <p:cNvPr id="24" name="intl-node-5">
            <a:extLst xmlns:a="http://schemas.openxmlformats.org/drawingml/2006/main">
              <a:ext uri="{FF2B5EF4-FFF2-40B4-BE49-F238E27FC236}">
                <a16:creationId xmlns:a16="http://schemas.microsoft.com/office/drawing/2014/main" id="{60D6648F-BC29-4C6E-8890-411FCE44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intl-step-5">
            <a:extLst xmlns:a="http://schemas.openxmlformats.org/drawingml/2006/main">
              <a:ext uri="{FF2B5EF4-FFF2-40B4-BE49-F238E27FC236}">
                <a16:creationId xmlns:a16="http://schemas.microsoft.com/office/drawing/2014/main" id="{560EE234-EC00-425B-82AC-CBA189A7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intl-copy-5">
            <a:extLst xmlns:a="http://schemas.openxmlformats.org/drawingml/2006/main">
              <a:ext uri="{FF2B5EF4-FFF2-40B4-BE49-F238E27FC236}">
                <a16:creationId xmlns:a16="http://schemas.microsoft.com/office/drawing/2014/main" id="{61B54E85-CC53-450E-AFFD-4FF419E7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Track / exception</a:t>
            </a:r>
          </a:p>
        </p:txBody>
      </p:sp>
      <p:sp>
        <p:nvSpPr>
          <p:cNvPr id="27" name="intl-stripe-head-0">
            <a:extLst xmlns:a="http://schemas.openxmlformats.org/drawingml/2006/main">
              <a:ext uri="{FF2B5EF4-FFF2-40B4-BE49-F238E27FC236}">
                <a16:creationId xmlns:a16="http://schemas.microsoft.com/office/drawing/2014/main" id="{4E1288F0-814F-4E63-98BB-22F242C3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CURRENT</a:t>
            </a:r>
          </a:p>
        </p:txBody>
      </p:sp>
      <p:sp>
        <p:nvSpPr>
          <p:cNvPr id="28" name="intl-stripe-copy-0">
            <a:extLst xmlns:a="http://schemas.openxmlformats.org/drawingml/2006/main">
              <a:ext uri="{FF2B5EF4-FFF2-40B4-BE49-F238E27FC236}">
                <a16:creationId xmlns:a16="http://schemas.microsoft.com/office/drawing/2014/main" id="{6DBE3C9F-D694-4AED-B5A3-DF4BC9FC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Partners, rates, remote surcharge records, transit points, HAWB and scan-based status updates.</a:t>
            </a:r>
          </a:p>
        </p:txBody>
      </p:sp>
      <p:sp>
        <p:nvSpPr>
          <p:cNvPr id="29" name="intl-stripe-head-1">
            <a:extLst xmlns:a="http://schemas.openxmlformats.org/drawingml/2006/main">
              <a:ext uri="{FF2B5EF4-FFF2-40B4-BE49-F238E27FC236}">
                <a16:creationId xmlns:a16="http://schemas.microsoft.com/office/drawing/2014/main" id="{6FD85266-ABEA-47F4-A416-74E5EC14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CONTROL</a:t>
            </a:r>
          </a:p>
        </p:txBody>
      </p:sp>
      <p:sp>
        <p:nvSpPr>
          <p:cNvPr id="30" name="intl-stripe-copy-1">
            <a:extLst xmlns:a="http://schemas.openxmlformats.org/drawingml/2006/main">
              <a:ext uri="{FF2B5EF4-FFF2-40B4-BE49-F238E27FC236}">
                <a16:creationId xmlns:a16="http://schemas.microsoft.com/office/drawing/2014/main" id="{F0B937CA-4D02-4180-8D7B-80F79265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Keep customer tracking number, internal shipment ID and partner reference mapped together.</a:t>
            </a:r>
          </a:p>
        </p:txBody>
      </p:sp>
      <p:sp>
        <p:nvSpPr>
          <p:cNvPr id="31" name="intl-stripe-head-2">
            <a:extLst xmlns:a="http://schemas.openxmlformats.org/drawingml/2006/main">
              <a:ext uri="{FF2B5EF4-FFF2-40B4-BE49-F238E27FC236}">
                <a16:creationId xmlns:a16="http://schemas.microsoft.com/office/drawing/2014/main" id="{D2DC5FB9-3BFB-4C52-8E95-331008CC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ACTIVATION</a:t>
            </a:r>
          </a:p>
        </p:txBody>
      </p:sp>
      <p:sp>
        <p:nvSpPr>
          <p:cNvPr id="32" name="intl-stripe-copy-2">
            <a:extLst xmlns:a="http://schemas.openxmlformats.org/drawingml/2006/main">
              <a:ext uri="{FF2B5EF4-FFF2-40B4-BE49-F238E27FC236}">
                <a16:creationId xmlns:a16="http://schemas.microsoft.com/office/drawing/2014/main" id="{EF048E0D-C8D4-4409-A4B9-A9D94CED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Live carrier APIs and customs document automation need official credentials and partner rules.</a:t>
            </a:r>
          </a:p>
        </p:txBody>
      </p:sp>
      <p:sp>
        <p:nvSpPr>
          <p:cNvPr id="33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037E54B2-389E-4191-97A9-3C97E493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B8A25582-7F70-43A4-8825-4C2437EF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98440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intl-price-section">
            <a:extLst xmlns:a="http://schemas.openxmlformats.org/drawingml/2006/main">
              <a:ext uri="{FF2B5EF4-FFF2-40B4-BE49-F238E27FC236}">
                <a16:creationId xmlns:a16="http://schemas.microsoft.com/office/drawing/2014/main" id="{3F487132-32A9-40B8-B39F-2BCAB184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INTERNATIONAL PRICING FLOW</a:t>
            </a:r>
          </a:p>
        </p:txBody>
      </p:sp>
      <p:sp>
        <p:nvSpPr>
          <p:cNvPr id="2" name="intl-price-title">
            <a:extLst xmlns:a="http://schemas.openxmlformats.org/drawingml/2006/main">
              <a:ext uri="{FF2B5EF4-FFF2-40B4-BE49-F238E27FC236}">
                <a16:creationId xmlns:a16="http://schemas.microsoft.com/office/drawing/2014/main" id="{784D7203-BB26-4C8D-8203-67E59909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International pricing protects service quality and margin</a:t>
            </a:r>
          </a:p>
        </p:txBody>
      </p:sp>
      <p:cxnSp>
        <p:nvCxnSpPr>
          <p:cNvPr id="37" name="intl-price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8" name="intl-price-edge-0"/>
          <p:cNvCxnSpPr/>
          <p:nvPr/>
        </p:nvCxnSpPr>
        <p:spPr>
          <a:xfrm xmlns:a="http://schemas.openxmlformats.org/drawingml/2006/main">
            <a:off x="2222500" y="26384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intl-price-edge-1"/>
          <p:cNvCxnSpPr/>
          <p:nvPr/>
        </p:nvCxnSpPr>
        <p:spPr>
          <a:xfrm xmlns:a="http://schemas.openxmlformats.org/drawingml/2006/main">
            <a:off x="4121150" y="26384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0" name="intl-price-edge-2"/>
          <p:cNvCxnSpPr/>
          <p:nvPr/>
        </p:nvCxnSpPr>
        <p:spPr>
          <a:xfrm xmlns:a="http://schemas.openxmlformats.org/drawingml/2006/main">
            <a:off x="6019800" y="26384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1" name="intl-price-edge-3"/>
          <p:cNvCxnSpPr/>
          <p:nvPr/>
        </p:nvCxnSpPr>
        <p:spPr>
          <a:xfrm xmlns:a="http://schemas.openxmlformats.org/drawingml/2006/main">
            <a:off x="7918450" y="26384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2" name="intl-price-edge-4"/>
          <p:cNvCxnSpPr/>
          <p:nvPr/>
        </p:nvCxnSpPr>
        <p:spPr>
          <a:xfrm xmlns:a="http://schemas.openxmlformats.org/drawingml/2006/main">
            <a:off x="9817100" y="26384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intl-price-node-0">
            <a:extLst xmlns:a="http://schemas.openxmlformats.org/drawingml/2006/main">
              <a:ext uri="{FF2B5EF4-FFF2-40B4-BE49-F238E27FC236}">
                <a16:creationId xmlns:a16="http://schemas.microsoft.com/office/drawing/2014/main" id="{91B76EF2-CF47-44A8-8BEA-D441AFEE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76450"/>
            <a:ext cx="1746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intl-price-step-0">
            <a:extLst xmlns:a="http://schemas.openxmlformats.org/drawingml/2006/main">
              <a:ext uri="{FF2B5EF4-FFF2-40B4-BE49-F238E27FC236}">
                <a16:creationId xmlns:a16="http://schemas.microsoft.com/office/drawing/2014/main" id="{D93AA51C-E59D-4C77-A38D-B6264D6D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intl-price-copy-0">
            <a:extLst xmlns:a="http://schemas.openxmlformats.org/drawingml/2006/main">
              <a:ext uri="{FF2B5EF4-FFF2-40B4-BE49-F238E27FC236}">
                <a16:creationId xmlns:a16="http://schemas.microsoft.com/office/drawing/2014/main" id="{741BBC75-1BD4-4001-846E-1DC557E3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479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Actual weight</a:t>
            </a:r>
          </a:p>
        </p:txBody>
      </p:sp>
      <p:sp>
        <p:nvSpPr>
          <p:cNvPr id="12" name="intl-price-node-1">
            <a:extLst xmlns:a="http://schemas.openxmlformats.org/drawingml/2006/main">
              <a:ext uri="{FF2B5EF4-FFF2-40B4-BE49-F238E27FC236}">
                <a16:creationId xmlns:a16="http://schemas.microsoft.com/office/drawing/2014/main" id="{930BBBBD-9155-4003-B2CD-782BB769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076450"/>
            <a:ext cx="1746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intl-price-step-1">
            <a:extLst xmlns:a="http://schemas.openxmlformats.org/drawingml/2006/main">
              <a:ext uri="{FF2B5EF4-FFF2-40B4-BE49-F238E27FC236}">
                <a16:creationId xmlns:a16="http://schemas.microsoft.com/office/drawing/2014/main" id="{A0802E8A-4D3B-4942-86E0-EC290C00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90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intl-price-copy-1">
            <a:extLst xmlns:a="http://schemas.openxmlformats.org/drawingml/2006/main">
              <a:ext uri="{FF2B5EF4-FFF2-40B4-BE49-F238E27FC236}">
                <a16:creationId xmlns:a16="http://schemas.microsoft.com/office/drawing/2014/main" id="{262AEEB1-3775-4B83-AC52-32AE64A3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457450"/>
            <a:ext cx="1479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Dimensions</a:t>
            </a:r>
          </a:p>
        </p:txBody>
      </p:sp>
      <p:sp>
        <p:nvSpPr>
          <p:cNvPr id="15" name="intl-price-node-2">
            <a:extLst xmlns:a="http://schemas.openxmlformats.org/drawingml/2006/main">
              <a:ext uri="{FF2B5EF4-FFF2-40B4-BE49-F238E27FC236}">
                <a16:creationId xmlns:a16="http://schemas.microsoft.com/office/drawing/2014/main" id="{D8119539-693D-470B-93CD-29F0CD1D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076450"/>
            <a:ext cx="1746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intl-price-step-2">
            <a:extLst xmlns:a="http://schemas.openxmlformats.org/drawingml/2006/main">
              <a:ext uri="{FF2B5EF4-FFF2-40B4-BE49-F238E27FC236}">
                <a16:creationId xmlns:a16="http://schemas.microsoft.com/office/drawing/2014/main" id="{27F4590E-EC1C-41FA-A980-5D7B1A8F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190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intl-price-copy-2">
            <a:extLst xmlns:a="http://schemas.openxmlformats.org/drawingml/2006/main">
              <a:ext uri="{FF2B5EF4-FFF2-40B4-BE49-F238E27FC236}">
                <a16:creationId xmlns:a16="http://schemas.microsoft.com/office/drawing/2014/main" id="{D2AA26E8-ADDD-4D81-9DAC-164505CC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57450"/>
            <a:ext cx="1479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Volumetric weight</a:t>
            </a:r>
          </a:p>
        </p:txBody>
      </p:sp>
      <p:sp>
        <p:nvSpPr>
          <p:cNvPr id="18" name="intl-price-node-3">
            <a:extLst xmlns:a="http://schemas.openxmlformats.org/drawingml/2006/main">
              <a:ext uri="{FF2B5EF4-FFF2-40B4-BE49-F238E27FC236}">
                <a16:creationId xmlns:a16="http://schemas.microsoft.com/office/drawing/2014/main" id="{87A9200E-5FC6-40F1-AC3A-3EF185B1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746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intl-price-step-3">
            <a:extLst xmlns:a="http://schemas.openxmlformats.org/drawingml/2006/main">
              <a:ext uri="{FF2B5EF4-FFF2-40B4-BE49-F238E27FC236}">
                <a16:creationId xmlns:a16="http://schemas.microsoft.com/office/drawing/2014/main" id="{02EEB518-2AFB-4337-AF01-F70B6FE7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intl-price-copy-3">
            <a:extLst xmlns:a="http://schemas.openxmlformats.org/drawingml/2006/main">
              <a:ext uri="{FF2B5EF4-FFF2-40B4-BE49-F238E27FC236}">
                <a16:creationId xmlns:a16="http://schemas.microsoft.com/office/drawing/2014/main" id="{285E7D64-94FB-4870-88C3-9618A411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1479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Chargeable weight</a:t>
            </a:r>
          </a:p>
        </p:txBody>
      </p:sp>
      <p:sp>
        <p:nvSpPr>
          <p:cNvPr id="21" name="intl-price-node-4">
            <a:extLst xmlns:a="http://schemas.openxmlformats.org/drawingml/2006/main">
              <a:ext uri="{FF2B5EF4-FFF2-40B4-BE49-F238E27FC236}">
                <a16:creationId xmlns:a16="http://schemas.microsoft.com/office/drawing/2014/main" id="{7EAC3071-E77D-4CB8-89D3-0D268E23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076450"/>
            <a:ext cx="1746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intl-price-step-4">
            <a:extLst xmlns:a="http://schemas.openxmlformats.org/drawingml/2006/main">
              <a:ext uri="{FF2B5EF4-FFF2-40B4-BE49-F238E27FC236}">
                <a16:creationId xmlns:a16="http://schemas.microsoft.com/office/drawing/2014/main" id="{2E1A13A9-40C7-4F14-B0C9-FFB15A3D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190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intl-price-copy-4">
            <a:extLst xmlns:a="http://schemas.openxmlformats.org/drawingml/2006/main">
              <a:ext uri="{FF2B5EF4-FFF2-40B4-BE49-F238E27FC236}">
                <a16:creationId xmlns:a16="http://schemas.microsoft.com/office/drawing/2014/main" id="{F00F47F0-CFEC-4019-8A21-67008EC9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57450"/>
            <a:ext cx="1479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Partner cost</a:t>
            </a:r>
          </a:p>
        </p:txBody>
      </p:sp>
      <p:sp>
        <p:nvSpPr>
          <p:cNvPr id="24" name="intl-price-node-5">
            <a:extLst xmlns:a="http://schemas.openxmlformats.org/drawingml/2006/main">
              <a:ext uri="{FF2B5EF4-FFF2-40B4-BE49-F238E27FC236}">
                <a16:creationId xmlns:a16="http://schemas.microsoft.com/office/drawing/2014/main" id="{A7F58C60-3682-464E-8FAF-AF6E0D69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076450"/>
            <a:ext cx="1746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intl-price-step-5">
            <a:extLst xmlns:a="http://schemas.openxmlformats.org/drawingml/2006/main">
              <a:ext uri="{FF2B5EF4-FFF2-40B4-BE49-F238E27FC236}">
                <a16:creationId xmlns:a16="http://schemas.microsoft.com/office/drawing/2014/main" id="{AF3AAB56-0D64-479C-B410-444DD235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190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intl-price-copy-5">
            <a:extLst xmlns:a="http://schemas.openxmlformats.org/drawingml/2006/main">
              <a:ext uri="{FF2B5EF4-FFF2-40B4-BE49-F238E27FC236}">
                <a16:creationId xmlns:a16="http://schemas.microsoft.com/office/drawing/2014/main" id="{AA2AC75C-6902-4DF3-8371-73685579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457450"/>
            <a:ext cx="1479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Customer price</a:t>
            </a:r>
          </a:p>
        </p:txBody>
      </p:sp>
      <p:sp>
        <p:nvSpPr>
          <p:cNvPr id="27" name="intl-price-detail-left">
            <a:extLst xmlns:a="http://schemas.openxmlformats.org/drawingml/2006/main">
              <a:ext uri="{FF2B5EF4-FFF2-40B4-BE49-F238E27FC236}">
                <a16:creationId xmlns:a16="http://schemas.microsoft.com/office/drawing/2014/main" id="{7EBAF240-0A40-4A99-B2A1-0055A055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0"/>
            <a:ext cx="538162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28" name="intl-price-detail-right">
            <a:extLst xmlns:a="http://schemas.openxmlformats.org/drawingml/2006/main">
              <a:ext uri="{FF2B5EF4-FFF2-40B4-BE49-F238E27FC236}">
                <a16:creationId xmlns:a16="http://schemas.microsoft.com/office/drawing/2014/main" id="{9BDFE199-AF0D-41F2-B890-17E91754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538162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9" name="intl-price-detail-lh">
            <a:extLst xmlns:a="http://schemas.openxmlformats.org/drawingml/2006/main">
              <a:ext uri="{FF2B5EF4-FFF2-40B4-BE49-F238E27FC236}">
                <a16:creationId xmlns:a16="http://schemas.microsoft.com/office/drawing/2014/main" id="{321346EA-6580-4470-9FEF-F54CFEF3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PRICING INPUTS</a:t>
            </a:r>
          </a:p>
        </p:txBody>
      </p:sp>
      <p:sp>
        <p:nvSpPr>
          <p:cNvPr id="30" name="intl-price-detail-lb">
            <a:extLst xmlns:a="http://schemas.openxmlformats.org/drawingml/2006/main">
              <a:ext uri="{FF2B5EF4-FFF2-40B4-BE49-F238E27FC236}">
                <a16:creationId xmlns:a16="http://schemas.microsoft.com/office/drawing/2014/main" id="{02D76067-E8F2-439E-9B2F-546F8385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857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Origin and destination country, service level, partner rate, fuel surcharge, remote area, insurance, handling and approved customs-related charges.</a:t>
            </a:r>
          </a:p>
        </p:txBody>
      </p:sp>
      <p:sp>
        <p:nvSpPr>
          <p:cNvPr id="31" name="intl-price-detail-rh">
            <a:extLst xmlns:a="http://schemas.openxmlformats.org/drawingml/2006/main">
              <a:ext uri="{FF2B5EF4-FFF2-40B4-BE49-F238E27FC236}">
                <a16:creationId xmlns:a16="http://schemas.microsoft.com/office/drawing/2014/main" id="{96292796-C517-4E00-B0F8-88FF131C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671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GUARDRAILS</a:t>
            </a:r>
          </a:p>
        </p:txBody>
      </p:sp>
      <p:sp>
        <p:nvSpPr>
          <p:cNvPr id="32" name="intl-price-detail-rb">
            <a:extLst xmlns:a="http://schemas.openxmlformats.org/drawingml/2006/main">
              <a:ext uri="{FF2B5EF4-FFF2-40B4-BE49-F238E27FC236}">
                <a16:creationId xmlns:a16="http://schemas.microsoft.com/office/drawing/2014/main" id="{13A375FD-DC9E-4D80-9500-3D360310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76750"/>
            <a:ext cx="4857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Chargeable weight is the greater of actual and volumetric weight. Customer price must cover partner cost, gateway/operations cost, discount and required margin.</a:t>
            </a:r>
          </a:p>
        </p:txBody>
      </p:sp>
      <p:sp>
        <p:nvSpPr>
          <p:cNvPr id="33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17995565-D63E-4FA0-A3A6-D40CA645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4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B69BF563-4672-4A28-8FCA-D1EDF708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749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intl-compliance-section">
            <a:extLst xmlns:a="http://schemas.openxmlformats.org/drawingml/2006/main">
              <a:ext uri="{FF2B5EF4-FFF2-40B4-BE49-F238E27FC236}">
                <a16:creationId xmlns:a16="http://schemas.microsoft.com/office/drawing/2014/main" id="{01D5182B-D53B-448C-B8EC-8B2A6ADB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INTERNATIONAL COMPLIANCE</a:t>
            </a:r>
          </a:p>
        </p:txBody>
      </p:sp>
      <p:sp>
        <p:nvSpPr>
          <p:cNvPr id="2" name="intl-compliance-title">
            <a:extLst xmlns:a="http://schemas.openxmlformats.org/drawingml/2006/main">
              <a:ext uri="{FF2B5EF4-FFF2-40B4-BE49-F238E27FC236}">
                <a16:creationId xmlns:a16="http://schemas.microsoft.com/office/drawing/2014/main" id="{82E1E7AB-0BB9-403D-91BB-4873DC3F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International bookings require document and restriction checks</a:t>
            </a:r>
          </a:p>
        </p:txBody>
      </p:sp>
      <p:cxnSp>
        <p:nvCxnSpPr>
          <p:cNvPr id="15" name="intl-compliance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intl-compliance-left">
            <a:extLst xmlns:a="http://schemas.openxmlformats.org/drawingml/2006/main">
              <a:ext uri="{FF2B5EF4-FFF2-40B4-BE49-F238E27FC236}">
                <a16:creationId xmlns:a16="http://schemas.microsoft.com/office/drawing/2014/main" id="{07A68E9C-0A39-41CB-B870-2FD417FC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intl-compliance-right">
            <a:extLst xmlns:a="http://schemas.openxmlformats.org/drawingml/2006/main">
              <a:ext uri="{FF2B5EF4-FFF2-40B4-BE49-F238E27FC236}">
                <a16:creationId xmlns:a16="http://schemas.microsoft.com/office/drawing/2014/main" id="{9778C20B-3355-44F1-B652-61AD0DE5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intl-compliance-lh">
            <a:extLst xmlns:a="http://schemas.openxmlformats.org/drawingml/2006/main">
              <a:ext uri="{FF2B5EF4-FFF2-40B4-BE49-F238E27FC236}">
                <a16:creationId xmlns:a16="http://schemas.microsoft.com/office/drawing/2014/main" id="{D7DC3189-3F85-4F94-9DAB-939E65FF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BOOKING CHECKS</a:t>
            </a:r>
          </a:p>
        </p:txBody>
      </p:sp>
      <p:sp>
        <p:nvSpPr>
          <p:cNvPr id="7" name="intl-compliance-lb">
            <a:extLst xmlns:a="http://schemas.openxmlformats.org/drawingml/2006/main">
              <a:ext uri="{FF2B5EF4-FFF2-40B4-BE49-F238E27FC236}">
                <a16:creationId xmlns:a16="http://schemas.microsoft.com/office/drawing/2014/main" id="{ABF02EFD-A1F0-4948-A8BE-DEF269AF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Commodity description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Declared value and currency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Sender and recipient identity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Invoice and required documents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Prohibited or restricted goods review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Destination service conditions</a:t>
            </a:r>
          </a:p>
        </p:txBody>
      </p:sp>
      <p:sp>
        <p:nvSpPr>
          <p:cNvPr id="8" name="intl-compliance-rh">
            <a:extLst xmlns:a="http://schemas.openxmlformats.org/drawingml/2006/main">
              <a:ext uri="{FF2B5EF4-FFF2-40B4-BE49-F238E27FC236}">
                <a16:creationId xmlns:a16="http://schemas.microsoft.com/office/drawing/2014/main" id="{394A4948-AF25-448D-8CBF-BA5D685E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PARTNER HANDOFF</a:t>
            </a:r>
          </a:p>
        </p:txBody>
      </p:sp>
      <p:sp>
        <p:nvSpPr>
          <p:cNvPr id="9" name="intl-compliance-rb">
            <a:extLst xmlns:a="http://schemas.openxmlformats.org/drawingml/2006/main">
              <a:ext uri="{FF2B5EF4-FFF2-40B4-BE49-F238E27FC236}">
                <a16:creationId xmlns:a16="http://schemas.microsoft.com/office/drawing/2014/main" id="{6608AB14-5A61-4F46-8BC5-0B0EF3DE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Generate HAWB and label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Store internal and partner references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Attach authorized documents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Record hub and transit scans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Raise customs hold or partner exception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Close with delivery or return outcome</a:t>
            </a:r>
          </a:p>
        </p:txBody>
      </p:sp>
      <p:sp>
        <p:nvSpPr>
          <p:cNvPr id="10" name="intl-compliance-note">
            <a:extLst xmlns:a="http://schemas.openxmlformats.org/drawingml/2006/main">
              <a:ext uri="{FF2B5EF4-FFF2-40B4-BE49-F238E27FC236}">
                <a16:creationId xmlns:a16="http://schemas.microsoft.com/office/drawing/2014/main" id="{CF2AE9BC-9BDC-40CE-A5B4-AC5CCA92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Current code supports shipment documents and scan/status handling. A complete country-by-country prohibited-goods and customs rules engine requires verified regulatory and carrier data.</a:t>
            </a:r>
          </a:p>
        </p:txBody>
      </p:sp>
      <p:sp>
        <p:nvSpPr>
          <p:cNvPr id="11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C0648375-95CC-4746-B6B5-122EB54B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2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C122BE6B-29B5-4AF7-AE83-C6A7B528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372473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dom-section">
            <a:extLst xmlns:a="http://schemas.openxmlformats.org/drawingml/2006/main">
              <a:ext uri="{FF2B5EF4-FFF2-40B4-BE49-F238E27FC236}">
                <a16:creationId xmlns:a16="http://schemas.microsoft.com/office/drawing/2014/main" id="{90D6E5CC-27E3-420C-A96D-0AF852BA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DOMESTIC COURIER</a:t>
            </a:r>
          </a:p>
        </p:txBody>
      </p:sp>
      <p:sp>
        <p:nvSpPr>
          <p:cNvPr id="2" name="dom-title">
            <a:extLst xmlns:a="http://schemas.openxmlformats.org/drawingml/2006/main">
              <a:ext uri="{FF2B5EF4-FFF2-40B4-BE49-F238E27FC236}">
                <a16:creationId xmlns:a16="http://schemas.microsoft.com/office/drawing/2014/main" id="{38121B0A-A01A-4E99-A679-F1ECFB00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0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Domestic courier turns Nepal coverage into an auditable handoff</a:t>
            </a:r>
          </a:p>
        </p:txBody>
      </p:sp>
      <p:cxnSp>
        <p:nvCxnSpPr>
          <p:cNvPr id="37" name="dom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8" name="dom-edge-0"/>
          <p:cNvCxnSpPr/>
          <p:nvPr/>
        </p:nvCxnSpPr>
        <p:spPr>
          <a:xfrm xmlns:a="http://schemas.openxmlformats.org/drawingml/2006/main">
            <a:off x="222250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dom-edge-1"/>
          <p:cNvCxnSpPr/>
          <p:nvPr/>
        </p:nvCxnSpPr>
        <p:spPr>
          <a:xfrm xmlns:a="http://schemas.openxmlformats.org/drawingml/2006/main">
            <a:off x="412115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0" name="dom-edge-2"/>
          <p:cNvCxnSpPr/>
          <p:nvPr/>
        </p:nvCxnSpPr>
        <p:spPr>
          <a:xfrm xmlns:a="http://schemas.openxmlformats.org/drawingml/2006/main">
            <a:off x="601980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1" name="dom-edge-3"/>
          <p:cNvCxnSpPr/>
          <p:nvPr/>
        </p:nvCxnSpPr>
        <p:spPr>
          <a:xfrm xmlns:a="http://schemas.openxmlformats.org/drawingml/2006/main">
            <a:off x="791845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2" name="dom-edge-4"/>
          <p:cNvCxnSpPr/>
          <p:nvPr/>
        </p:nvCxnSpPr>
        <p:spPr>
          <a:xfrm xmlns:a="http://schemas.openxmlformats.org/drawingml/2006/main">
            <a:off x="981710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dom-node-0">
            <a:extLst xmlns:a="http://schemas.openxmlformats.org/drawingml/2006/main">
              <a:ext uri="{FF2B5EF4-FFF2-40B4-BE49-F238E27FC236}">
                <a16:creationId xmlns:a16="http://schemas.microsoft.com/office/drawing/2014/main" id="{CC9199BC-BD71-442B-9F75-EABCF138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dom-step-0">
            <a:extLst xmlns:a="http://schemas.openxmlformats.org/drawingml/2006/main">
              <a:ext uri="{FF2B5EF4-FFF2-40B4-BE49-F238E27FC236}">
                <a16:creationId xmlns:a16="http://schemas.microsoft.com/office/drawing/2014/main" id="{296EAA79-5442-4A24-A994-DD60212C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dom-copy-0">
            <a:extLst xmlns:a="http://schemas.openxmlformats.org/drawingml/2006/main">
              <a:ext uri="{FF2B5EF4-FFF2-40B4-BE49-F238E27FC236}">
                <a16:creationId xmlns:a16="http://schemas.microsoft.com/office/drawing/2014/main" id="{D314C168-E8F9-49FD-B480-046112C2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Nepal address</a:t>
            </a:r>
          </a:p>
        </p:txBody>
      </p:sp>
      <p:sp>
        <p:nvSpPr>
          <p:cNvPr id="12" name="dom-node-1">
            <a:extLst xmlns:a="http://schemas.openxmlformats.org/drawingml/2006/main">
              <a:ext uri="{FF2B5EF4-FFF2-40B4-BE49-F238E27FC236}">
                <a16:creationId xmlns:a16="http://schemas.microsoft.com/office/drawing/2014/main" id="{39D21F58-1685-4E70-8CF1-B0C246D9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dom-step-1">
            <a:extLst xmlns:a="http://schemas.openxmlformats.org/drawingml/2006/main">
              <a:ext uri="{FF2B5EF4-FFF2-40B4-BE49-F238E27FC236}">
                <a16:creationId xmlns:a16="http://schemas.microsoft.com/office/drawing/2014/main" id="{27B95C8E-C98C-4458-A7AC-D07A587A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dom-copy-1">
            <a:extLst xmlns:a="http://schemas.openxmlformats.org/drawingml/2006/main">
              <a:ext uri="{FF2B5EF4-FFF2-40B4-BE49-F238E27FC236}">
                <a16:creationId xmlns:a16="http://schemas.microsoft.com/office/drawing/2014/main" id="{5E67AF41-0ED1-435D-B9B2-1A94BEFD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Zone + rate</a:t>
            </a:r>
          </a:p>
        </p:txBody>
      </p:sp>
      <p:sp>
        <p:nvSpPr>
          <p:cNvPr id="15" name="dom-node-2">
            <a:extLst xmlns:a="http://schemas.openxmlformats.org/drawingml/2006/main">
              <a:ext uri="{FF2B5EF4-FFF2-40B4-BE49-F238E27FC236}">
                <a16:creationId xmlns:a16="http://schemas.microsoft.com/office/drawing/2014/main" id="{A7E1F975-4890-4B2C-94DE-B258AA9A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dom-step-2">
            <a:extLst xmlns:a="http://schemas.openxmlformats.org/drawingml/2006/main">
              <a:ext uri="{FF2B5EF4-FFF2-40B4-BE49-F238E27FC236}">
                <a16:creationId xmlns:a16="http://schemas.microsoft.com/office/drawing/2014/main" id="{F54BB485-CF2A-4724-8EAE-ED7A7FD6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dom-copy-2">
            <a:extLst xmlns:a="http://schemas.openxmlformats.org/drawingml/2006/main">
              <a:ext uri="{FF2B5EF4-FFF2-40B4-BE49-F238E27FC236}">
                <a16:creationId xmlns:a16="http://schemas.microsoft.com/office/drawing/2014/main" id="{F989CAC9-7F59-4ED7-A2A4-2BD1BB22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Pickup request</a:t>
            </a:r>
          </a:p>
        </p:txBody>
      </p:sp>
      <p:sp>
        <p:nvSpPr>
          <p:cNvPr id="18" name="dom-node-3">
            <a:extLst xmlns:a="http://schemas.openxmlformats.org/drawingml/2006/main">
              <a:ext uri="{FF2B5EF4-FFF2-40B4-BE49-F238E27FC236}">
                <a16:creationId xmlns:a16="http://schemas.microsoft.com/office/drawing/2014/main" id="{56C41680-376C-4266-BE8B-448D13D7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dom-step-3">
            <a:extLst xmlns:a="http://schemas.openxmlformats.org/drawingml/2006/main">
              <a:ext uri="{FF2B5EF4-FFF2-40B4-BE49-F238E27FC236}">
                <a16:creationId xmlns:a16="http://schemas.microsoft.com/office/drawing/2014/main" id="{94FB0B5D-5463-471C-B901-26B9620C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dom-copy-3">
            <a:extLst xmlns:a="http://schemas.openxmlformats.org/drawingml/2006/main">
              <a:ext uri="{FF2B5EF4-FFF2-40B4-BE49-F238E27FC236}">
                <a16:creationId xmlns:a16="http://schemas.microsoft.com/office/drawing/2014/main" id="{8CCDDA9A-DA0D-4971-925B-5E672A91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Partner manifest</a:t>
            </a:r>
          </a:p>
        </p:txBody>
      </p:sp>
      <p:sp>
        <p:nvSpPr>
          <p:cNvPr id="21" name="dom-node-4">
            <a:extLst xmlns:a="http://schemas.openxmlformats.org/drawingml/2006/main">
              <a:ext uri="{FF2B5EF4-FFF2-40B4-BE49-F238E27FC236}">
                <a16:creationId xmlns:a16="http://schemas.microsoft.com/office/drawing/2014/main" id="{38F0A254-5558-403F-8448-C92390A5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dom-step-4">
            <a:extLst xmlns:a="http://schemas.openxmlformats.org/drawingml/2006/main">
              <a:ext uri="{FF2B5EF4-FFF2-40B4-BE49-F238E27FC236}">
                <a16:creationId xmlns:a16="http://schemas.microsoft.com/office/drawing/2014/main" id="{3D1F9B85-EC7E-4CD8-9113-EE810C00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dom-copy-4">
            <a:extLst xmlns:a="http://schemas.openxmlformats.org/drawingml/2006/main">
              <a:ext uri="{FF2B5EF4-FFF2-40B4-BE49-F238E27FC236}">
                <a16:creationId xmlns:a16="http://schemas.microsoft.com/office/drawing/2014/main" id="{5218BAE4-0935-4C4D-96A5-BF1D3EE0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Scan + POD</a:t>
            </a:r>
          </a:p>
        </p:txBody>
      </p:sp>
      <p:sp>
        <p:nvSpPr>
          <p:cNvPr id="24" name="dom-node-5">
            <a:extLst xmlns:a="http://schemas.openxmlformats.org/drawingml/2006/main">
              <a:ext uri="{FF2B5EF4-FFF2-40B4-BE49-F238E27FC236}">
                <a16:creationId xmlns:a16="http://schemas.microsoft.com/office/drawing/2014/main" id="{CD3BCB4A-38CC-479D-9BE3-718669DC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dom-step-5">
            <a:extLst xmlns:a="http://schemas.openxmlformats.org/drawingml/2006/main">
              <a:ext uri="{FF2B5EF4-FFF2-40B4-BE49-F238E27FC236}">
                <a16:creationId xmlns:a16="http://schemas.microsoft.com/office/drawing/2014/main" id="{73982C82-563D-47A1-89C2-8DE733A3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dom-copy-5">
            <a:extLst xmlns:a="http://schemas.openxmlformats.org/drawingml/2006/main">
              <a:ext uri="{FF2B5EF4-FFF2-40B4-BE49-F238E27FC236}">
                <a16:creationId xmlns:a16="http://schemas.microsoft.com/office/drawing/2014/main" id="{30237E1B-795E-4EB4-B541-39090DCB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Settle / close</a:t>
            </a:r>
          </a:p>
        </p:txBody>
      </p:sp>
      <p:sp>
        <p:nvSpPr>
          <p:cNvPr id="27" name="dom-stripe-head-0">
            <a:extLst xmlns:a="http://schemas.openxmlformats.org/drawingml/2006/main">
              <a:ext uri="{FF2B5EF4-FFF2-40B4-BE49-F238E27FC236}">
                <a16:creationId xmlns:a16="http://schemas.microsoft.com/office/drawing/2014/main" id="{7F10B95B-F8B4-4361-AF12-4D777812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CURRENT</a:t>
            </a:r>
          </a:p>
        </p:txBody>
      </p:sp>
      <p:sp>
        <p:nvSpPr>
          <p:cNvPr id="28" name="dom-stripe-copy-0">
            <a:extLst xmlns:a="http://schemas.openxmlformats.org/drawingml/2006/main">
              <a:ext uri="{FF2B5EF4-FFF2-40B4-BE49-F238E27FC236}">
                <a16:creationId xmlns:a16="http://schemas.microsoft.com/office/drawing/2014/main" id="{37405490-A816-4384-97FB-8B4B683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Delivery zones, partner rates, pickups, manifests, shipment status, POD files and audit events.</a:t>
            </a:r>
          </a:p>
        </p:txBody>
      </p:sp>
      <p:sp>
        <p:nvSpPr>
          <p:cNvPr id="29" name="dom-stripe-head-1">
            <a:extLst xmlns:a="http://schemas.openxmlformats.org/drawingml/2006/main">
              <a:ext uri="{FF2B5EF4-FFF2-40B4-BE49-F238E27FC236}">
                <a16:creationId xmlns:a16="http://schemas.microsoft.com/office/drawing/2014/main" id="{12EEE284-86C0-4796-A134-C230347E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NEPAL FIT</a:t>
            </a:r>
          </a:p>
        </p:txBody>
      </p:sp>
      <p:sp>
        <p:nvSpPr>
          <p:cNvPr id="30" name="dom-stripe-copy-1">
            <a:extLst xmlns:a="http://schemas.openxmlformats.org/drawingml/2006/main">
              <a:ext uri="{FF2B5EF4-FFF2-40B4-BE49-F238E27FC236}">
                <a16:creationId xmlns:a16="http://schemas.microsoft.com/office/drawing/2014/main" id="{890EB00A-08D3-4152-9810-07F87CA0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Province, district, municipality/area, ward, landmark, GPS pin and phone should guide serviceability.</a:t>
            </a:r>
          </a:p>
        </p:txBody>
      </p:sp>
      <p:sp>
        <p:nvSpPr>
          <p:cNvPr id="31" name="dom-stripe-head-2">
            <a:extLst xmlns:a="http://schemas.openxmlformats.org/drawingml/2006/main">
              <a:ext uri="{FF2B5EF4-FFF2-40B4-BE49-F238E27FC236}">
                <a16:creationId xmlns:a16="http://schemas.microsoft.com/office/drawing/2014/main" id="{AE185819-38C4-4A9B-8E29-CD2AF997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NEXT</a:t>
            </a:r>
          </a:p>
        </p:txBody>
      </p:sp>
      <p:sp>
        <p:nvSpPr>
          <p:cNvPr id="32" name="dom-stripe-copy-2">
            <a:extLst xmlns:a="http://schemas.openxmlformats.org/drawingml/2006/main">
              <a:ext uri="{FF2B5EF4-FFF2-40B4-BE49-F238E27FC236}">
                <a16:creationId xmlns:a16="http://schemas.microsoft.com/office/drawing/2014/main" id="{538A2A2C-18AD-49BE-B93D-90127925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Automatic partner scoring by coverage, cost, SLA, capacity and performance.</a:t>
            </a:r>
          </a:p>
        </p:txBody>
      </p:sp>
      <p:sp>
        <p:nvSpPr>
          <p:cNvPr id="33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087DBDB2-9323-4BEB-955E-E1DFA0F2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73634912-44A8-4F03-AB71-34909065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40402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dom-orch-section">
            <a:extLst xmlns:a="http://schemas.openxmlformats.org/drawingml/2006/main">
              <a:ext uri="{FF2B5EF4-FFF2-40B4-BE49-F238E27FC236}">
                <a16:creationId xmlns:a16="http://schemas.microsoft.com/office/drawing/2014/main" id="{DDA5C06A-3120-4C27-BEF8-CA9C7F6E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DOMESTIC ORCHESTRATION</a:t>
            </a:r>
          </a:p>
        </p:txBody>
      </p:sp>
      <p:sp>
        <p:nvSpPr>
          <p:cNvPr id="2" name="dom-orch-title">
            <a:extLst xmlns:a="http://schemas.openxmlformats.org/drawingml/2006/main">
              <a:ext uri="{FF2B5EF4-FFF2-40B4-BE49-F238E27FC236}">
                <a16:creationId xmlns:a16="http://schemas.microsoft.com/office/drawing/2014/main" id="{F4D05D3A-4B66-49EE-952C-5660B13B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Domestic partner selection should become data-driven</a:t>
            </a:r>
          </a:p>
        </p:txBody>
      </p:sp>
      <p:cxnSp>
        <p:nvCxnSpPr>
          <p:cNvPr id="37" name="dom-orch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8" name="dom-orch-edge-0"/>
          <p:cNvCxnSpPr/>
          <p:nvPr/>
        </p:nvCxnSpPr>
        <p:spPr>
          <a:xfrm xmlns:a="http://schemas.openxmlformats.org/drawingml/2006/main">
            <a:off x="2222500" y="26765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dom-orch-edge-1"/>
          <p:cNvCxnSpPr/>
          <p:nvPr/>
        </p:nvCxnSpPr>
        <p:spPr>
          <a:xfrm xmlns:a="http://schemas.openxmlformats.org/drawingml/2006/main">
            <a:off x="4121150" y="26765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0" name="dom-orch-edge-2"/>
          <p:cNvCxnSpPr/>
          <p:nvPr/>
        </p:nvCxnSpPr>
        <p:spPr>
          <a:xfrm xmlns:a="http://schemas.openxmlformats.org/drawingml/2006/main">
            <a:off x="6019800" y="26765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1" name="dom-orch-edge-3"/>
          <p:cNvCxnSpPr/>
          <p:nvPr/>
        </p:nvCxnSpPr>
        <p:spPr>
          <a:xfrm xmlns:a="http://schemas.openxmlformats.org/drawingml/2006/main">
            <a:off x="7918450" y="26765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2" name="dom-orch-edge-4"/>
          <p:cNvCxnSpPr/>
          <p:nvPr/>
        </p:nvCxnSpPr>
        <p:spPr>
          <a:xfrm xmlns:a="http://schemas.openxmlformats.org/drawingml/2006/main">
            <a:off x="9817100" y="26765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dom-orch-node-0">
            <a:extLst xmlns:a="http://schemas.openxmlformats.org/drawingml/2006/main">
              <a:ext uri="{FF2B5EF4-FFF2-40B4-BE49-F238E27FC236}">
                <a16:creationId xmlns:a16="http://schemas.microsoft.com/office/drawing/2014/main" id="{940DAFB3-7E3B-4C11-BA09-A2B751A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dom-orch-step-0">
            <a:extLst xmlns:a="http://schemas.openxmlformats.org/drawingml/2006/main">
              <a:ext uri="{FF2B5EF4-FFF2-40B4-BE49-F238E27FC236}">
                <a16:creationId xmlns:a16="http://schemas.microsoft.com/office/drawing/2014/main" id="{6CD7E3C6-8834-4CB8-8013-A1CBF1BC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dom-orch-copy-0">
            <a:extLst xmlns:a="http://schemas.openxmlformats.org/drawingml/2006/main">
              <a:ext uri="{FF2B5EF4-FFF2-40B4-BE49-F238E27FC236}">
                <a16:creationId xmlns:a16="http://schemas.microsoft.com/office/drawing/2014/main" id="{71C4BB28-9BF4-4B7A-A24F-56D681D4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Serviceable area</a:t>
            </a:r>
          </a:p>
        </p:txBody>
      </p:sp>
      <p:sp>
        <p:nvSpPr>
          <p:cNvPr id="12" name="dom-orch-node-1">
            <a:extLst xmlns:a="http://schemas.openxmlformats.org/drawingml/2006/main">
              <a:ext uri="{FF2B5EF4-FFF2-40B4-BE49-F238E27FC236}">
                <a16:creationId xmlns:a16="http://schemas.microsoft.com/office/drawing/2014/main" id="{C624C198-2E91-4DFF-AE2B-BADD8360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09550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dom-orch-step-1">
            <a:extLst xmlns:a="http://schemas.openxmlformats.org/drawingml/2006/main">
              <a:ext uri="{FF2B5EF4-FFF2-40B4-BE49-F238E27FC236}">
                <a16:creationId xmlns:a16="http://schemas.microsoft.com/office/drawing/2014/main" id="{758F84BA-AC32-4C5E-AF75-A856F8C3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209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dom-orch-copy-1">
            <a:extLst xmlns:a="http://schemas.openxmlformats.org/drawingml/2006/main">
              <a:ext uri="{FF2B5EF4-FFF2-40B4-BE49-F238E27FC236}">
                <a16:creationId xmlns:a16="http://schemas.microsoft.com/office/drawing/2014/main" id="{9D6784F7-26FA-4E18-B065-13320573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47650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Zone and SLA</a:t>
            </a:r>
          </a:p>
        </p:txBody>
      </p:sp>
      <p:sp>
        <p:nvSpPr>
          <p:cNvPr id="15" name="dom-orch-node-2">
            <a:extLst xmlns:a="http://schemas.openxmlformats.org/drawingml/2006/main">
              <a:ext uri="{FF2B5EF4-FFF2-40B4-BE49-F238E27FC236}">
                <a16:creationId xmlns:a16="http://schemas.microsoft.com/office/drawing/2014/main" id="{149CB683-BA1B-4D91-9824-1EAFDF45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09550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dom-orch-step-2">
            <a:extLst xmlns:a="http://schemas.openxmlformats.org/drawingml/2006/main">
              <a:ext uri="{FF2B5EF4-FFF2-40B4-BE49-F238E27FC236}">
                <a16:creationId xmlns:a16="http://schemas.microsoft.com/office/drawing/2014/main" id="{C2E45CE4-D3CB-4C60-BBDA-F1DEC3C3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209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dom-orch-copy-2">
            <a:extLst xmlns:a="http://schemas.openxmlformats.org/drawingml/2006/main">
              <a:ext uri="{FF2B5EF4-FFF2-40B4-BE49-F238E27FC236}">
                <a16:creationId xmlns:a16="http://schemas.microsoft.com/office/drawing/2014/main" id="{F7E63A53-DAFA-4FA0-BACB-76EDDA3D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7650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Partner price</a:t>
            </a:r>
          </a:p>
        </p:txBody>
      </p:sp>
      <p:sp>
        <p:nvSpPr>
          <p:cNvPr id="18" name="dom-orch-node-3">
            <a:extLst xmlns:a="http://schemas.openxmlformats.org/drawingml/2006/main">
              <a:ext uri="{FF2B5EF4-FFF2-40B4-BE49-F238E27FC236}">
                <a16:creationId xmlns:a16="http://schemas.microsoft.com/office/drawing/2014/main" id="{487BFEEA-3235-4182-B9CD-86258552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dom-orch-step-3">
            <a:extLst xmlns:a="http://schemas.openxmlformats.org/drawingml/2006/main">
              <a:ext uri="{FF2B5EF4-FFF2-40B4-BE49-F238E27FC236}">
                <a16:creationId xmlns:a16="http://schemas.microsoft.com/office/drawing/2014/main" id="{40C3ADD1-7E62-40D5-A96E-DF8A3AC8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dom-orch-copy-3">
            <a:extLst xmlns:a="http://schemas.openxmlformats.org/drawingml/2006/main">
              <a:ext uri="{FF2B5EF4-FFF2-40B4-BE49-F238E27FC236}">
                <a16:creationId xmlns:a16="http://schemas.microsoft.com/office/drawing/2014/main" id="{99FB9351-C23F-48B6-8FB3-5CB61793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Capacity</a:t>
            </a:r>
          </a:p>
        </p:txBody>
      </p:sp>
      <p:sp>
        <p:nvSpPr>
          <p:cNvPr id="21" name="dom-orch-node-4">
            <a:extLst xmlns:a="http://schemas.openxmlformats.org/drawingml/2006/main">
              <a:ext uri="{FF2B5EF4-FFF2-40B4-BE49-F238E27FC236}">
                <a16:creationId xmlns:a16="http://schemas.microsoft.com/office/drawing/2014/main" id="{FF8E0316-2001-46EB-A356-117E2DB6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09550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dom-orch-step-4">
            <a:extLst xmlns:a="http://schemas.openxmlformats.org/drawingml/2006/main">
              <a:ext uri="{FF2B5EF4-FFF2-40B4-BE49-F238E27FC236}">
                <a16:creationId xmlns:a16="http://schemas.microsoft.com/office/drawing/2014/main" id="{71D16B3F-B328-47DB-A3D0-ADD864F2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209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dom-orch-copy-4">
            <a:extLst xmlns:a="http://schemas.openxmlformats.org/drawingml/2006/main">
              <a:ext uri="{FF2B5EF4-FFF2-40B4-BE49-F238E27FC236}">
                <a16:creationId xmlns:a16="http://schemas.microsoft.com/office/drawing/2014/main" id="{FACE4863-7C48-4DEA-AF0B-B5C7F760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7650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Performance</a:t>
            </a:r>
          </a:p>
        </p:txBody>
      </p:sp>
      <p:sp>
        <p:nvSpPr>
          <p:cNvPr id="24" name="dom-orch-node-5">
            <a:extLst xmlns:a="http://schemas.openxmlformats.org/drawingml/2006/main">
              <a:ext uri="{FF2B5EF4-FFF2-40B4-BE49-F238E27FC236}">
                <a16:creationId xmlns:a16="http://schemas.microsoft.com/office/drawing/2014/main" id="{D4B4E161-04D0-4184-AA8C-00FCEA57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09550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dom-orch-step-5">
            <a:extLst xmlns:a="http://schemas.openxmlformats.org/drawingml/2006/main">
              <a:ext uri="{FF2B5EF4-FFF2-40B4-BE49-F238E27FC236}">
                <a16:creationId xmlns:a16="http://schemas.microsoft.com/office/drawing/2014/main" id="{429FEB48-6495-4BB2-882B-A4807315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209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dom-orch-copy-5">
            <a:extLst xmlns:a="http://schemas.openxmlformats.org/drawingml/2006/main">
              <a:ext uri="{FF2B5EF4-FFF2-40B4-BE49-F238E27FC236}">
                <a16:creationId xmlns:a16="http://schemas.microsoft.com/office/drawing/2014/main" id="{06ABAAF3-079C-4C41-91A5-A0D7BE2C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47650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Best eligible partner</a:t>
            </a:r>
          </a:p>
        </p:txBody>
      </p:sp>
      <p:sp>
        <p:nvSpPr>
          <p:cNvPr id="27" name="dom-orch-stripe-head-0">
            <a:extLst xmlns:a="http://schemas.openxmlformats.org/drawingml/2006/main">
              <a:ext uri="{FF2B5EF4-FFF2-40B4-BE49-F238E27FC236}">
                <a16:creationId xmlns:a16="http://schemas.microsoft.com/office/drawing/2014/main" id="{35D2E494-E8B7-478B-AB9F-BB5F4AAC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CURRENT</a:t>
            </a:r>
          </a:p>
        </p:txBody>
      </p:sp>
      <p:sp>
        <p:nvSpPr>
          <p:cNvPr id="28" name="dom-orch-stripe-copy-0">
            <a:extLst xmlns:a="http://schemas.openxmlformats.org/drawingml/2006/main">
              <a:ext uri="{FF2B5EF4-FFF2-40B4-BE49-F238E27FC236}">
                <a16:creationId xmlns:a16="http://schemas.microsoft.com/office/drawing/2014/main" id="{3866110E-31CD-45A8-A597-E168D328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Zones, partner records, rates, pickup requests, manifests and status workflows are available for configured operations.</a:t>
            </a:r>
          </a:p>
        </p:txBody>
      </p:sp>
      <p:sp>
        <p:nvSpPr>
          <p:cNvPr id="29" name="dom-orch-stripe-head-1">
            <a:extLst xmlns:a="http://schemas.openxmlformats.org/drawingml/2006/main">
              <a:ext uri="{FF2B5EF4-FFF2-40B4-BE49-F238E27FC236}">
                <a16:creationId xmlns:a16="http://schemas.microsoft.com/office/drawing/2014/main" id="{FF68968A-696F-441C-BDFD-A20AAD65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DECISION DATA</a:t>
            </a:r>
          </a:p>
        </p:txBody>
      </p:sp>
      <p:sp>
        <p:nvSpPr>
          <p:cNvPr id="30" name="dom-orch-stripe-copy-1">
            <a:extLst xmlns:a="http://schemas.openxmlformats.org/drawingml/2006/main">
              <a:ext uri="{FF2B5EF4-FFF2-40B4-BE49-F238E27FC236}">
                <a16:creationId xmlns:a16="http://schemas.microsoft.com/office/drawing/2014/main" id="{92968398-3B2A-4EDF-AD34-D17CFA1C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Province, district, municipality, ward, remote access, COD availability, cutoff, workload and service type.</a:t>
            </a:r>
          </a:p>
        </p:txBody>
      </p:sp>
      <p:sp>
        <p:nvSpPr>
          <p:cNvPr id="31" name="dom-orch-stripe-head-2">
            <a:extLst xmlns:a="http://schemas.openxmlformats.org/drawingml/2006/main">
              <a:ext uri="{FF2B5EF4-FFF2-40B4-BE49-F238E27FC236}">
                <a16:creationId xmlns:a16="http://schemas.microsoft.com/office/drawing/2014/main" id="{C90967BF-36E3-4B14-9DAF-85A4502B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FUTURE</a:t>
            </a:r>
          </a:p>
        </p:txBody>
      </p:sp>
      <p:sp>
        <p:nvSpPr>
          <p:cNvPr id="32" name="dom-orch-stripe-copy-2">
            <a:extLst xmlns:a="http://schemas.openxmlformats.org/drawingml/2006/main">
              <a:ext uri="{FF2B5EF4-FFF2-40B4-BE49-F238E27FC236}">
                <a16:creationId xmlns:a16="http://schemas.microsoft.com/office/drawing/2014/main" id="{756AB0CC-9C0D-4262-9920-F42B8863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Score eligible partners by price, delivery speed, SLA reliability, coverage, capacity and customer outcome.</a:t>
            </a:r>
          </a:p>
        </p:txBody>
      </p:sp>
      <p:sp>
        <p:nvSpPr>
          <p:cNvPr id="33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52946367-6F50-45E4-B037-33F2B5BE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64B2CE34-3706-4A56-9281-87BB8C7B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501287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mote-section">
            <a:extLst xmlns:a="http://schemas.openxmlformats.org/drawingml/2006/main">
              <a:ext uri="{FF2B5EF4-FFF2-40B4-BE49-F238E27FC236}">
                <a16:creationId xmlns:a16="http://schemas.microsoft.com/office/drawing/2014/main" id="{AA9D903D-A4DD-41D2-9F76-DAEE51E6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REMOTE AREA SURCHARGE</a:t>
            </a:r>
          </a:p>
        </p:txBody>
      </p:sp>
      <p:sp>
        <p:nvSpPr>
          <p:cNvPr id="2" name="remote-title">
            <a:extLst xmlns:a="http://schemas.openxmlformats.org/drawingml/2006/main">
              <a:ext uri="{FF2B5EF4-FFF2-40B4-BE49-F238E27FC236}">
                <a16:creationId xmlns:a16="http://schemas.microsoft.com/office/drawing/2014/main" id="{49D9058B-6311-4FD0-8149-B176EC9A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Remote-area decisions need a traceable source and fallback</a:t>
            </a:r>
          </a:p>
        </p:txBody>
      </p:sp>
      <p:cxnSp>
        <p:nvCxnSpPr>
          <p:cNvPr id="37" name="remote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8" name="remote-edge-0"/>
          <p:cNvCxnSpPr/>
          <p:nvPr/>
        </p:nvCxnSpPr>
        <p:spPr>
          <a:xfrm xmlns:a="http://schemas.openxmlformats.org/drawingml/2006/main">
            <a:off x="2222500" y="26765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remote-edge-1"/>
          <p:cNvCxnSpPr/>
          <p:nvPr/>
        </p:nvCxnSpPr>
        <p:spPr>
          <a:xfrm xmlns:a="http://schemas.openxmlformats.org/drawingml/2006/main">
            <a:off x="4121150" y="26765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0" name="remote-edge-2"/>
          <p:cNvCxnSpPr/>
          <p:nvPr/>
        </p:nvCxnSpPr>
        <p:spPr>
          <a:xfrm xmlns:a="http://schemas.openxmlformats.org/drawingml/2006/main">
            <a:off x="6019800" y="26765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1" name="remote-edge-3"/>
          <p:cNvCxnSpPr/>
          <p:nvPr/>
        </p:nvCxnSpPr>
        <p:spPr>
          <a:xfrm xmlns:a="http://schemas.openxmlformats.org/drawingml/2006/main">
            <a:off x="7918450" y="26765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2" name="remote-edge-4"/>
          <p:cNvCxnSpPr/>
          <p:nvPr/>
        </p:nvCxnSpPr>
        <p:spPr>
          <a:xfrm xmlns:a="http://schemas.openxmlformats.org/drawingml/2006/main">
            <a:off x="9817100" y="26765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remote-node-0">
            <a:extLst xmlns:a="http://schemas.openxmlformats.org/drawingml/2006/main">
              <a:ext uri="{FF2B5EF4-FFF2-40B4-BE49-F238E27FC236}">
                <a16:creationId xmlns:a16="http://schemas.microsoft.com/office/drawing/2014/main" id="{F98D5B70-C317-4012-B7B8-02F0949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remote-step-0">
            <a:extLst xmlns:a="http://schemas.openxmlformats.org/drawingml/2006/main">
              <a:ext uri="{FF2B5EF4-FFF2-40B4-BE49-F238E27FC236}">
                <a16:creationId xmlns:a16="http://schemas.microsoft.com/office/drawing/2014/main" id="{F6AB4222-FAC5-4FF8-97C3-49BAC0BB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remote-copy-0">
            <a:extLst xmlns:a="http://schemas.openxmlformats.org/drawingml/2006/main">
              <a:ext uri="{FF2B5EF4-FFF2-40B4-BE49-F238E27FC236}">
                <a16:creationId xmlns:a16="http://schemas.microsoft.com/office/drawing/2014/main" id="{D7A30E32-934E-4F47-B0ED-560D84A1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Destination</a:t>
            </a:r>
          </a:p>
        </p:txBody>
      </p:sp>
      <p:sp>
        <p:nvSpPr>
          <p:cNvPr id="12" name="remote-node-1">
            <a:extLst xmlns:a="http://schemas.openxmlformats.org/drawingml/2006/main">
              <a:ext uri="{FF2B5EF4-FFF2-40B4-BE49-F238E27FC236}">
                <a16:creationId xmlns:a16="http://schemas.microsoft.com/office/drawing/2014/main" id="{4ECBA283-A46C-446C-BC90-A8D0E439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09550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remote-step-1">
            <a:extLst xmlns:a="http://schemas.openxmlformats.org/drawingml/2006/main">
              <a:ext uri="{FF2B5EF4-FFF2-40B4-BE49-F238E27FC236}">
                <a16:creationId xmlns:a16="http://schemas.microsoft.com/office/drawing/2014/main" id="{8EA4103D-F24C-4A79-B399-F3B8A256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209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remote-copy-1">
            <a:extLst xmlns:a="http://schemas.openxmlformats.org/drawingml/2006/main">
              <a:ext uri="{FF2B5EF4-FFF2-40B4-BE49-F238E27FC236}">
                <a16:creationId xmlns:a16="http://schemas.microsoft.com/office/drawing/2014/main" id="{D75DDFA8-319F-46AE-A5DD-ED5A1DA7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47650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Carrier adapter</a:t>
            </a:r>
          </a:p>
        </p:txBody>
      </p:sp>
      <p:sp>
        <p:nvSpPr>
          <p:cNvPr id="15" name="remote-node-2">
            <a:extLst xmlns:a="http://schemas.openxmlformats.org/drawingml/2006/main">
              <a:ext uri="{FF2B5EF4-FFF2-40B4-BE49-F238E27FC236}">
                <a16:creationId xmlns:a16="http://schemas.microsoft.com/office/drawing/2014/main" id="{3447C5DA-1AEF-47B0-8629-AAEDD465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09550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remote-step-2">
            <a:extLst xmlns:a="http://schemas.openxmlformats.org/drawingml/2006/main">
              <a:ext uri="{FF2B5EF4-FFF2-40B4-BE49-F238E27FC236}">
                <a16:creationId xmlns:a16="http://schemas.microsoft.com/office/drawing/2014/main" id="{EE7F59C3-8F7B-48EF-89FF-49E7FA48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209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remote-copy-2">
            <a:extLst xmlns:a="http://schemas.openxmlformats.org/drawingml/2006/main">
              <a:ext uri="{FF2B5EF4-FFF2-40B4-BE49-F238E27FC236}">
                <a16:creationId xmlns:a16="http://schemas.microsoft.com/office/drawing/2014/main" id="{F7139360-6030-4882-9C3D-67EEEF08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7650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Official data/API</a:t>
            </a:r>
          </a:p>
        </p:txBody>
      </p:sp>
      <p:sp>
        <p:nvSpPr>
          <p:cNvPr id="18" name="remote-node-3">
            <a:extLst xmlns:a="http://schemas.openxmlformats.org/drawingml/2006/main">
              <a:ext uri="{FF2B5EF4-FFF2-40B4-BE49-F238E27FC236}">
                <a16:creationId xmlns:a16="http://schemas.microsoft.com/office/drawing/2014/main" id="{59B4D935-B579-49A9-BBDB-CCB8F1D4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remote-step-3">
            <a:extLst xmlns:a="http://schemas.openxmlformats.org/drawingml/2006/main">
              <a:ext uri="{FF2B5EF4-FFF2-40B4-BE49-F238E27FC236}">
                <a16:creationId xmlns:a16="http://schemas.microsoft.com/office/drawing/2014/main" id="{B4A6F4FD-E553-4811-834A-9F42E9C4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remote-copy-3">
            <a:extLst xmlns:a="http://schemas.openxmlformats.org/drawingml/2006/main">
              <a:ext uri="{FF2B5EF4-FFF2-40B4-BE49-F238E27FC236}">
                <a16:creationId xmlns:a16="http://schemas.microsoft.com/office/drawing/2014/main" id="{9D153003-CFDC-4129-AE12-CB950467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Match result</a:t>
            </a:r>
          </a:p>
        </p:txBody>
      </p:sp>
      <p:sp>
        <p:nvSpPr>
          <p:cNvPr id="21" name="remote-node-4">
            <a:extLst xmlns:a="http://schemas.openxmlformats.org/drawingml/2006/main">
              <a:ext uri="{FF2B5EF4-FFF2-40B4-BE49-F238E27FC236}">
                <a16:creationId xmlns:a16="http://schemas.microsoft.com/office/drawing/2014/main" id="{EE95C314-AD61-4B29-8252-3F05B258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09550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remote-step-4">
            <a:extLst xmlns:a="http://schemas.openxmlformats.org/drawingml/2006/main">
              <a:ext uri="{FF2B5EF4-FFF2-40B4-BE49-F238E27FC236}">
                <a16:creationId xmlns:a16="http://schemas.microsoft.com/office/drawing/2014/main" id="{971FC673-809D-4BAE-B598-F078F022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209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remote-copy-4">
            <a:extLst xmlns:a="http://schemas.openxmlformats.org/drawingml/2006/main">
              <a:ext uri="{FF2B5EF4-FFF2-40B4-BE49-F238E27FC236}">
                <a16:creationId xmlns:a16="http://schemas.microsoft.com/office/drawing/2014/main" id="{EF1A81AF-7B5D-441D-855C-F547C685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7650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Surcharge</a:t>
            </a:r>
          </a:p>
        </p:txBody>
      </p:sp>
      <p:sp>
        <p:nvSpPr>
          <p:cNvPr id="24" name="remote-node-5">
            <a:extLst xmlns:a="http://schemas.openxmlformats.org/drawingml/2006/main">
              <a:ext uri="{FF2B5EF4-FFF2-40B4-BE49-F238E27FC236}">
                <a16:creationId xmlns:a16="http://schemas.microsoft.com/office/drawing/2014/main" id="{E14BB6D4-F7FF-472E-AD6B-E8488F2A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09550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remote-step-5">
            <a:extLst xmlns:a="http://schemas.openxmlformats.org/drawingml/2006/main">
              <a:ext uri="{FF2B5EF4-FFF2-40B4-BE49-F238E27FC236}">
                <a16:creationId xmlns:a16="http://schemas.microsoft.com/office/drawing/2014/main" id="{0ED89A04-15C6-404B-A64E-A49A1C7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209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remote-copy-5">
            <a:extLst xmlns:a="http://schemas.openxmlformats.org/drawingml/2006/main">
              <a:ext uri="{FF2B5EF4-FFF2-40B4-BE49-F238E27FC236}">
                <a16:creationId xmlns:a16="http://schemas.microsoft.com/office/drawing/2014/main" id="{45908E6E-E27D-4C51-9C2E-B870F530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47650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Source and update date</a:t>
            </a:r>
          </a:p>
        </p:txBody>
      </p:sp>
      <p:sp>
        <p:nvSpPr>
          <p:cNvPr id="27" name="remote-detail-left">
            <a:extLst xmlns:a="http://schemas.openxmlformats.org/drawingml/2006/main">
              <a:ext uri="{FF2B5EF4-FFF2-40B4-BE49-F238E27FC236}">
                <a16:creationId xmlns:a16="http://schemas.microsoft.com/office/drawing/2014/main" id="{CC249277-9941-4597-AFAD-8282F58A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0"/>
            <a:ext cx="538162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28" name="remote-detail-right">
            <a:extLst xmlns:a="http://schemas.openxmlformats.org/drawingml/2006/main">
              <a:ext uri="{FF2B5EF4-FFF2-40B4-BE49-F238E27FC236}">
                <a16:creationId xmlns:a16="http://schemas.microsoft.com/office/drawing/2014/main" id="{3F93C9D7-C714-4AEB-8F0C-3D578BDF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538162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9" name="remote-detail-lh">
            <a:extLst xmlns:a="http://schemas.openxmlformats.org/drawingml/2006/main">
              <a:ext uri="{FF2B5EF4-FFF2-40B4-BE49-F238E27FC236}">
                <a16:creationId xmlns:a16="http://schemas.microsoft.com/office/drawing/2014/main" id="{6AC19611-DC01-44E8-BD88-EAF2CD72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WHEN LIVE DATA EXISTS</a:t>
            </a:r>
          </a:p>
        </p:txBody>
      </p:sp>
      <p:sp>
        <p:nvSpPr>
          <p:cNvPr id="30" name="remote-detail-lb">
            <a:extLst xmlns:a="http://schemas.openxmlformats.org/drawingml/2006/main">
              <a:ext uri="{FF2B5EF4-FFF2-40B4-BE49-F238E27FC236}">
                <a16:creationId xmlns:a16="http://schemas.microsoft.com/office/drawing/2014/main" id="{ABB2E906-FEAB-44AD-B6E5-4A3261FA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857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Use approved carrier APIs or data files. Record carrier, service conditions, source reference and last update date. Cache only within an approved refresh period.</a:t>
            </a:r>
          </a:p>
        </p:txBody>
      </p:sp>
      <p:sp>
        <p:nvSpPr>
          <p:cNvPr id="31" name="remote-detail-rh">
            <a:extLst xmlns:a="http://schemas.openxmlformats.org/drawingml/2006/main">
              <a:ext uri="{FF2B5EF4-FFF2-40B4-BE49-F238E27FC236}">
                <a16:creationId xmlns:a16="http://schemas.microsoft.com/office/drawing/2014/main" id="{7C7B4E70-6DB3-48A3-B93E-ED6C5950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671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WHEN LIVE DATA IS UNAVAILABLE</a:t>
            </a:r>
          </a:p>
        </p:txBody>
      </p:sp>
      <p:sp>
        <p:nvSpPr>
          <p:cNvPr id="32" name="remote-detail-rb">
            <a:extLst xmlns:a="http://schemas.openxmlformats.org/drawingml/2006/main">
              <a:ext uri="{FF2B5EF4-FFF2-40B4-BE49-F238E27FC236}">
                <a16:creationId xmlns:a16="http://schemas.microsoft.com/office/drawing/2014/main" id="{A73F721C-5347-48F1-B574-17BDA546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76750"/>
            <a:ext cx="4857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Use the manual configurable surcharge table. Show that the decision is manual, identify the selected carrier/source and keep the record reviewable.</a:t>
            </a:r>
          </a:p>
        </p:txBody>
      </p:sp>
      <p:sp>
        <p:nvSpPr>
          <p:cNvPr id="33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CFD2912B-D1E9-49EC-9C88-3E7A47A8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4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81F6A9D7-6A44-4AE7-AB34-4AE36A01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0009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co-section">
            <a:extLst xmlns:a="http://schemas.openxmlformats.org/drawingml/2006/main">
              <a:ext uri="{FF2B5EF4-FFF2-40B4-BE49-F238E27FC236}">
                <a16:creationId xmlns:a16="http://schemas.microsoft.com/office/drawing/2014/main" id="{515A2084-91C4-478F-B0F8-1FF8D311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E-COMMERCE AND ON-DEMAND</a:t>
            </a:r>
          </a:p>
        </p:txBody>
      </p:sp>
      <p:sp>
        <p:nvSpPr>
          <p:cNvPr id="2" name="eco-title">
            <a:extLst xmlns:a="http://schemas.openxmlformats.org/drawingml/2006/main">
              <a:ext uri="{FF2B5EF4-FFF2-40B4-BE49-F238E27FC236}">
                <a16:creationId xmlns:a16="http://schemas.microsoft.com/office/drawing/2014/main" id="{2BC1C9A4-A92D-426D-B1E4-93B2CD91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8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On-demand delivery joins merchant orders to rider execution</a:t>
            </a:r>
          </a:p>
        </p:txBody>
      </p:sp>
      <p:cxnSp>
        <p:nvCxnSpPr>
          <p:cNvPr id="37" name="eco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8" name="eco-edge-0"/>
          <p:cNvCxnSpPr/>
          <p:nvPr/>
        </p:nvCxnSpPr>
        <p:spPr>
          <a:xfrm xmlns:a="http://schemas.openxmlformats.org/drawingml/2006/main">
            <a:off x="222250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eco-edge-1"/>
          <p:cNvCxnSpPr/>
          <p:nvPr/>
        </p:nvCxnSpPr>
        <p:spPr>
          <a:xfrm xmlns:a="http://schemas.openxmlformats.org/drawingml/2006/main">
            <a:off x="412115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0" name="eco-edge-2"/>
          <p:cNvCxnSpPr/>
          <p:nvPr/>
        </p:nvCxnSpPr>
        <p:spPr>
          <a:xfrm xmlns:a="http://schemas.openxmlformats.org/drawingml/2006/main">
            <a:off x="601980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1" name="eco-edge-3"/>
          <p:cNvCxnSpPr/>
          <p:nvPr/>
        </p:nvCxnSpPr>
        <p:spPr>
          <a:xfrm xmlns:a="http://schemas.openxmlformats.org/drawingml/2006/main">
            <a:off x="791845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2" name="eco-edge-4"/>
          <p:cNvCxnSpPr/>
          <p:nvPr/>
        </p:nvCxnSpPr>
        <p:spPr>
          <a:xfrm xmlns:a="http://schemas.openxmlformats.org/drawingml/2006/main">
            <a:off x="9817100" y="27336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eco-node-0">
            <a:extLst xmlns:a="http://schemas.openxmlformats.org/drawingml/2006/main">
              <a:ext uri="{FF2B5EF4-FFF2-40B4-BE49-F238E27FC236}">
                <a16:creationId xmlns:a16="http://schemas.microsoft.com/office/drawing/2014/main" id="{D50830EC-1CE8-4DCB-8EAD-10354023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eco-step-0">
            <a:extLst xmlns:a="http://schemas.openxmlformats.org/drawingml/2006/main">
              <a:ext uri="{FF2B5EF4-FFF2-40B4-BE49-F238E27FC236}">
                <a16:creationId xmlns:a16="http://schemas.microsoft.com/office/drawing/2014/main" id="{80330E04-C243-4263-8295-29F2DE4C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eco-copy-0">
            <a:extLst xmlns:a="http://schemas.openxmlformats.org/drawingml/2006/main">
              <a:ext uri="{FF2B5EF4-FFF2-40B4-BE49-F238E27FC236}">
                <a16:creationId xmlns:a16="http://schemas.microsoft.com/office/drawing/2014/main" id="{8C18B339-8DDA-48AA-BAA3-081D6D72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Seller order</a:t>
            </a:r>
          </a:p>
        </p:txBody>
      </p:sp>
      <p:sp>
        <p:nvSpPr>
          <p:cNvPr id="12" name="eco-node-1">
            <a:extLst xmlns:a="http://schemas.openxmlformats.org/drawingml/2006/main">
              <a:ext uri="{FF2B5EF4-FFF2-40B4-BE49-F238E27FC236}">
                <a16:creationId xmlns:a16="http://schemas.microsoft.com/office/drawing/2014/main" id="{054E4881-1043-48C6-B07F-A0AABC44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eco-step-1">
            <a:extLst xmlns:a="http://schemas.openxmlformats.org/drawingml/2006/main">
              <a:ext uri="{FF2B5EF4-FFF2-40B4-BE49-F238E27FC236}">
                <a16:creationId xmlns:a16="http://schemas.microsoft.com/office/drawing/2014/main" id="{0625614C-E5B8-439E-852A-22FCA1C6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eco-copy-1">
            <a:extLst xmlns:a="http://schemas.openxmlformats.org/drawingml/2006/main">
              <a:ext uri="{FF2B5EF4-FFF2-40B4-BE49-F238E27FC236}">
                <a16:creationId xmlns:a16="http://schemas.microsoft.com/office/drawing/2014/main" id="{B294CDBA-EEA7-4A07-BEE7-99206D7C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Price + COD</a:t>
            </a:r>
          </a:p>
        </p:txBody>
      </p:sp>
      <p:sp>
        <p:nvSpPr>
          <p:cNvPr id="15" name="eco-node-2">
            <a:extLst xmlns:a="http://schemas.openxmlformats.org/drawingml/2006/main">
              <a:ext uri="{FF2B5EF4-FFF2-40B4-BE49-F238E27FC236}">
                <a16:creationId xmlns:a16="http://schemas.microsoft.com/office/drawing/2014/main" id="{F9CCEC46-9B13-44F7-9A44-E8B8EB78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eco-step-2">
            <a:extLst xmlns:a="http://schemas.openxmlformats.org/drawingml/2006/main">
              <a:ext uri="{FF2B5EF4-FFF2-40B4-BE49-F238E27FC236}">
                <a16:creationId xmlns:a16="http://schemas.microsoft.com/office/drawing/2014/main" id="{D4E06CA4-3DCC-4EBD-B8A0-9D616F0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eco-copy-2">
            <a:extLst xmlns:a="http://schemas.openxmlformats.org/drawingml/2006/main">
              <a:ext uri="{FF2B5EF4-FFF2-40B4-BE49-F238E27FC236}">
                <a16:creationId xmlns:a16="http://schemas.microsoft.com/office/drawing/2014/main" id="{EF21D331-AB32-46E6-980E-E7D7AE28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Eligible riders</a:t>
            </a:r>
          </a:p>
        </p:txBody>
      </p:sp>
      <p:sp>
        <p:nvSpPr>
          <p:cNvPr id="18" name="eco-node-3">
            <a:extLst xmlns:a="http://schemas.openxmlformats.org/drawingml/2006/main">
              <a:ext uri="{FF2B5EF4-FFF2-40B4-BE49-F238E27FC236}">
                <a16:creationId xmlns:a16="http://schemas.microsoft.com/office/drawing/2014/main" id="{CE696973-D788-43EC-9563-A386CD3B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eco-step-3">
            <a:extLst xmlns:a="http://schemas.openxmlformats.org/drawingml/2006/main">
              <a:ext uri="{FF2B5EF4-FFF2-40B4-BE49-F238E27FC236}">
                <a16:creationId xmlns:a16="http://schemas.microsoft.com/office/drawing/2014/main" id="{4111E742-3688-4E25-B4BD-D03C4B00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eco-copy-3">
            <a:extLst xmlns:a="http://schemas.openxmlformats.org/drawingml/2006/main">
              <a:ext uri="{FF2B5EF4-FFF2-40B4-BE49-F238E27FC236}">
                <a16:creationId xmlns:a16="http://schemas.microsoft.com/office/drawing/2014/main" id="{B31B28A7-85F6-40CD-8355-1F1E3390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Accept + pickup</a:t>
            </a:r>
          </a:p>
        </p:txBody>
      </p:sp>
      <p:sp>
        <p:nvSpPr>
          <p:cNvPr id="21" name="eco-node-4">
            <a:extLst xmlns:a="http://schemas.openxmlformats.org/drawingml/2006/main">
              <a:ext uri="{FF2B5EF4-FFF2-40B4-BE49-F238E27FC236}">
                <a16:creationId xmlns:a16="http://schemas.microsoft.com/office/drawing/2014/main" id="{167954B4-5D52-4DD8-95FA-EB5A1F86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eco-step-4">
            <a:extLst xmlns:a="http://schemas.openxmlformats.org/drawingml/2006/main">
              <a:ext uri="{FF2B5EF4-FFF2-40B4-BE49-F238E27FC236}">
                <a16:creationId xmlns:a16="http://schemas.microsoft.com/office/drawing/2014/main" id="{0DFE10C2-CA90-44F2-9FF0-3DBC1FB3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eco-copy-4">
            <a:extLst xmlns:a="http://schemas.openxmlformats.org/drawingml/2006/main">
              <a:ext uri="{FF2B5EF4-FFF2-40B4-BE49-F238E27FC236}">
                <a16:creationId xmlns:a16="http://schemas.microsoft.com/office/drawing/2014/main" id="{385F23FE-DB61-45B1-866B-F0C307B5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Live GPS + ETA</a:t>
            </a:r>
          </a:p>
        </p:txBody>
      </p:sp>
      <p:sp>
        <p:nvSpPr>
          <p:cNvPr id="24" name="eco-node-5">
            <a:extLst xmlns:a="http://schemas.openxmlformats.org/drawingml/2006/main">
              <a:ext uri="{FF2B5EF4-FFF2-40B4-BE49-F238E27FC236}">
                <a16:creationId xmlns:a16="http://schemas.microsoft.com/office/drawing/2014/main" id="{C366D213-EEE1-40EB-9D8B-6E2AB88E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133600"/>
            <a:ext cx="174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eco-step-5">
            <a:extLst xmlns:a="http://schemas.openxmlformats.org/drawingml/2006/main">
              <a:ext uri="{FF2B5EF4-FFF2-40B4-BE49-F238E27FC236}">
                <a16:creationId xmlns:a16="http://schemas.microsoft.com/office/drawing/2014/main" id="{BB8D67EC-16AD-4620-8230-7A9C58AC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247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eco-copy-5">
            <a:extLst xmlns:a="http://schemas.openxmlformats.org/drawingml/2006/main">
              <a:ext uri="{FF2B5EF4-FFF2-40B4-BE49-F238E27FC236}">
                <a16:creationId xmlns:a16="http://schemas.microsoft.com/office/drawing/2014/main" id="{2CBEB9C8-F3E0-472E-83E0-0F504ABB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514600"/>
            <a:ext cx="1479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OTP / POD / wallet</a:t>
            </a:r>
          </a:p>
        </p:txBody>
      </p:sp>
      <p:sp>
        <p:nvSpPr>
          <p:cNvPr id="27" name="eco-stripe-head-0">
            <a:extLst xmlns:a="http://schemas.openxmlformats.org/drawingml/2006/main">
              <a:ext uri="{FF2B5EF4-FFF2-40B4-BE49-F238E27FC236}">
                <a16:creationId xmlns:a16="http://schemas.microsoft.com/office/drawing/2014/main" id="{5D03240A-90E9-42ED-97BC-9BE94F25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CURRENT</a:t>
            </a:r>
          </a:p>
        </p:txBody>
      </p:sp>
      <p:sp>
        <p:nvSpPr>
          <p:cNvPr id="28" name="eco-stripe-copy-0">
            <a:extLst xmlns:a="http://schemas.openxmlformats.org/drawingml/2006/main">
              <a:ext uri="{FF2B5EF4-FFF2-40B4-BE49-F238E27FC236}">
                <a16:creationId xmlns:a16="http://schemas.microsoft.com/office/drawing/2014/main" id="{74F2F3BF-0D3C-4E00-8840-088E6AC3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Seller products/orders, available jobs, rider status steps, live location, COD checks and wallets.</a:t>
            </a:r>
          </a:p>
        </p:txBody>
      </p:sp>
      <p:sp>
        <p:nvSpPr>
          <p:cNvPr id="29" name="eco-stripe-head-1">
            <a:extLst xmlns:a="http://schemas.openxmlformats.org/drawingml/2006/main">
              <a:ext uri="{FF2B5EF4-FFF2-40B4-BE49-F238E27FC236}">
                <a16:creationId xmlns:a16="http://schemas.microsoft.com/office/drawing/2014/main" id="{76D3116B-F853-4D49-89F2-1B11C9C6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CONTROL</a:t>
            </a:r>
          </a:p>
        </p:txBody>
      </p:sp>
      <p:sp>
        <p:nvSpPr>
          <p:cNvPr id="30" name="eco-stripe-copy-1">
            <a:extLst xmlns:a="http://schemas.openxmlformats.org/drawingml/2006/main">
              <a:ext uri="{FF2B5EF4-FFF2-40B4-BE49-F238E27FC236}">
                <a16:creationId xmlns:a16="http://schemas.microsoft.com/office/drawing/2014/main" id="{36332F59-0EBA-4D67-9183-FB71B76A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Only the assigned rider should update the job; COD must settle once with an audit trail.</a:t>
            </a:r>
          </a:p>
        </p:txBody>
      </p:sp>
      <p:sp>
        <p:nvSpPr>
          <p:cNvPr id="31" name="eco-stripe-head-2">
            <a:extLst xmlns:a="http://schemas.openxmlformats.org/drawingml/2006/main">
              <a:ext uri="{FF2B5EF4-FFF2-40B4-BE49-F238E27FC236}">
                <a16:creationId xmlns:a16="http://schemas.microsoft.com/office/drawing/2014/main" id="{E7E91280-E047-4873-98AA-F1E53089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NEXT</a:t>
            </a:r>
          </a:p>
        </p:txBody>
      </p:sp>
      <p:sp>
        <p:nvSpPr>
          <p:cNvPr id="32" name="eco-stripe-copy-2">
            <a:extLst xmlns:a="http://schemas.openxmlformats.org/drawingml/2006/main">
              <a:ext uri="{FF2B5EF4-FFF2-40B4-BE49-F238E27FC236}">
                <a16:creationId xmlns:a16="http://schemas.microsoft.com/office/drawing/2014/main" id="{0DB74568-6294-44C1-9B50-C38A2DA8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Road-time dispatch, offer timeout, auto-reassignment, multi-stop routes and offline sync.</a:t>
            </a:r>
          </a:p>
        </p:txBody>
      </p:sp>
      <p:sp>
        <p:nvSpPr>
          <p:cNvPr id="33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8A7EBE2F-9B9D-4234-9005-271DC39C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4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7F25B969-2B7A-470D-AA2D-5ADA7223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665885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co-dispatch-section">
            <a:extLst xmlns:a="http://schemas.openxmlformats.org/drawingml/2006/main">
              <a:ext uri="{FF2B5EF4-FFF2-40B4-BE49-F238E27FC236}">
                <a16:creationId xmlns:a16="http://schemas.microsoft.com/office/drawing/2014/main" id="{984A7C29-D72C-46D3-8FA6-8BDCA5A4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ON-DEMAND PRICING AND DISPATCH</a:t>
            </a:r>
          </a:p>
        </p:txBody>
      </p:sp>
      <p:sp>
        <p:nvSpPr>
          <p:cNvPr id="2" name="eco-dispatch-title">
            <a:extLst xmlns:a="http://schemas.openxmlformats.org/drawingml/2006/main">
              <a:ext uri="{FF2B5EF4-FFF2-40B4-BE49-F238E27FC236}">
                <a16:creationId xmlns:a16="http://schemas.microsoft.com/office/drawing/2014/main" id="{31D7D03B-4B7F-49E6-A8B4-56DD5F1B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71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On-demand pricing and dispatch must protect speed and unit economics</a:t>
            </a:r>
          </a:p>
        </p:txBody>
      </p:sp>
      <p:cxnSp>
        <p:nvCxnSpPr>
          <p:cNvPr id="15" name="eco-dispatch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eco-dispatch-left">
            <a:extLst xmlns:a="http://schemas.openxmlformats.org/drawingml/2006/main">
              <a:ext uri="{FF2B5EF4-FFF2-40B4-BE49-F238E27FC236}">
                <a16:creationId xmlns:a16="http://schemas.microsoft.com/office/drawing/2014/main" id="{AFA36E03-BDF1-4864-869D-B11AD939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eco-dispatch-right">
            <a:extLst xmlns:a="http://schemas.openxmlformats.org/drawingml/2006/main">
              <a:ext uri="{FF2B5EF4-FFF2-40B4-BE49-F238E27FC236}">
                <a16:creationId xmlns:a16="http://schemas.microsoft.com/office/drawing/2014/main" id="{0BD88EF9-789C-4DB5-8596-4796FB69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eco-dispatch-lh">
            <a:extLst xmlns:a="http://schemas.openxmlformats.org/drawingml/2006/main">
              <a:ext uri="{FF2B5EF4-FFF2-40B4-BE49-F238E27FC236}">
                <a16:creationId xmlns:a16="http://schemas.microsoft.com/office/drawing/2014/main" id="{A7A0ABE4-F2FA-4977-8185-C32A814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PRICE</a:t>
            </a:r>
          </a:p>
        </p:txBody>
      </p:sp>
      <p:sp>
        <p:nvSpPr>
          <p:cNvPr id="7" name="eco-dispatch-lb">
            <a:extLst xmlns:a="http://schemas.openxmlformats.org/drawingml/2006/main">
              <a:ext uri="{FF2B5EF4-FFF2-40B4-BE49-F238E27FC236}">
                <a16:creationId xmlns:a16="http://schemas.microsoft.com/office/drawing/2014/main" id="{41321D51-303E-476E-8B51-FAF3804C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Base fare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Road distance and expected time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Vehicle and parcel class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Priority or surge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Waiting, cancellation and failed pickup rules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COD collection fee</a:t>
            </a:r>
          </a:p>
        </p:txBody>
      </p:sp>
      <p:sp>
        <p:nvSpPr>
          <p:cNvPr id="8" name="eco-dispatch-rh">
            <a:extLst xmlns:a="http://schemas.openxmlformats.org/drawingml/2006/main">
              <a:ext uri="{FF2B5EF4-FFF2-40B4-BE49-F238E27FC236}">
                <a16:creationId xmlns:a16="http://schemas.microsoft.com/office/drawing/2014/main" id="{1508A9FA-BA34-460A-BD33-31CFE8D0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DISPATCH</a:t>
            </a:r>
          </a:p>
        </p:txBody>
      </p:sp>
      <p:sp>
        <p:nvSpPr>
          <p:cNvPr id="9" name="eco-dispatch-rb">
            <a:extLst xmlns:a="http://schemas.openxmlformats.org/drawingml/2006/main">
              <a:ext uri="{FF2B5EF4-FFF2-40B4-BE49-F238E27FC236}">
                <a16:creationId xmlns:a16="http://schemas.microsoft.com/office/drawing/2014/main" id="{7AAF9C5D-01BE-43D7-ADBC-18D8A98C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Online and available rider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Road-time to pickup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Vehicle/parcel compatibility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Zone and workload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Acceptance and performance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Offer timeout and reassignment</a:t>
            </a:r>
          </a:p>
        </p:txBody>
      </p:sp>
      <p:sp>
        <p:nvSpPr>
          <p:cNvPr id="10" name="eco-dispatch-note">
            <a:extLst xmlns:a="http://schemas.openxmlformats.org/drawingml/2006/main">
              <a:ext uri="{FF2B5EF4-FFF2-40B4-BE49-F238E27FC236}">
                <a16:creationId xmlns:a16="http://schemas.microsoft.com/office/drawing/2014/main" id="{56C5B13A-1F5F-4D2B-9B02-3A4441CD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Current workflows support available jobs, acceptance/rejection, rider status, location and COD controls. Advanced scoring, batching and route optimization are future work.</a:t>
            </a:r>
          </a:p>
        </p:txBody>
      </p:sp>
      <p:sp>
        <p:nvSpPr>
          <p:cNvPr id="11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A6DBEEC3-52A3-49FA-8E45-82BCDCA2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2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52C3A4AB-CE50-4FA8-A46F-B2174105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6328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dditional-section">
            <a:extLst xmlns:a="http://schemas.openxmlformats.org/drawingml/2006/main">
              <a:ext uri="{FF2B5EF4-FFF2-40B4-BE49-F238E27FC236}">
                <a16:creationId xmlns:a16="http://schemas.microsoft.com/office/drawing/2014/main" id="{7A65BF6B-1969-4278-8987-D3DAEA18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ADDITIONAL PLATFORM SERVICES</a:t>
            </a:r>
          </a:p>
        </p:txBody>
      </p:sp>
      <p:sp>
        <p:nvSpPr>
          <p:cNvPr id="2" name="additional-title">
            <a:extLst xmlns:a="http://schemas.openxmlformats.org/drawingml/2006/main">
              <a:ext uri="{FF2B5EF4-FFF2-40B4-BE49-F238E27FC236}">
                <a16:creationId xmlns:a16="http://schemas.microsoft.com/office/drawing/2014/main" id="{DCCEF448-1BE5-4314-96D1-AB4C078E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Supporting services extend the core delivery network</a:t>
            </a:r>
          </a:p>
        </p:txBody>
      </p:sp>
      <p:cxnSp>
        <p:nvCxnSpPr>
          <p:cNvPr id="18" name="additional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additional-card-0">
            <a:extLst xmlns:a="http://schemas.openxmlformats.org/drawingml/2006/main">
              <a:ext uri="{FF2B5EF4-FFF2-40B4-BE49-F238E27FC236}">
                <a16:creationId xmlns:a16="http://schemas.microsoft.com/office/drawing/2014/main" id="{FDCE3EDE-0B3B-4B1F-95F6-206BE6B8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additional-title-0">
            <a:extLst xmlns:a="http://schemas.openxmlformats.org/drawingml/2006/main">
              <a:ext uri="{FF2B5EF4-FFF2-40B4-BE49-F238E27FC236}">
                <a16:creationId xmlns:a16="http://schemas.microsoft.com/office/drawing/2014/main" id="{F91C153D-0B3B-421E-9891-25C1D886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80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GROCERY BOX</a:t>
            </a:r>
          </a:p>
        </p:txBody>
      </p:sp>
      <p:sp>
        <p:nvSpPr>
          <p:cNvPr id="6" name="additional-copy-0">
            <a:extLst xmlns:a="http://schemas.openxmlformats.org/drawingml/2006/main">
              <a:ext uri="{FF2B5EF4-FFF2-40B4-BE49-F238E27FC236}">
                <a16:creationId xmlns:a16="http://schemas.microsoft.com/office/drawing/2014/main" id="{D1365926-5C07-497E-9ADA-18124C65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971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 customer-facing box-building experience that can connect selected items to delivery.</a:t>
            </a:r>
          </a:p>
        </p:txBody>
      </p:sp>
      <p:sp>
        <p:nvSpPr>
          <p:cNvPr id="7" name="additional-card-1">
            <a:extLst xmlns:a="http://schemas.openxmlformats.org/drawingml/2006/main">
              <a:ext uri="{FF2B5EF4-FFF2-40B4-BE49-F238E27FC236}">
                <a16:creationId xmlns:a16="http://schemas.microsoft.com/office/drawing/2014/main" id="{CE24303B-0CE7-4E8E-8B92-8FB030CD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8" name="additional-title-1">
            <a:extLst xmlns:a="http://schemas.openxmlformats.org/drawingml/2006/main">
              <a:ext uri="{FF2B5EF4-FFF2-40B4-BE49-F238E27FC236}">
                <a16:creationId xmlns:a16="http://schemas.microsoft.com/office/drawing/2014/main" id="{023CEC29-81B3-40BD-B5F6-D8BFF107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80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AGENCY OPERATIONS</a:t>
            </a:r>
          </a:p>
        </p:txBody>
      </p:sp>
      <p:sp>
        <p:nvSpPr>
          <p:cNvPr id="9" name="additional-copy-1">
            <a:extLst xmlns:a="http://schemas.openxmlformats.org/drawingml/2006/main">
              <a:ext uri="{FF2B5EF4-FFF2-40B4-BE49-F238E27FC236}">
                <a16:creationId xmlns:a16="http://schemas.microsoft.com/office/drawing/2014/main" id="{871BFD4A-343E-4717-BD7A-D43B9E2D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971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Branch and agency teams capture customers, create shipments, manage staff and support tracking.</a:t>
            </a:r>
          </a:p>
        </p:txBody>
      </p:sp>
      <p:sp>
        <p:nvSpPr>
          <p:cNvPr id="10" name="additional-card-2">
            <a:extLst xmlns:a="http://schemas.openxmlformats.org/drawingml/2006/main">
              <a:ext uri="{FF2B5EF4-FFF2-40B4-BE49-F238E27FC236}">
                <a16:creationId xmlns:a16="http://schemas.microsoft.com/office/drawing/2014/main" id="{54607D3D-64F5-43D5-879B-5B7B1022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11" name="additional-title-2">
            <a:extLst xmlns:a="http://schemas.openxmlformats.org/drawingml/2006/main">
              <a:ext uri="{FF2B5EF4-FFF2-40B4-BE49-F238E27FC236}">
                <a16:creationId xmlns:a16="http://schemas.microsoft.com/office/drawing/2014/main" id="{88D97220-A15D-43A6-BD3D-140EFB07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80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REPORTING</a:t>
            </a:r>
          </a:p>
        </p:txBody>
      </p:sp>
      <p:sp>
        <p:nvSpPr>
          <p:cNvPr id="12" name="additional-copy-2">
            <a:extLst xmlns:a="http://schemas.openxmlformats.org/drawingml/2006/main">
              <a:ext uri="{FF2B5EF4-FFF2-40B4-BE49-F238E27FC236}">
                <a16:creationId xmlns:a16="http://schemas.microsoft.com/office/drawing/2014/main" id="{F46155F6-5796-408C-9E0F-97333C4E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2971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Operational, settlement, rider, shipment and partner views support monitoring and reconciliation.</a:t>
            </a:r>
          </a:p>
        </p:txBody>
      </p:sp>
      <p:sp>
        <p:nvSpPr>
          <p:cNvPr id="13" name="additional-note">
            <a:extLst xmlns:a="http://schemas.openxmlformats.org/drawingml/2006/main">
              <a:ext uri="{FF2B5EF4-FFF2-40B4-BE49-F238E27FC236}">
                <a16:creationId xmlns:a16="http://schemas.microsoft.com/office/drawing/2014/main" id="{765A8AFC-D238-41EF-ABE4-F7DE1011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0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These services use the same identity, tracking, notification and operational-control foundations as the three primary delivery categories.</a:t>
            </a:r>
          </a:p>
        </p:txBody>
      </p:sp>
      <p:sp>
        <p:nvSpPr>
          <p:cNvPr id="14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1AD42DFD-F2CB-40ED-B2A7-57665B83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5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540900C6-3D6E-42EF-9872-FEAE7C83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52435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labels-section">
            <a:extLst xmlns:a="http://schemas.openxmlformats.org/drawingml/2006/main">
              <a:ext uri="{FF2B5EF4-FFF2-40B4-BE49-F238E27FC236}">
                <a16:creationId xmlns:a16="http://schemas.microsoft.com/office/drawing/2014/main" id="{25600B01-8674-4CD2-92A2-4298C029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LABELS, BARCODE AND SCANNING</a:t>
            </a:r>
          </a:p>
        </p:txBody>
      </p:sp>
      <p:sp>
        <p:nvSpPr>
          <p:cNvPr id="2" name="labels-title">
            <a:extLst xmlns:a="http://schemas.openxmlformats.org/drawingml/2006/main">
              <a:ext uri="{FF2B5EF4-FFF2-40B4-BE49-F238E27FC236}">
                <a16:creationId xmlns:a16="http://schemas.microsoft.com/office/drawing/2014/main" id="{5CC26EC9-FC45-47A5-9CBE-C3C45E62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Labels and scans create the physical-to-digital link</a:t>
            </a:r>
          </a:p>
        </p:txBody>
      </p:sp>
      <p:cxnSp>
        <p:nvCxnSpPr>
          <p:cNvPr id="37" name="labels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8" name="labels-edge-0"/>
          <p:cNvCxnSpPr/>
          <p:nvPr/>
        </p:nvCxnSpPr>
        <p:spPr>
          <a:xfrm xmlns:a="http://schemas.openxmlformats.org/drawingml/2006/main">
            <a:off x="2222500" y="26574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labels-edge-1"/>
          <p:cNvCxnSpPr/>
          <p:nvPr/>
        </p:nvCxnSpPr>
        <p:spPr>
          <a:xfrm xmlns:a="http://schemas.openxmlformats.org/drawingml/2006/main">
            <a:off x="4121150" y="26574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0" name="labels-edge-2"/>
          <p:cNvCxnSpPr/>
          <p:nvPr/>
        </p:nvCxnSpPr>
        <p:spPr>
          <a:xfrm xmlns:a="http://schemas.openxmlformats.org/drawingml/2006/main">
            <a:off x="6019800" y="26574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1" name="labels-edge-3"/>
          <p:cNvCxnSpPr/>
          <p:nvPr/>
        </p:nvCxnSpPr>
        <p:spPr>
          <a:xfrm xmlns:a="http://schemas.openxmlformats.org/drawingml/2006/main">
            <a:off x="7918450" y="26574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2" name="labels-edge-4"/>
          <p:cNvCxnSpPr/>
          <p:nvPr/>
        </p:nvCxnSpPr>
        <p:spPr>
          <a:xfrm xmlns:a="http://schemas.openxmlformats.org/drawingml/2006/main">
            <a:off x="9817100" y="26574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labels-node-0">
            <a:extLst xmlns:a="http://schemas.openxmlformats.org/drawingml/2006/main">
              <a:ext uri="{FF2B5EF4-FFF2-40B4-BE49-F238E27FC236}">
                <a16:creationId xmlns:a16="http://schemas.microsoft.com/office/drawing/2014/main" id="{A88AACD1-83C1-409A-87FF-82A5FE0D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7645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labels-step-0">
            <a:extLst xmlns:a="http://schemas.openxmlformats.org/drawingml/2006/main">
              <a:ext uri="{FF2B5EF4-FFF2-40B4-BE49-F238E27FC236}">
                <a16:creationId xmlns:a16="http://schemas.microsoft.com/office/drawing/2014/main" id="{FA978576-6457-451F-9486-3993773F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labels-copy-0">
            <a:extLst xmlns:a="http://schemas.openxmlformats.org/drawingml/2006/main">
              <a:ext uri="{FF2B5EF4-FFF2-40B4-BE49-F238E27FC236}">
                <a16:creationId xmlns:a16="http://schemas.microsoft.com/office/drawing/2014/main" id="{35F66FA6-DF19-427D-A389-EA53B069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Create shipment</a:t>
            </a:r>
          </a:p>
        </p:txBody>
      </p:sp>
      <p:sp>
        <p:nvSpPr>
          <p:cNvPr id="12" name="labels-node-1">
            <a:extLst xmlns:a="http://schemas.openxmlformats.org/drawingml/2006/main">
              <a:ext uri="{FF2B5EF4-FFF2-40B4-BE49-F238E27FC236}">
                <a16:creationId xmlns:a16="http://schemas.microsoft.com/office/drawing/2014/main" id="{10A7BD19-014C-43A1-86E0-5FCA207E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07645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labels-step-1">
            <a:extLst xmlns:a="http://schemas.openxmlformats.org/drawingml/2006/main">
              <a:ext uri="{FF2B5EF4-FFF2-40B4-BE49-F238E27FC236}">
                <a16:creationId xmlns:a16="http://schemas.microsoft.com/office/drawing/2014/main" id="{2B63D1B3-EED1-4ECE-B5F1-B1DA42E0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90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labels-copy-1">
            <a:extLst xmlns:a="http://schemas.openxmlformats.org/drawingml/2006/main">
              <a:ext uri="{FF2B5EF4-FFF2-40B4-BE49-F238E27FC236}">
                <a16:creationId xmlns:a16="http://schemas.microsoft.com/office/drawing/2014/main" id="{5B29ED64-D26F-4697-9D04-A0941390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45745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Tracking number</a:t>
            </a:r>
          </a:p>
        </p:txBody>
      </p:sp>
      <p:sp>
        <p:nvSpPr>
          <p:cNvPr id="15" name="labels-node-2">
            <a:extLst xmlns:a="http://schemas.openxmlformats.org/drawingml/2006/main">
              <a:ext uri="{FF2B5EF4-FFF2-40B4-BE49-F238E27FC236}">
                <a16:creationId xmlns:a16="http://schemas.microsoft.com/office/drawing/2014/main" id="{B9475E14-4348-4E07-89CD-58A0C2D4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07645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labels-step-2">
            <a:extLst xmlns:a="http://schemas.openxmlformats.org/drawingml/2006/main">
              <a:ext uri="{FF2B5EF4-FFF2-40B4-BE49-F238E27FC236}">
                <a16:creationId xmlns:a16="http://schemas.microsoft.com/office/drawing/2014/main" id="{23CD3C16-646D-4AA2-9C23-26FC0EAB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190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labels-copy-2">
            <a:extLst xmlns:a="http://schemas.openxmlformats.org/drawingml/2006/main">
              <a:ext uri="{FF2B5EF4-FFF2-40B4-BE49-F238E27FC236}">
                <a16:creationId xmlns:a16="http://schemas.microsoft.com/office/drawing/2014/main" id="{862F6E96-8F88-4F40-ABF4-86C586B7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5745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HAWB / label</a:t>
            </a:r>
          </a:p>
        </p:txBody>
      </p:sp>
      <p:sp>
        <p:nvSpPr>
          <p:cNvPr id="18" name="labels-node-3">
            <a:extLst xmlns:a="http://schemas.openxmlformats.org/drawingml/2006/main">
              <a:ext uri="{FF2B5EF4-FFF2-40B4-BE49-F238E27FC236}">
                <a16:creationId xmlns:a16="http://schemas.microsoft.com/office/drawing/2014/main" id="{7825F708-9D79-44A0-8934-E9D37E37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labels-step-3">
            <a:extLst xmlns:a="http://schemas.openxmlformats.org/drawingml/2006/main">
              <a:ext uri="{FF2B5EF4-FFF2-40B4-BE49-F238E27FC236}">
                <a16:creationId xmlns:a16="http://schemas.microsoft.com/office/drawing/2014/main" id="{E3387A91-3E46-4800-8511-15BC6DE1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labels-copy-3">
            <a:extLst xmlns:a="http://schemas.openxmlformats.org/drawingml/2006/main">
              <a:ext uri="{FF2B5EF4-FFF2-40B4-BE49-F238E27FC236}">
                <a16:creationId xmlns:a16="http://schemas.microsoft.com/office/drawing/2014/main" id="{A07A7AEC-A722-4BC9-9D87-DEF407C3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Barcode / QR</a:t>
            </a:r>
          </a:p>
        </p:txBody>
      </p:sp>
      <p:sp>
        <p:nvSpPr>
          <p:cNvPr id="21" name="labels-node-4">
            <a:extLst xmlns:a="http://schemas.openxmlformats.org/drawingml/2006/main">
              <a:ext uri="{FF2B5EF4-FFF2-40B4-BE49-F238E27FC236}">
                <a16:creationId xmlns:a16="http://schemas.microsoft.com/office/drawing/2014/main" id="{BA237AE6-23A2-4FCB-B68A-DB709D50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07645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labels-step-4">
            <a:extLst xmlns:a="http://schemas.openxmlformats.org/drawingml/2006/main">
              <a:ext uri="{FF2B5EF4-FFF2-40B4-BE49-F238E27FC236}">
                <a16:creationId xmlns:a16="http://schemas.microsoft.com/office/drawing/2014/main" id="{CAD66DAF-950F-411E-BCBF-95E86CC6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190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labels-copy-4">
            <a:extLst xmlns:a="http://schemas.openxmlformats.org/drawingml/2006/main">
              <a:ext uri="{FF2B5EF4-FFF2-40B4-BE49-F238E27FC236}">
                <a16:creationId xmlns:a16="http://schemas.microsoft.com/office/drawing/2014/main" id="{F4F71071-CACA-4481-9E70-06FC6487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5745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Scan custody</a:t>
            </a:r>
          </a:p>
        </p:txBody>
      </p:sp>
      <p:sp>
        <p:nvSpPr>
          <p:cNvPr id="24" name="labels-node-5">
            <a:extLst xmlns:a="http://schemas.openxmlformats.org/drawingml/2006/main">
              <a:ext uri="{FF2B5EF4-FFF2-40B4-BE49-F238E27FC236}">
                <a16:creationId xmlns:a16="http://schemas.microsoft.com/office/drawing/2014/main" id="{91D5E0B7-B9BC-4906-86B9-6A8361BF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076450"/>
            <a:ext cx="1746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labels-step-5">
            <a:extLst xmlns:a="http://schemas.openxmlformats.org/drawingml/2006/main">
              <a:ext uri="{FF2B5EF4-FFF2-40B4-BE49-F238E27FC236}">
                <a16:creationId xmlns:a16="http://schemas.microsoft.com/office/drawing/2014/main" id="{68535AAA-9F52-4F3B-AB02-63D2E08C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190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labels-copy-5">
            <a:extLst xmlns:a="http://schemas.openxmlformats.org/drawingml/2006/main">
              <a:ext uri="{FF2B5EF4-FFF2-40B4-BE49-F238E27FC236}">
                <a16:creationId xmlns:a16="http://schemas.microsoft.com/office/drawing/2014/main" id="{36F1DD71-E2F1-4171-A47F-920C81CD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457450"/>
            <a:ext cx="147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Update tracking event</a:t>
            </a:r>
          </a:p>
        </p:txBody>
      </p:sp>
      <p:sp>
        <p:nvSpPr>
          <p:cNvPr id="27" name="labels-stripe-head-0">
            <a:extLst xmlns:a="http://schemas.openxmlformats.org/drawingml/2006/main">
              <a:ext uri="{FF2B5EF4-FFF2-40B4-BE49-F238E27FC236}">
                <a16:creationId xmlns:a16="http://schemas.microsoft.com/office/drawing/2014/main" id="{26A071F9-0EAE-4F80-ACAC-6AFCC1FC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LABEL</a:t>
            </a:r>
          </a:p>
        </p:txBody>
      </p:sp>
      <p:sp>
        <p:nvSpPr>
          <p:cNvPr id="28" name="labels-stripe-copy-0">
            <a:extLst xmlns:a="http://schemas.openxmlformats.org/drawingml/2006/main">
              <a:ext uri="{FF2B5EF4-FFF2-40B4-BE49-F238E27FC236}">
                <a16:creationId xmlns:a16="http://schemas.microsoft.com/office/drawing/2014/main" id="{A5F11D32-0CC2-4864-8577-DBA3DC2B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The label carries a readable reference and machine-scannable identifier for pickup, hub, partner and delivery handling.</a:t>
            </a:r>
          </a:p>
        </p:txBody>
      </p:sp>
      <p:sp>
        <p:nvSpPr>
          <p:cNvPr id="29" name="labels-stripe-head-1">
            <a:extLst xmlns:a="http://schemas.openxmlformats.org/drawingml/2006/main">
              <a:ext uri="{FF2B5EF4-FFF2-40B4-BE49-F238E27FC236}">
                <a16:creationId xmlns:a16="http://schemas.microsoft.com/office/drawing/2014/main" id="{5055996C-25F6-4EAE-8ECB-4A8FF8B0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SCAN</a:t>
            </a:r>
          </a:p>
        </p:txBody>
      </p:sp>
      <p:sp>
        <p:nvSpPr>
          <p:cNvPr id="30" name="labels-stripe-copy-1">
            <a:extLst xmlns:a="http://schemas.openxmlformats.org/drawingml/2006/main">
              <a:ext uri="{FF2B5EF4-FFF2-40B4-BE49-F238E27FC236}">
                <a16:creationId xmlns:a16="http://schemas.microsoft.com/office/drawing/2014/main" id="{C75AF03F-EB64-4DB5-BE0D-3F1163AE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Each scan validates the shipment, permitted action and next status before it updates the operational history.</a:t>
            </a:r>
          </a:p>
        </p:txBody>
      </p:sp>
      <p:sp>
        <p:nvSpPr>
          <p:cNvPr id="31" name="labels-stripe-head-2">
            <a:extLst xmlns:a="http://schemas.openxmlformats.org/drawingml/2006/main">
              <a:ext uri="{FF2B5EF4-FFF2-40B4-BE49-F238E27FC236}">
                <a16:creationId xmlns:a16="http://schemas.microsoft.com/office/drawing/2014/main" id="{1E4EF48C-C62B-494E-950B-C0F523D1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AUDIT</a:t>
            </a:r>
          </a:p>
        </p:txBody>
      </p:sp>
      <p:sp>
        <p:nvSpPr>
          <p:cNvPr id="32" name="labels-stripe-copy-2">
            <a:extLst xmlns:a="http://schemas.openxmlformats.org/drawingml/2006/main">
              <a:ext uri="{FF2B5EF4-FFF2-40B4-BE49-F238E27FC236}">
                <a16:creationId xmlns:a16="http://schemas.microsoft.com/office/drawing/2014/main" id="{247E7C78-A264-412C-BEBF-B2EC400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Store actor, time, location, device/source and status reason so missing or out-of-order events can be investigated.</a:t>
            </a:r>
          </a:p>
        </p:txBody>
      </p:sp>
      <p:sp>
        <p:nvSpPr>
          <p:cNvPr id="33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2E035740-0200-4EE4-B9AC-818A69A2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4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C2B1DE4E-2FFC-403A-B5D7-5FBAD34D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619818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ay-comms-section">
            <a:extLst xmlns:a="http://schemas.openxmlformats.org/drawingml/2006/main">
              <a:ext uri="{FF2B5EF4-FFF2-40B4-BE49-F238E27FC236}">
                <a16:creationId xmlns:a16="http://schemas.microsoft.com/office/drawing/2014/main" id="{2166A74F-1F35-4AA7-9CAA-449A7BD8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PAYMENTS, NOTIFICATIONS AND SUPPORT</a:t>
            </a:r>
          </a:p>
        </p:txBody>
      </p:sp>
      <p:sp>
        <p:nvSpPr>
          <p:cNvPr id="2" name="pay-comms-title">
            <a:extLst xmlns:a="http://schemas.openxmlformats.org/drawingml/2006/main">
              <a:ext uri="{FF2B5EF4-FFF2-40B4-BE49-F238E27FC236}">
                <a16:creationId xmlns:a16="http://schemas.microsoft.com/office/drawing/2014/main" id="{99AF8D43-B0C9-4171-A1E4-FA06D91C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761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Payments and communication close the customer service loop</a:t>
            </a:r>
          </a:p>
        </p:txBody>
      </p:sp>
      <p:cxnSp>
        <p:nvCxnSpPr>
          <p:cNvPr id="20" name="pay-comms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pay-comms-left">
            <a:extLst xmlns:a="http://schemas.openxmlformats.org/drawingml/2006/main">
              <a:ext uri="{FF2B5EF4-FFF2-40B4-BE49-F238E27FC236}">
                <a16:creationId xmlns:a16="http://schemas.microsoft.com/office/drawing/2014/main" id="{43FD3255-2EA5-4C67-AD8D-62111F9C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pay-comms-right">
            <a:extLst xmlns:a="http://schemas.openxmlformats.org/drawingml/2006/main">
              <a:ext uri="{FF2B5EF4-FFF2-40B4-BE49-F238E27FC236}">
                <a16:creationId xmlns:a16="http://schemas.microsoft.com/office/drawing/2014/main" id="{D01F42D6-302C-4670-8AFE-22080CB7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pay-comms-lh">
            <a:extLst xmlns:a="http://schemas.openxmlformats.org/drawingml/2006/main">
              <a:ext uri="{FF2B5EF4-FFF2-40B4-BE49-F238E27FC236}">
                <a16:creationId xmlns:a16="http://schemas.microsoft.com/office/drawing/2014/main" id="{B4C98C43-8B63-4173-8528-1A5CE5FB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PAYMENTS AND MONEY</a:t>
            </a:r>
          </a:p>
        </p:txBody>
      </p:sp>
      <p:sp>
        <p:nvSpPr>
          <p:cNvPr id="7" name="pay-comms-lb">
            <a:extLst xmlns:a="http://schemas.openxmlformats.org/drawingml/2006/main">
              <a:ext uri="{FF2B5EF4-FFF2-40B4-BE49-F238E27FC236}">
                <a16:creationId xmlns:a16="http://schemas.microsoft.com/office/drawing/2014/main" id="{9E65532A-B31C-43EF-905C-FFDF33FC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Payment intent and verification routes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Khalti and eSewa callbacks when configured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COD collection and deposit controls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Merchant/rider/admin wallet entries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Payout and settlement reporting</a:t>
            </a:r>
          </a:p>
        </p:txBody>
      </p:sp>
      <p:sp>
        <p:nvSpPr>
          <p:cNvPr id="8" name="pay-comms-rh">
            <a:extLst xmlns:a="http://schemas.openxmlformats.org/drawingml/2006/main">
              <a:ext uri="{FF2B5EF4-FFF2-40B4-BE49-F238E27FC236}">
                <a16:creationId xmlns:a16="http://schemas.microsoft.com/office/drawing/2014/main" id="{A5DEC631-2274-42FE-9736-B7285D8C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COMMUNICATION</a:t>
            </a:r>
          </a:p>
        </p:txBody>
      </p:sp>
      <p:sp>
        <p:nvSpPr>
          <p:cNvPr id="9" name="pay-comms-rb">
            <a:extLst xmlns:a="http://schemas.openxmlformats.org/drawingml/2006/main">
              <a:ext uri="{FF2B5EF4-FFF2-40B4-BE49-F238E27FC236}">
                <a16:creationId xmlns:a16="http://schemas.microsoft.com/office/drawing/2014/main" id="{0F6440D5-5B85-4380-86E3-C7BBB24E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In-app notifications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Order and shipment updates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Chat and support tickets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Feedback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Email/SMS/push when production providers are configured</a:t>
            </a:r>
          </a:p>
        </p:txBody>
      </p:sp>
      <p:sp>
        <p:nvSpPr>
          <p:cNvPr id="10" name="pay-comms-legend-0">
            <a:extLst xmlns:a="http://schemas.openxmlformats.org/drawingml/2006/main">
              <a:ext uri="{FF2B5EF4-FFF2-40B4-BE49-F238E27FC236}">
                <a16:creationId xmlns:a16="http://schemas.microsoft.com/office/drawing/2014/main" id="{64A41DD1-9FAA-40A3-BEDA-D3BFB764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3405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1" name="pay-comms-legend-text-0">
            <a:extLst xmlns:a="http://schemas.openxmlformats.org/drawingml/2006/main">
              <a:ext uri="{FF2B5EF4-FFF2-40B4-BE49-F238E27FC236}">
                <a16:creationId xmlns:a16="http://schemas.microsoft.com/office/drawing/2014/main" id="{090A34BE-145F-47FA-B8BA-751C08FC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Nirmala UI"/>
                <a:ea typeface="Nirmala UI"/>
                <a:cs typeface="Nirmala UI"/>
              </a:defRPr>
            </a:pPr>
            <a:r>
              <a:rPr sz="1125" b="1">
                <a:solidFill>
                  <a:srgbClr val="15803D"/>
                </a:solidFill>
                <a:latin typeface="Nirmala UI"/>
                <a:ea typeface="Nirmala UI"/>
                <a:cs typeface="Nirmala UI"/>
              </a:rPr>
              <a:t>AVAILABLE NOW</a:t>
            </a:r>
          </a:p>
        </p:txBody>
      </p:sp>
      <p:sp>
        <p:nvSpPr>
          <p:cNvPr id="12" name="pay-comms-legend-1">
            <a:extLst xmlns:a="http://schemas.openxmlformats.org/drawingml/2006/main">
              <a:ext uri="{FF2B5EF4-FFF2-40B4-BE49-F238E27FC236}">
                <a16:creationId xmlns:a16="http://schemas.microsoft.com/office/drawing/2014/main" id="{2BD81A36-F6AD-4380-ABF8-C265EB0E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73405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3" name="pay-comms-legend-text-1">
            <a:extLst xmlns:a="http://schemas.openxmlformats.org/drawingml/2006/main">
              <a:ext uri="{FF2B5EF4-FFF2-40B4-BE49-F238E27FC236}">
                <a16:creationId xmlns:a16="http://schemas.microsoft.com/office/drawing/2014/main" id="{6D8E0ED8-4E4F-4B94-9A44-4F10A172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388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125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CONFIGURABLE / MANUAL</a:t>
            </a:r>
          </a:p>
        </p:txBody>
      </p:sp>
      <p:sp>
        <p:nvSpPr>
          <p:cNvPr id="14" name="pay-comms-legend-2">
            <a:extLst xmlns:a="http://schemas.openxmlformats.org/drawingml/2006/main">
              <a:ext uri="{FF2B5EF4-FFF2-40B4-BE49-F238E27FC236}">
                <a16:creationId xmlns:a16="http://schemas.microsoft.com/office/drawing/2014/main" id="{6D133BCE-0B8D-4EC7-8628-14FA947E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3405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pay-comms-legend-text-2">
            <a:extLst xmlns:a="http://schemas.openxmlformats.org/drawingml/2006/main">
              <a:ext uri="{FF2B5EF4-FFF2-40B4-BE49-F238E27FC236}">
                <a16:creationId xmlns:a16="http://schemas.microsoft.com/office/drawing/2014/main" id="{AF7B497C-A588-476F-8845-4BEDB080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8388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1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FUTURE GOAL</a:t>
            </a:r>
          </a:p>
        </p:txBody>
      </p:sp>
      <p:sp>
        <p:nvSpPr>
          <p:cNvPr id="16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10119EBA-9B51-466E-9F72-11140B3C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7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78D07DB9-799F-4CA0-A3A1-706EFD5D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525115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ustomer-access-section">
            <a:extLst xmlns:a="http://schemas.openxmlformats.org/drawingml/2006/main">
              <a:ext uri="{FF2B5EF4-FFF2-40B4-BE49-F238E27FC236}">
                <a16:creationId xmlns:a16="http://schemas.microsoft.com/office/drawing/2014/main" id="{1EF37423-B529-407B-9FBF-79B2D61A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CUSTOMER / CLIENT</a:t>
            </a:r>
          </a:p>
        </p:txBody>
      </p:sp>
      <p:sp>
        <p:nvSpPr>
          <p:cNvPr id="2" name="customer-access-title">
            <a:extLst xmlns:a="http://schemas.openxmlformats.org/drawingml/2006/main">
              <a:ext uri="{FF2B5EF4-FFF2-40B4-BE49-F238E27FC236}">
                <a16:creationId xmlns:a16="http://schemas.microsoft.com/office/drawing/2014/main" id="{D227013B-FDA3-49A4-ACCC-71B20E4A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Customers see one simple journey from request to proof</a:t>
            </a:r>
          </a:p>
        </p:txBody>
      </p:sp>
      <p:cxnSp>
        <p:nvCxnSpPr>
          <p:cNvPr id="15" name="customer-access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customer-access-left">
            <a:extLst xmlns:a="http://schemas.openxmlformats.org/drawingml/2006/main">
              <a:ext uri="{FF2B5EF4-FFF2-40B4-BE49-F238E27FC236}">
                <a16:creationId xmlns:a16="http://schemas.microsoft.com/office/drawing/2014/main" id="{A7011159-5649-44AD-923C-5522FB31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customer-access-right">
            <a:extLst xmlns:a="http://schemas.openxmlformats.org/drawingml/2006/main">
              <a:ext uri="{FF2B5EF4-FFF2-40B4-BE49-F238E27FC236}">
                <a16:creationId xmlns:a16="http://schemas.microsoft.com/office/drawing/2014/main" id="{A0177AB3-5D43-40C7-B64C-4FFA385A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customer-access-lh">
            <a:extLst xmlns:a="http://schemas.openxmlformats.org/drawingml/2006/main">
              <a:ext uri="{FF2B5EF4-FFF2-40B4-BE49-F238E27FC236}">
                <a16:creationId xmlns:a16="http://schemas.microsoft.com/office/drawing/2014/main" id="{36BCE5ED-2361-4D81-A900-ECE6DC74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START / ACCESS</a:t>
            </a:r>
          </a:p>
        </p:txBody>
      </p:sp>
      <p:sp>
        <p:nvSpPr>
          <p:cNvPr id="7" name="customer-access-lb">
            <a:extLst xmlns:a="http://schemas.openxmlformats.org/drawingml/2006/main">
              <a:ext uri="{FF2B5EF4-FFF2-40B4-BE49-F238E27FC236}">
                <a16:creationId xmlns:a16="http://schemas.microsoft.com/office/drawing/2014/main" id="{E7FF78B8-A96C-4828-8374-D0B27B1E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Self-register as Customer, submit contact and Nepal address details, then wait for approval. Client accounts may also be created by Admin for managed/corporate service.</a:t>
            </a:r>
          </a:p>
        </p:txBody>
      </p:sp>
      <p:sp>
        <p:nvSpPr>
          <p:cNvPr id="8" name="customer-access-rh">
            <a:extLst xmlns:a="http://schemas.openxmlformats.org/drawingml/2006/main">
              <a:ext uri="{FF2B5EF4-FFF2-40B4-BE49-F238E27FC236}">
                <a16:creationId xmlns:a16="http://schemas.microsoft.com/office/drawing/2014/main" id="{C9C12B86-6912-476C-837A-5C36CA33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SERVICES YOU USE</a:t>
            </a:r>
          </a:p>
        </p:txBody>
      </p:sp>
      <p:sp>
        <p:nvSpPr>
          <p:cNvPr id="9" name="customer-access-rb">
            <a:extLst xmlns:a="http://schemas.openxmlformats.org/drawingml/2006/main">
              <a:ext uri="{FF2B5EF4-FFF2-40B4-BE49-F238E27FC236}">
                <a16:creationId xmlns:a16="http://schemas.microsoft.com/office/drawing/2014/main" id="{8D31396E-7BF6-438A-95E4-63A5E9E8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International booking and tracking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Domestic pickup and shipment tracking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E-commerce / on-demand delivery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Payments, notifications, chat, support and feedback</a:t>
            </a:r>
          </a:p>
        </p:txBody>
      </p:sp>
      <p:sp>
        <p:nvSpPr>
          <p:cNvPr id="10" name="customer-access-status">
            <a:extLst xmlns:a="http://schemas.openxmlformats.org/drawingml/2006/main">
              <a:ext uri="{FF2B5EF4-FFF2-40B4-BE49-F238E27FC236}">
                <a16:creationId xmlns:a16="http://schemas.microsoft.com/office/drawing/2014/main" id="{942379A3-22A1-48AF-B22F-5C9C8942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Current dashboard access is role-scoped; live payment use depends on configured Khalti/eSewa credentials.</a:t>
            </a:r>
          </a:p>
        </p:txBody>
      </p:sp>
      <p:sp>
        <p:nvSpPr>
          <p:cNvPr id="11" name="footer-label-16">
            <a:extLst xmlns:a="http://schemas.openxmlformats.org/drawingml/2006/main">
              <a:ext uri="{FF2B5EF4-FFF2-40B4-BE49-F238E27FC236}">
                <a16:creationId xmlns:a16="http://schemas.microsoft.com/office/drawing/2014/main" id="{17F2A15F-0ABF-4AEB-B1C0-8405367C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2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6ED9077B-2380-4861-959B-828C7DE5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964599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ustomer-flow-section">
            <a:extLst xmlns:a="http://schemas.openxmlformats.org/drawingml/2006/main">
              <a:ext uri="{FF2B5EF4-FFF2-40B4-BE49-F238E27FC236}">
                <a16:creationId xmlns:a16="http://schemas.microsoft.com/office/drawing/2014/main" id="{23AC6122-F3E6-4AB9-8E6E-22E9F995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CUSTOMER / CLIENT</a:t>
            </a:r>
          </a:p>
        </p:txBody>
      </p:sp>
      <p:sp>
        <p:nvSpPr>
          <p:cNvPr id="2" name="customer-flow-title">
            <a:extLst xmlns:a="http://schemas.openxmlformats.org/drawingml/2006/main">
              <a:ext uri="{FF2B5EF4-FFF2-40B4-BE49-F238E27FC236}">
                <a16:creationId xmlns:a16="http://schemas.microsoft.com/office/drawing/2014/main" id="{5045CE43-6F24-48B3-A193-1FB69B04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Customer journey: book, watch and receive</a:t>
            </a:r>
          </a:p>
        </p:txBody>
      </p:sp>
      <p:cxnSp>
        <p:nvCxnSpPr>
          <p:cNvPr id="34" name="customer-flow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5" name="customer-flow-edge-0"/>
          <p:cNvCxnSpPr/>
          <p:nvPr/>
        </p:nvCxnSpPr>
        <p:spPr>
          <a:xfrm xmlns:a="http://schemas.openxmlformats.org/drawingml/2006/main">
            <a:off x="22225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6" name="customer-flow-edge-1"/>
          <p:cNvCxnSpPr/>
          <p:nvPr/>
        </p:nvCxnSpPr>
        <p:spPr>
          <a:xfrm xmlns:a="http://schemas.openxmlformats.org/drawingml/2006/main">
            <a:off x="41211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7" name="customer-flow-edge-2"/>
          <p:cNvCxnSpPr/>
          <p:nvPr/>
        </p:nvCxnSpPr>
        <p:spPr>
          <a:xfrm xmlns:a="http://schemas.openxmlformats.org/drawingml/2006/main">
            <a:off x="60198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8" name="customer-flow-edge-3"/>
          <p:cNvCxnSpPr/>
          <p:nvPr/>
        </p:nvCxnSpPr>
        <p:spPr>
          <a:xfrm xmlns:a="http://schemas.openxmlformats.org/drawingml/2006/main">
            <a:off x="79184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customer-flow-edge-4"/>
          <p:cNvCxnSpPr/>
          <p:nvPr/>
        </p:nvCxnSpPr>
        <p:spPr>
          <a:xfrm xmlns:a="http://schemas.openxmlformats.org/drawingml/2006/main">
            <a:off x="98171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customer-flow-node-0">
            <a:extLst xmlns:a="http://schemas.openxmlformats.org/drawingml/2006/main">
              <a:ext uri="{FF2B5EF4-FFF2-40B4-BE49-F238E27FC236}">
                <a16:creationId xmlns:a16="http://schemas.microsoft.com/office/drawing/2014/main" id="{9530B022-A82F-4D70-8872-D51B6F56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customer-flow-step-0">
            <a:extLst xmlns:a="http://schemas.openxmlformats.org/drawingml/2006/main">
              <a:ext uri="{FF2B5EF4-FFF2-40B4-BE49-F238E27FC236}">
                <a16:creationId xmlns:a16="http://schemas.microsoft.com/office/drawing/2014/main" id="{BE315FF4-4897-4C1A-A887-0709771D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customer-flow-copy-0">
            <a:extLst xmlns:a="http://schemas.openxmlformats.org/drawingml/2006/main">
              <a:ext uri="{FF2B5EF4-FFF2-40B4-BE49-F238E27FC236}">
                <a16:creationId xmlns:a16="http://schemas.microsoft.com/office/drawing/2014/main" id="{2ABE303E-5E0D-4A09-9535-90E8638E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Register / login</a:t>
            </a:r>
          </a:p>
        </p:txBody>
      </p:sp>
      <p:sp>
        <p:nvSpPr>
          <p:cNvPr id="12" name="customer-flow-node-1">
            <a:extLst xmlns:a="http://schemas.openxmlformats.org/drawingml/2006/main">
              <a:ext uri="{FF2B5EF4-FFF2-40B4-BE49-F238E27FC236}">
                <a16:creationId xmlns:a16="http://schemas.microsoft.com/office/drawing/2014/main" id="{A9FE740D-3201-44D9-B3D5-27D64E70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customer-flow-step-1">
            <a:extLst xmlns:a="http://schemas.openxmlformats.org/drawingml/2006/main">
              <a:ext uri="{FF2B5EF4-FFF2-40B4-BE49-F238E27FC236}">
                <a16:creationId xmlns:a16="http://schemas.microsoft.com/office/drawing/2014/main" id="{0E946C82-C5BD-42B2-A72A-039C5648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customer-flow-copy-1">
            <a:extLst xmlns:a="http://schemas.openxmlformats.org/drawingml/2006/main">
              <a:ext uri="{FF2B5EF4-FFF2-40B4-BE49-F238E27FC236}">
                <a16:creationId xmlns:a16="http://schemas.microsoft.com/office/drawing/2014/main" id="{88ACA433-D589-485D-B6D5-25BDF229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Choose service</a:t>
            </a:r>
          </a:p>
        </p:txBody>
      </p:sp>
      <p:sp>
        <p:nvSpPr>
          <p:cNvPr id="15" name="customer-flow-node-2">
            <a:extLst xmlns:a="http://schemas.openxmlformats.org/drawingml/2006/main">
              <a:ext uri="{FF2B5EF4-FFF2-40B4-BE49-F238E27FC236}">
                <a16:creationId xmlns:a16="http://schemas.microsoft.com/office/drawing/2014/main" id="{0286D34D-F640-444D-81A0-D7CA9204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customer-flow-step-2">
            <a:extLst xmlns:a="http://schemas.openxmlformats.org/drawingml/2006/main">
              <a:ext uri="{FF2B5EF4-FFF2-40B4-BE49-F238E27FC236}">
                <a16:creationId xmlns:a16="http://schemas.microsoft.com/office/drawing/2014/main" id="{526CBE4E-9349-4478-9662-E1357274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customer-flow-copy-2">
            <a:extLst xmlns:a="http://schemas.openxmlformats.org/drawingml/2006/main">
              <a:ext uri="{FF2B5EF4-FFF2-40B4-BE49-F238E27FC236}">
                <a16:creationId xmlns:a16="http://schemas.microsoft.com/office/drawing/2014/main" id="{851A0543-302F-4A8A-B8BD-975397C3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Enter parcel + address</a:t>
            </a:r>
          </a:p>
        </p:txBody>
      </p:sp>
      <p:sp>
        <p:nvSpPr>
          <p:cNvPr id="18" name="customer-flow-node-3">
            <a:extLst xmlns:a="http://schemas.openxmlformats.org/drawingml/2006/main">
              <a:ext uri="{FF2B5EF4-FFF2-40B4-BE49-F238E27FC236}">
                <a16:creationId xmlns:a16="http://schemas.microsoft.com/office/drawing/2014/main" id="{E46057BA-C5B9-4B7B-8393-97C8891C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customer-flow-step-3">
            <a:extLst xmlns:a="http://schemas.openxmlformats.org/drawingml/2006/main">
              <a:ext uri="{FF2B5EF4-FFF2-40B4-BE49-F238E27FC236}">
                <a16:creationId xmlns:a16="http://schemas.microsoft.com/office/drawing/2014/main" id="{9D42722C-C7C1-41D1-B43F-42701668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customer-flow-copy-3">
            <a:extLst xmlns:a="http://schemas.openxmlformats.org/drawingml/2006/main">
              <a:ext uri="{FF2B5EF4-FFF2-40B4-BE49-F238E27FC236}">
                <a16:creationId xmlns:a16="http://schemas.microsoft.com/office/drawing/2014/main" id="{E9EFC9B2-40C9-470A-968C-48B0E522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Confirm quote</a:t>
            </a:r>
          </a:p>
        </p:txBody>
      </p:sp>
      <p:sp>
        <p:nvSpPr>
          <p:cNvPr id="21" name="customer-flow-node-4">
            <a:extLst xmlns:a="http://schemas.openxmlformats.org/drawingml/2006/main">
              <a:ext uri="{FF2B5EF4-FFF2-40B4-BE49-F238E27FC236}">
                <a16:creationId xmlns:a16="http://schemas.microsoft.com/office/drawing/2014/main" id="{04AFEA79-0F34-40F7-B432-BB19BD17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customer-flow-step-4">
            <a:extLst xmlns:a="http://schemas.openxmlformats.org/drawingml/2006/main">
              <a:ext uri="{FF2B5EF4-FFF2-40B4-BE49-F238E27FC236}">
                <a16:creationId xmlns:a16="http://schemas.microsoft.com/office/drawing/2014/main" id="{775AA68F-AA8F-4F0F-BA0B-E3A66E89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customer-flow-copy-4">
            <a:extLst xmlns:a="http://schemas.openxmlformats.org/drawingml/2006/main">
              <a:ext uri="{FF2B5EF4-FFF2-40B4-BE49-F238E27FC236}">
                <a16:creationId xmlns:a16="http://schemas.microsoft.com/office/drawing/2014/main" id="{2347387D-EF01-4348-AB12-2CE2BA5E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Track updates</a:t>
            </a:r>
          </a:p>
        </p:txBody>
      </p:sp>
      <p:sp>
        <p:nvSpPr>
          <p:cNvPr id="24" name="customer-flow-node-5">
            <a:extLst xmlns:a="http://schemas.openxmlformats.org/drawingml/2006/main">
              <a:ext uri="{FF2B5EF4-FFF2-40B4-BE49-F238E27FC236}">
                <a16:creationId xmlns:a16="http://schemas.microsoft.com/office/drawing/2014/main" id="{805C3BFC-F716-4044-82DB-8FA77FCB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customer-flow-step-5">
            <a:extLst xmlns:a="http://schemas.openxmlformats.org/drawingml/2006/main">
              <a:ext uri="{FF2B5EF4-FFF2-40B4-BE49-F238E27FC236}">
                <a16:creationId xmlns:a16="http://schemas.microsoft.com/office/drawing/2014/main" id="{CC8CD6C5-2793-42D1-BD55-27AE819B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customer-flow-copy-5">
            <a:extLst xmlns:a="http://schemas.openxmlformats.org/drawingml/2006/main">
              <a:ext uri="{FF2B5EF4-FFF2-40B4-BE49-F238E27FC236}">
                <a16:creationId xmlns:a16="http://schemas.microsoft.com/office/drawing/2014/main" id="{9710B358-A74E-4E24-933B-6BCAAC76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Receive + POD</a:t>
            </a:r>
          </a:p>
        </p:txBody>
      </p:sp>
      <p:sp>
        <p:nvSpPr>
          <p:cNvPr id="27" name="customer-flow-control-box">
            <a:extLst xmlns:a="http://schemas.openxmlformats.org/drawingml/2006/main">
              <a:ext uri="{FF2B5EF4-FFF2-40B4-BE49-F238E27FC236}">
                <a16:creationId xmlns:a16="http://schemas.microsoft.com/office/drawing/2014/main" id="{4F089B7C-3399-46C4-A6B3-DF585ACB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123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8" name="customer-flow-control-head">
            <a:extLst xmlns:a="http://schemas.openxmlformats.org/drawingml/2006/main">
              <a:ext uri="{FF2B5EF4-FFF2-40B4-BE49-F238E27FC236}">
                <a16:creationId xmlns:a16="http://schemas.microsoft.com/office/drawing/2014/main" id="{5CBABDE5-AA5B-48C0-999C-4B291567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OPERATIONAL CONTROL</a:t>
            </a:r>
          </a:p>
        </p:txBody>
      </p:sp>
      <p:sp>
        <p:nvSpPr>
          <p:cNvPr id="29" name="customer-flow-control-copy">
            <a:extLst xmlns:a="http://schemas.openxmlformats.org/drawingml/2006/main">
              <a:ext uri="{FF2B5EF4-FFF2-40B4-BE49-F238E27FC236}">
                <a16:creationId xmlns:a16="http://schemas.microsoft.com/office/drawing/2014/main" id="{4D4A5E69-FFCE-4505-8DDB-D1189B62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Public tracking must hide sensitive recipient and rider data. A customer should see understandable events, ETA when available, exception messages and final proof allowed for that shipment.</a:t>
            </a:r>
          </a:p>
        </p:txBody>
      </p:sp>
      <p:sp>
        <p:nvSpPr>
          <p:cNvPr id="30" name="footer-label-17">
            <a:extLst xmlns:a="http://schemas.openxmlformats.org/drawingml/2006/main">
              <a:ext uri="{FF2B5EF4-FFF2-40B4-BE49-F238E27FC236}">
                <a16:creationId xmlns:a16="http://schemas.microsoft.com/office/drawing/2014/main" id="{59E82120-1B41-4D77-B5C5-E1FA5F9E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1" name="footer-page-17">
            <a:extLst xmlns:a="http://schemas.openxmlformats.org/drawingml/2006/main">
              <a:ext uri="{FF2B5EF4-FFF2-40B4-BE49-F238E27FC236}">
                <a16:creationId xmlns:a16="http://schemas.microsoft.com/office/drawing/2014/main" id="{D60ECAC4-0481-44A0-B6A2-02D1554C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289308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erchant-access-section">
            <a:extLst xmlns:a="http://schemas.openxmlformats.org/drawingml/2006/main">
              <a:ext uri="{FF2B5EF4-FFF2-40B4-BE49-F238E27FC236}">
                <a16:creationId xmlns:a16="http://schemas.microsoft.com/office/drawing/2014/main" id="{74140003-B0FF-4FBE-B937-5E9E1152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MERCHANT / SELLER</a:t>
            </a:r>
          </a:p>
        </p:txBody>
      </p:sp>
      <p:sp>
        <p:nvSpPr>
          <p:cNvPr id="2" name="merchant-access-title">
            <a:extLst xmlns:a="http://schemas.openxmlformats.org/drawingml/2006/main">
              <a:ext uri="{FF2B5EF4-FFF2-40B4-BE49-F238E27FC236}">
                <a16:creationId xmlns:a16="http://schemas.microsoft.com/office/drawing/2014/main" id="{174DCC4E-FAB3-45CC-B092-3DC241EC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Merchants manage orders, labels, COD and support</a:t>
            </a:r>
          </a:p>
        </p:txBody>
      </p:sp>
      <p:cxnSp>
        <p:nvCxnSpPr>
          <p:cNvPr id="15" name="merchant-access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merchant-access-left">
            <a:extLst xmlns:a="http://schemas.openxmlformats.org/drawingml/2006/main">
              <a:ext uri="{FF2B5EF4-FFF2-40B4-BE49-F238E27FC236}">
                <a16:creationId xmlns:a16="http://schemas.microsoft.com/office/drawing/2014/main" id="{3DB55D05-AAC8-4DA6-9ED8-60576EC6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merchant-access-right">
            <a:extLst xmlns:a="http://schemas.openxmlformats.org/drawingml/2006/main">
              <a:ext uri="{FF2B5EF4-FFF2-40B4-BE49-F238E27FC236}">
                <a16:creationId xmlns:a16="http://schemas.microsoft.com/office/drawing/2014/main" id="{13C1B3DD-7258-4BFC-B1A9-673D7878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merchant-access-lh">
            <a:extLst xmlns:a="http://schemas.openxmlformats.org/drawingml/2006/main">
              <a:ext uri="{FF2B5EF4-FFF2-40B4-BE49-F238E27FC236}">
                <a16:creationId xmlns:a16="http://schemas.microsoft.com/office/drawing/2014/main" id="{A28BCD2E-BBEE-461E-96DF-9BF3FE27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START / ACCESS</a:t>
            </a:r>
          </a:p>
        </p:txBody>
      </p:sp>
      <p:sp>
        <p:nvSpPr>
          <p:cNvPr id="7" name="merchant-access-lb">
            <a:extLst xmlns:a="http://schemas.openxmlformats.org/drawingml/2006/main">
              <a:ext uri="{FF2B5EF4-FFF2-40B4-BE49-F238E27FC236}">
                <a16:creationId xmlns:a16="http://schemas.microsoft.com/office/drawing/2014/main" id="{AD0E807E-AA9F-4E34-A9B8-C7B05AB0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Self-register as Seller with personal, business and address details. Admin approval activates the seller workspace.</a:t>
            </a:r>
          </a:p>
        </p:txBody>
      </p:sp>
      <p:sp>
        <p:nvSpPr>
          <p:cNvPr id="8" name="merchant-access-rh">
            <a:extLst xmlns:a="http://schemas.openxmlformats.org/drawingml/2006/main">
              <a:ext uri="{FF2B5EF4-FFF2-40B4-BE49-F238E27FC236}">
                <a16:creationId xmlns:a16="http://schemas.microsoft.com/office/drawing/2014/main" id="{37A06E9F-1D07-406B-A638-01697A00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SERVICES YOU USE</a:t>
            </a:r>
          </a:p>
        </p:txBody>
      </p:sp>
      <p:sp>
        <p:nvSpPr>
          <p:cNvPr id="9" name="merchant-access-rb">
            <a:extLst xmlns:a="http://schemas.openxmlformats.org/drawingml/2006/main">
              <a:ext uri="{FF2B5EF4-FFF2-40B4-BE49-F238E27FC236}">
                <a16:creationId xmlns:a16="http://schemas.microsoft.com/office/drawing/2014/main" id="{F36D7F0A-F71A-4FC3-A23E-99963526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Create products and single orders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Create shipments and print labels/invoices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Track orders and cancel where allowed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View earnings, wallet and payouts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Open support tickets</a:t>
            </a:r>
          </a:p>
        </p:txBody>
      </p:sp>
      <p:sp>
        <p:nvSpPr>
          <p:cNvPr id="10" name="merchant-access-status">
            <a:extLst xmlns:a="http://schemas.openxmlformats.org/drawingml/2006/main">
              <a:ext uri="{FF2B5EF4-FFF2-40B4-BE49-F238E27FC236}">
                <a16:creationId xmlns:a16="http://schemas.microsoft.com/office/drawing/2014/main" id="{03C71B93-326F-4652-AC93-5D074425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Bulk upload and external e-commerce/API connectors are future activation items unless separately configured.</a:t>
            </a:r>
          </a:p>
        </p:txBody>
      </p:sp>
      <p:sp>
        <p:nvSpPr>
          <p:cNvPr id="11" name="footer-label-18">
            <a:extLst xmlns:a="http://schemas.openxmlformats.org/drawingml/2006/main">
              <a:ext uri="{FF2B5EF4-FFF2-40B4-BE49-F238E27FC236}">
                <a16:creationId xmlns:a16="http://schemas.microsoft.com/office/drawing/2014/main" id="{B1A500FA-6DB8-4032-9372-E860356A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2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AA1D5AE8-682C-409D-8E59-F7718554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142277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merchant-flow-section">
            <a:extLst xmlns:a="http://schemas.openxmlformats.org/drawingml/2006/main">
              <a:ext uri="{FF2B5EF4-FFF2-40B4-BE49-F238E27FC236}">
                <a16:creationId xmlns:a16="http://schemas.microsoft.com/office/drawing/2014/main" id="{9004537F-71E0-4F28-8A5E-AEA97668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MERCHANT / SELLER</a:t>
            </a:r>
          </a:p>
        </p:txBody>
      </p:sp>
      <p:sp>
        <p:nvSpPr>
          <p:cNvPr id="2" name="merchant-flow-title">
            <a:extLst xmlns:a="http://schemas.openxmlformats.org/drawingml/2006/main">
              <a:ext uri="{FF2B5EF4-FFF2-40B4-BE49-F238E27FC236}">
                <a16:creationId xmlns:a16="http://schemas.microsoft.com/office/drawing/2014/main" id="{83874A44-0BFB-4C8E-B90C-E47D987F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Merchant journey: sell, ship and reconcile</a:t>
            </a:r>
          </a:p>
        </p:txBody>
      </p:sp>
      <p:cxnSp>
        <p:nvCxnSpPr>
          <p:cNvPr id="34" name="merchant-flow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5" name="merchant-flow-edge-0"/>
          <p:cNvCxnSpPr/>
          <p:nvPr/>
        </p:nvCxnSpPr>
        <p:spPr>
          <a:xfrm xmlns:a="http://schemas.openxmlformats.org/drawingml/2006/main">
            <a:off x="22225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6" name="merchant-flow-edge-1"/>
          <p:cNvCxnSpPr/>
          <p:nvPr/>
        </p:nvCxnSpPr>
        <p:spPr>
          <a:xfrm xmlns:a="http://schemas.openxmlformats.org/drawingml/2006/main">
            <a:off x="41211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7" name="merchant-flow-edge-2"/>
          <p:cNvCxnSpPr/>
          <p:nvPr/>
        </p:nvCxnSpPr>
        <p:spPr>
          <a:xfrm xmlns:a="http://schemas.openxmlformats.org/drawingml/2006/main">
            <a:off x="60198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8" name="merchant-flow-edge-3"/>
          <p:cNvCxnSpPr/>
          <p:nvPr/>
        </p:nvCxnSpPr>
        <p:spPr>
          <a:xfrm xmlns:a="http://schemas.openxmlformats.org/drawingml/2006/main">
            <a:off x="79184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merchant-flow-edge-4"/>
          <p:cNvCxnSpPr/>
          <p:nvPr/>
        </p:nvCxnSpPr>
        <p:spPr>
          <a:xfrm xmlns:a="http://schemas.openxmlformats.org/drawingml/2006/main">
            <a:off x="98171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merchant-flow-node-0">
            <a:extLst xmlns:a="http://schemas.openxmlformats.org/drawingml/2006/main">
              <a:ext uri="{FF2B5EF4-FFF2-40B4-BE49-F238E27FC236}">
                <a16:creationId xmlns:a16="http://schemas.microsoft.com/office/drawing/2014/main" id="{E2F4E7CF-EA91-4D0C-AEF0-48544043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merchant-flow-step-0">
            <a:extLst xmlns:a="http://schemas.openxmlformats.org/drawingml/2006/main">
              <a:ext uri="{FF2B5EF4-FFF2-40B4-BE49-F238E27FC236}">
                <a16:creationId xmlns:a16="http://schemas.microsoft.com/office/drawing/2014/main" id="{74491F5F-4A52-4E9B-ACDE-91EE29BF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merchant-flow-copy-0">
            <a:extLst xmlns:a="http://schemas.openxmlformats.org/drawingml/2006/main">
              <a:ext uri="{FF2B5EF4-FFF2-40B4-BE49-F238E27FC236}">
                <a16:creationId xmlns:a16="http://schemas.microsoft.com/office/drawing/2014/main" id="{2F927D04-2DAF-495D-B57A-CCBB9DF8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Register + approve</a:t>
            </a:r>
          </a:p>
        </p:txBody>
      </p:sp>
      <p:sp>
        <p:nvSpPr>
          <p:cNvPr id="12" name="merchant-flow-node-1">
            <a:extLst xmlns:a="http://schemas.openxmlformats.org/drawingml/2006/main">
              <a:ext uri="{FF2B5EF4-FFF2-40B4-BE49-F238E27FC236}">
                <a16:creationId xmlns:a16="http://schemas.microsoft.com/office/drawing/2014/main" id="{241737E3-F814-424D-B5C3-B70D252D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merchant-flow-step-1">
            <a:extLst xmlns:a="http://schemas.openxmlformats.org/drawingml/2006/main">
              <a:ext uri="{FF2B5EF4-FFF2-40B4-BE49-F238E27FC236}">
                <a16:creationId xmlns:a16="http://schemas.microsoft.com/office/drawing/2014/main" id="{857BCBF2-8739-4BBA-B18B-E54D92A9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merchant-flow-copy-1">
            <a:extLst xmlns:a="http://schemas.openxmlformats.org/drawingml/2006/main">
              <a:ext uri="{FF2B5EF4-FFF2-40B4-BE49-F238E27FC236}">
                <a16:creationId xmlns:a16="http://schemas.microsoft.com/office/drawing/2014/main" id="{5379B8DA-6056-41A2-B44B-9C13B5B7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Create order</a:t>
            </a:r>
          </a:p>
        </p:txBody>
      </p:sp>
      <p:sp>
        <p:nvSpPr>
          <p:cNvPr id="15" name="merchant-flow-node-2">
            <a:extLst xmlns:a="http://schemas.openxmlformats.org/drawingml/2006/main">
              <a:ext uri="{FF2B5EF4-FFF2-40B4-BE49-F238E27FC236}">
                <a16:creationId xmlns:a16="http://schemas.microsoft.com/office/drawing/2014/main" id="{CD05C79C-3A69-480C-86F0-CAC9F275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merchant-flow-step-2">
            <a:extLst xmlns:a="http://schemas.openxmlformats.org/drawingml/2006/main">
              <a:ext uri="{FF2B5EF4-FFF2-40B4-BE49-F238E27FC236}">
                <a16:creationId xmlns:a16="http://schemas.microsoft.com/office/drawing/2014/main" id="{A79228EA-B252-4705-BBB0-89FAEE81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merchant-flow-copy-2">
            <a:extLst xmlns:a="http://schemas.openxmlformats.org/drawingml/2006/main">
              <a:ext uri="{FF2B5EF4-FFF2-40B4-BE49-F238E27FC236}">
                <a16:creationId xmlns:a16="http://schemas.microsoft.com/office/drawing/2014/main" id="{0F9C93B7-4EAF-4A32-AA2B-857D7BE2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Print label</a:t>
            </a:r>
          </a:p>
        </p:txBody>
      </p:sp>
      <p:sp>
        <p:nvSpPr>
          <p:cNvPr id="18" name="merchant-flow-node-3">
            <a:extLst xmlns:a="http://schemas.openxmlformats.org/drawingml/2006/main">
              <a:ext uri="{FF2B5EF4-FFF2-40B4-BE49-F238E27FC236}">
                <a16:creationId xmlns:a16="http://schemas.microsoft.com/office/drawing/2014/main" id="{AA239A63-26B8-42B6-91E0-6989F8AC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merchant-flow-step-3">
            <a:extLst xmlns:a="http://schemas.openxmlformats.org/drawingml/2006/main">
              <a:ext uri="{FF2B5EF4-FFF2-40B4-BE49-F238E27FC236}">
                <a16:creationId xmlns:a16="http://schemas.microsoft.com/office/drawing/2014/main" id="{9222C902-508D-48E3-9DD7-8C7BAB23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merchant-flow-copy-3">
            <a:extLst xmlns:a="http://schemas.openxmlformats.org/drawingml/2006/main">
              <a:ext uri="{FF2B5EF4-FFF2-40B4-BE49-F238E27FC236}">
                <a16:creationId xmlns:a16="http://schemas.microsoft.com/office/drawing/2014/main" id="{F92786BB-3B7A-4EAD-82E6-5B4B2919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Pickup / rider</a:t>
            </a:r>
          </a:p>
        </p:txBody>
      </p:sp>
      <p:sp>
        <p:nvSpPr>
          <p:cNvPr id="21" name="merchant-flow-node-4">
            <a:extLst xmlns:a="http://schemas.openxmlformats.org/drawingml/2006/main">
              <a:ext uri="{FF2B5EF4-FFF2-40B4-BE49-F238E27FC236}">
                <a16:creationId xmlns:a16="http://schemas.microsoft.com/office/drawing/2014/main" id="{3C1B0644-5C71-4716-B586-453F73BB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merchant-flow-step-4">
            <a:extLst xmlns:a="http://schemas.openxmlformats.org/drawingml/2006/main">
              <a:ext uri="{FF2B5EF4-FFF2-40B4-BE49-F238E27FC236}">
                <a16:creationId xmlns:a16="http://schemas.microsoft.com/office/drawing/2014/main" id="{51D7C1E5-82EF-445C-93BA-D2440E0C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merchant-flow-copy-4">
            <a:extLst xmlns:a="http://schemas.openxmlformats.org/drawingml/2006/main">
              <a:ext uri="{FF2B5EF4-FFF2-40B4-BE49-F238E27FC236}">
                <a16:creationId xmlns:a16="http://schemas.microsoft.com/office/drawing/2014/main" id="{06619C9A-CE53-4704-A10D-00B82A31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Track + support</a:t>
            </a:r>
          </a:p>
        </p:txBody>
      </p:sp>
      <p:sp>
        <p:nvSpPr>
          <p:cNvPr id="24" name="merchant-flow-node-5">
            <a:extLst xmlns:a="http://schemas.openxmlformats.org/drawingml/2006/main">
              <a:ext uri="{FF2B5EF4-FFF2-40B4-BE49-F238E27FC236}">
                <a16:creationId xmlns:a16="http://schemas.microsoft.com/office/drawing/2014/main" id="{831518B9-83D5-438C-A24A-9A57AD3A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merchant-flow-step-5">
            <a:extLst xmlns:a="http://schemas.openxmlformats.org/drawingml/2006/main">
              <a:ext uri="{FF2B5EF4-FFF2-40B4-BE49-F238E27FC236}">
                <a16:creationId xmlns:a16="http://schemas.microsoft.com/office/drawing/2014/main" id="{A5E37A8F-57E4-4A33-889C-483E56F3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merchant-flow-copy-5">
            <a:extLst xmlns:a="http://schemas.openxmlformats.org/drawingml/2006/main">
              <a:ext uri="{FF2B5EF4-FFF2-40B4-BE49-F238E27FC236}">
                <a16:creationId xmlns:a16="http://schemas.microsoft.com/office/drawing/2014/main" id="{7776125E-8501-4F56-8349-FB8279C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COD / payout</a:t>
            </a:r>
          </a:p>
        </p:txBody>
      </p:sp>
      <p:sp>
        <p:nvSpPr>
          <p:cNvPr id="27" name="merchant-flow-control-box">
            <a:extLst xmlns:a="http://schemas.openxmlformats.org/drawingml/2006/main">
              <a:ext uri="{FF2B5EF4-FFF2-40B4-BE49-F238E27FC236}">
                <a16:creationId xmlns:a16="http://schemas.microsoft.com/office/drawing/2014/main" id="{42AEEBA1-BE4A-4C31-9B58-420D307A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123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8" name="merchant-flow-control-head">
            <a:extLst xmlns:a="http://schemas.openxmlformats.org/drawingml/2006/main">
              <a:ext uri="{FF2B5EF4-FFF2-40B4-BE49-F238E27FC236}">
                <a16:creationId xmlns:a16="http://schemas.microsoft.com/office/drawing/2014/main" id="{FA6F593B-2870-4185-8840-87BD5FF0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OPERATIONAL CONTROL</a:t>
            </a:r>
          </a:p>
        </p:txBody>
      </p:sp>
      <p:sp>
        <p:nvSpPr>
          <p:cNvPr id="29" name="merchant-flow-control-copy">
            <a:extLst xmlns:a="http://schemas.openxmlformats.org/drawingml/2006/main">
              <a:ext uri="{FF2B5EF4-FFF2-40B4-BE49-F238E27FC236}">
                <a16:creationId xmlns:a16="http://schemas.microsoft.com/office/drawing/2014/main" id="{9FD481B1-572C-4320-B38B-EE3B1198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The seller sees only its own products, orders, shipments, wallet and support conversations. COD release should follow verified delivery and finance settlement.</a:t>
            </a:r>
          </a:p>
        </p:txBody>
      </p:sp>
      <p:sp>
        <p:nvSpPr>
          <p:cNvPr id="30" name="footer-label-19">
            <a:extLst xmlns:a="http://schemas.openxmlformats.org/drawingml/2006/main">
              <a:ext uri="{FF2B5EF4-FFF2-40B4-BE49-F238E27FC236}">
                <a16:creationId xmlns:a16="http://schemas.microsoft.com/office/drawing/2014/main" id="{4337AFEC-7C82-4129-89CC-D941ED09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1" name="footer-page-19">
            <a:extLst xmlns:a="http://schemas.openxmlformats.org/drawingml/2006/main">
              <a:ext uri="{FF2B5EF4-FFF2-40B4-BE49-F238E27FC236}">
                <a16:creationId xmlns:a16="http://schemas.microsoft.com/office/drawing/2014/main" id="{4E507E88-751C-48FD-B4FB-6130D02E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871791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ider-access-section">
            <a:extLst xmlns:a="http://schemas.openxmlformats.org/drawingml/2006/main">
              <a:ext uri="{FF2B5EF4-FFF2-40B4-BE49-F238E27FC236}">
                <a16:creationId xmlns:a16="http://schemas.microsoft.com/office/drawing/2014/main" id="{6992F4EF-F101-4212-9DA5-790D2AF2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RIDER</a:t>
            </a:r>
          </a:p>
        </p:txBody>
      </p:sp>
      <p:sp>
        <p:nvSpPr>
          <p:cNvPr id="2" name="rider-access-title">
            <a:extLst xmlns:a="http://schemas.openxmlformats.org/drawingml/2006/main">
              <a:ext uri="{FF2B5EF4-FFF2-40B4-BE49-F238E27FC236}">
                <a16:creationId xmlns:a16="http://schemas.microsoft.com/office/drawing/2014/main" id="{BCF3620F-F34A-418C-ACFF-214456DE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Riders need fast actions and strong delivery proof</a:t>
            </a:r>
          </a:p>
        </p:txBody>
      </p:sp>
      <p:cxnSp>
        <p:nvCxnSpPr>
          <p:cNvPr id="15" name="rider-access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rider-access-left">
            <a:extLst xmlns:a="http://schemas.openxmlformats.org/drawingml/2006/main">
              <a:ext uri="{FF2B5EF4-FFF2-40B4-BE49-F238E27FC236}">
                <a16:creationId xmlns:a16="http://schemas.microsoft.com/office/drawing/2014/main" id="{0EAFE6AD-0941-4A70-B253-E4CF8B3A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rider-access-right">
            <a:extLst xmlns:a="http://schemas.openxmlformats.org/drawingml/2006/main">
              <a:ext uri="{FF2B5EF4-FFF2-40B4-BE49-F238E27FC236}">
                <a16:creationId xmlns:a16="http://schemas.microsoft.com/office/drawing/2014/main" id="{2C3109A1-552C-40A2-8D9B-56836433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rider-access-lh">
            <a:extLst xmlns:a="http://schemas.openxmlformats.org/drawingml/2006/main">
              <a:ext uri="{FF2B5EF4-FFF2-40B4-BE49-F238E27FC236}">
                <a16:creationId xmlns:a16="http://schemas.microsoft.com/office/drawing/2014/main" id="{29DFAF50-E9FD-4A6E-AFBF-69D536F4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START / ACCESS</a:t>
            </a:r>
          </a:p>
        </p:txBody>
      </p:sp>
      <p:sp>
        <p:nvSpPr>
          <p:cNvPr id="7" name="rider-access-lb">
            <a:extLst xmlns:a="http://schemas.openxmlformats.org/drawingml/2006/main">
              <a:ext uri="{FF2B5EF4-FFF2-40B4-BE49-F238E27FC236}">
                <a16:creationId xmlns:a16="http://schemas.microsoft.com/office/drawing/2014/main" id="{0478168C-EF8B-4A08-93D8-783D9525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Self-register as Rider with identity, licence and vehicle information. Admin approval activates access; the rider then controls availability and location sharing.</a:t>
            </a:r>
          </a:p>
        </p:txBody>
      </p:sp>
      <p:sp>
        <p:nvSpPr>
          <p:cNvPr id="8" name="rider-access-rh">
            <a:extLst xmlns:a="http://schemas.openxmlformats.org/drawingml/2006/main">
              <a:ext uri="{FF2B5EF4-FFF2-40B4-BE49-F238E27FC236}">
                <a16:creationId xmlns:a16="http://schemas.microsoft.com/office/drawing/2014/main" id="{866B3277-1BED-4315-A287-9C0E0785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SERVICES YOU USE</a:t>
            </a:r>
          </a:p>
        </p:txBody>
      </p:sp>
      <p:sp>
        <p:nvSpPr>
          <p:cNvPr id="9" name="rider-access-rb">
            <a:extLst xmlns:a="http://schemas.openxmlformats.org/drawingml/2006/main">
              <a:ext uri="{FF2B5EF4-FFF2-40B4-BE49-F238E27FC236}">
                <a16:creationId xmlns:a16="http://schemas.microsoft.com/office/drawing/2014/main" id="{2B0A5293-655A-4131-9CA2-6FC62B77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Available and assigned jobs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Accept or reject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Pickup, transit and out-for-delivery steps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Live location updates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COD eligibility and settlement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Earnings, wallet, deposit and history</a:t>
            </a:r>
          </a:p>
        </p:txBody>
      </p:sp>
      <p:sp>
        <p:nvSpPr>
          <p:cNvPr id="10" name="rider-access-status">
            <a:extLst xmlns:a="http://schemas.openxmlformats.org/drawingml/2006/main">
              <a:ext uri="{FF2B5EF4-FFF2-40B4-BE49-F238E27FC236}">
                <a16:creationId xmlns:a16="http://schemas.microsoft.com/office/drawing/2014/main" id="{FA6BABBF-0D96-4D41-9D53-BCC1D25B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GPS is part of on-demand tracking; poor-connectivity offline synchronization remains a future resilience goal.</a:t>
            </a:r>
          </a:p>
        </p:txBody>
      </p:sp>
      <p:sp>
        <p:nvSpPr>
          <p:cNvPr id="11" name="footer-label-20">
            <a:extLst xmlns:a="http://schemas.openxmlformats.org/drawingml/2006/main">
              <a:ext uri="{FF2B5EF4-FFF2-40B4-BE49-F238E27FC236}">
                <a16:creationId xmlns:a16="http://schemas.microsoft.com/office/drawing/2014/main" id="{106E049C-A8E2-450D-A259-420C8CB0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2" name="footer-page-20">
            <a:extLst xmlns:a="http://schemas.openxmlformats.org/drawingml/2006/main">
              <a:ext uri="{FF2B5EF4-FFF2-40B4-BE49-F238E27FC236}">
                <a16:creationId xmlns:a16="http://schemas.microsoft.com/office/drawing/2014/main" id="{00552346-7738-4B15-88DF-2B8A5B1A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503679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ider-flow-section">
            <a:extLst xmlns:a="http://schemas.openxmlformats.org/drawingml/2006/main">
              <a:ext uri="{FF2B5EF4-FFF2-40B4-BE49-F238E27FC236}">
                <a16:creationId xmlns:a16="http://schemas.microsoft.com/office/drawing/2014/main" id="{856626F8-29CF-470C-8A92-F327F964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RIDER</a:t>
            </a:r>
          </a:p>
        </p:txBody>
      </p:sp>
      <p:sp>
        <p:nvSpPr>
          <p:cNvPr id="2" name="rider-flow-title">
            <a:extLst xmlns:a="http://schemas.openxmlformats.org/drawingml/2006/main">
              <a:ext uri="{FF2B5EF4-FFF2-40B4-BE49-F238E27FC236}">
                <a16:creationId xmlns:a16="http://schemas.microsoft.com/office/drawing/2014/main" id="{1E30BB91-7621-41C7-831E-11673129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Rider journey: accept, verify and complete</a:t>
            </a:r>
          </a:p>
        </p:txBody>
      </p:sp>
      <p:cxnSp>
        <p:nvCxnSpPr>
          <p:cNvPr id="34" name="rider-flow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5" name="rider-flow-edge-0"/>
          <p:cNvCxnSpPr/>
          <p:nvPr/>
        </p:nvCxnSpPr>
        <p:spPr>
          <a:xfrm xmlns:a="http://schemas.openxmlformats.org/drawingml/2006/main">
            <a:off x="22225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6" name="rider-flow-edge-1"/>
          <p:cNvCxnSpPr/>
          <p:nvPr/>
        </p:nvCxnSpPr>
        <p:spPr>
          <a:xfrm xmlns:a="http://schemas.openxmlformats.org/drawingml/2006/main">
            <a:off x="41211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7" name="rider-flow-edge-2"/>
          <p:cNvCxnSpPr/>
          <p:nvPr/>
        </p:nvCxnSpPr>
        <p:spPr>
          <a:xfrm xmlns:a="http://schemas.openxmlformats.org/drawingml/2006/main">
            <a:off x="60198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8" name="rider-flow-edge-3"/>
          <p:cNvCxnSpPr/>
          <p:nvPr/>
        </p:nvCxnSpPr>
        <p:spPr>
          <a:xfrm xmlns:a="http://schemas.openxmlformats.org/drawingml/2006/main">
            <a:off x="79184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rider-flow-edge-4"/>
          <p:cNvCxnSpPr/>
          <p:nvPr/>
        </p:nvCxnSpPr>
        <p:spPr>
          <a:xfrm xmlns:a="http://schemas.openxmlformats.org/drawingml/2006/main">
            <a:off x="98171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rider-flow-node-0">
            <a:extLst xmlns:a="http://schemas.openxmlformats.org/drawingml/2006/main">
              <a:ext uri="{FF2B5EF4-FFF2-40B4-BE49-F238E27FC236}">
                <a16:creationId xmlns:a16="http://schemas.microsoft.com/office/drawing/2014/main" id="{898AD356-0D1F-4DF0-B9A4-7705581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rider-flow-step-0">
            <a:extLst xmlns:a="http://schemas.openxmlformats.org/drawingml/2006/main">
              <a:ext uri="{FF2B5EF4-FFF2-40B4-BE49-F238E27FC236}">
                <a16:creationId xmlns:a16="http://schemas.microsoft.com/office/drawing/2014/main" id="{50DE3AF8-5A4E-4AEA-BE8C-6E158DFF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rider-flow-copy-0">
            <a:extLst xmlns:a="http://schemas.openxmlformats.org/drawingml/2006/main">
              <a:ext uri="{FF2B5EF4-FFF2-40B4-BE49-F238E27FC236}">
                <a16:creationId xmlns:a16="http://schemas.microsoft.com/office/drawing/2014/main" id="{7B988F19-4936-4B72-9629-43D30285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Go online</a:t>
            </a:r>
          </a:p>
        </p:txBody>
      </p:sp>
      <p:sp>
        <p:nvSpPr>
          <p:cNvPr id="12" name="rider-flow-node-1">
            <a:extLst xmlns:a="http://schemas.openxmlformats.org/drawingml/2006/main">
              <a:ext uri="{FF2B5EF4-FFF2-40B4-BE49-F238E27FC236}">
                <a16:creationId xmlns:a16="http://schemas.microsoft.com/office/drawing/2014/main" id="{BEE6B50A-E056-469B-9B9B-98FB23D7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rider-flow-step-1">
            <a:extLst xmlns:a="http://schemas.openxmlformats.org/drawingml/2006/main">
              <a:ext uri="{FF2B5EF4-FFF2-40B4-BE49-F238E27FC236}">
                <a16:creationId xmlns:a16="http://schemas.microsoft.com/office/drawing/2014/main" id="{E90AA8ED-2CE7-48C3-86CA-5AD1F1A0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rider-flow-copy-1">
            <a:extLst xmlns:a="http://schemas.openxmlformats.org/drawingml/2006/main">
              <a:ext uri="{FF2B5EF4-FFF2-40B4-BE49-F238E27FC236}">
                <a16:creationId xmlns:a16="http://schemas.microsoft.com/office/drawing/2014/main" id="{05841CFC-F108-45C8-B462-12E9E457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Accept job</a:t>
            </a:r>
          </a:p>
        </p:txBody>
      </p:sp>
      <p:sp>
        <p:nvSpPr>
          <p:cNvPr id="15" name="rider-flow-node-2">
            <a:extLst xmlns:a="http://schemas.openxmlformats.org/drawingml/2006/main">
              <a:ext uri="{FF2B5EF4-FFF2-40B4-BE49-F238E27FC236}">
                <a16:creationId xmlns:a16="http://schemas.microsoft.com/office/drawing/2014/main" id="{02771CD3-F5DC-4916-9D55-539976D6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rider-flow-step-2">
            <a:extLst xmlns:a="http://schemas.openxmlformats.org/drawingml/2006/main">
              <a:ext uri="{FF2B5EF4-FFF2-40B4-BE49-F238E27FC236}">
                <a16:creationId xmlns:a16="http://schemas.microsoft.com/office/drawing/2014/main" id="{E2F7D37D-7ADB-49F5-88AE-ACAA198E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rider-flow-copy-2">
            <a:extLst xmlns:a="http://schemas.openxmlformats.org/drawingml/2006/main">
              <a:ext uri="{FF2B5EF4-FFF2-40B4-BE49-F238E27FC236}">
                <a16:creationId xmlns:a16="http://schemas.microsoft.com/office/drawing/2014/main" id="{7F14E810-CE58-447A-AEEC-612C4B99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Navigate to pickup</a:t>
            </a:r>
          </a:p>
        </p:txBody>
      </p:sp>
      <p:sp>
        <p:nvSpPr>
          <p:cNvPr id="18" name="rider-flow-node-3">
            <a:extLst xmlns:a="http://schemas.openxmlformats.org/drawingml/2006/main">
              <a:ext uri="{FF2B5EF4-FFF2-40B4-BE49-F238E27FC236}">
                <a16:creationId xmlns:a16="http://schemas.microsoft.com/office/drawing/2014/main" id="{2D204612-9ECC-4D85-9BC7-73F8CE42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rider-flow-step-3">
            <a:extLst xmlns:a="http://schemas.openxmlformats.org/drawingml/2006/main">
              <a:ext uri="{FF2B5EF4-FFF2-40B4-BE49-F238E27FC236}">
                <a16:creationId xmlns:a16="http://schemas.microsoft.com/office/drawing/2014/main" id="{645B25C3-1D85-42E6-A870-BA3E36ED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rider-flow-copy-3">
            <a:extLst xmlns:a="http://schemas.openxmlformats.org/drawingml/2006/main">
              <a:ext uri="{FF2B5EF4-FFF2-40B4-BE49-F238E27FC236}">
                <a16:creationId xmlns:a16="http://schemas.microsoft.com/office/drawing/2014/main" id="{493DF844-CCFE-4219-905A-B2A21CBF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Verify pickup</a:t>
            </a:r>
          </a:p>
        </p:txBody>
      </p:sp>
      <p:sp>
        <p:nvSpPr>
          <p:cNvPr id="21" name="rider-flow-node-4">
            <a:extLst xmlns:a="http://schemas.openxmlformats.org/drawingml/2006/main">
              <a:ext uri="{FF2B5EF4-FFF2-40B4-BE49-F238E27FC236}">
                <a16:creationId xmlns:a16="http://schemas.microsoft.com/office/drawing/2014/main" id="{81713668-5FD8-48A3-BCC6-EF12045F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rider-flow-step-4">
            <a:extLst xmlns:a="http://schemas.openxmlformats.org/drawingml/2006/main">
              <a:ext uri="{FF2B5EF4-FFF2-40B4-BE49-F238E27FC236}">
                <a16:creationId xmlns:a16="http://schemas.microsoft.com/office/drawing/2014/main" id="{FFE22257-D65B-4A37-866B-0ADD8051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rider-flow-copy-4">
            <a:extLst xmlns:a="http://schemas.openxmlformats.org/drawingml/2006/main">
              <a:ext uri="{FF2B5EF4-FFF2-40B4-BE49-F238E27FC236}">
                <a16:creationId xmlns:a16="http://schemas.microsoft.com/office/drawing/2014/main" id="{30A365DC-BC24-40FD-AD74-A59C74AA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Deliver + collect COD</a:t>
            </a:r>
          </a:p>
        </p:txBody>
      </p:sp>
      <p:sp>
        <p:nvSpPr>
          <p:cNvPr id="24" name="rider-flow-node-5">
            <a:extLst xmlns:a="http://schemas.openxmlformats.org/drawingml/2006/main">
              <a:ext uri="{FF2B5EF4-FFF2-40B4-BE49-F238E27FC236}">
                <a16:creationId xmlns:a16="http://schemas.microsoft.com/office/drawing/2014/main" id="{CD5EE8D2-7907-440A-B390-07EDA902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rider-flow-step-5">
            <a:extLst xmlns:a="http://schemas.openxmlformats.org/drawingml/2006/main">
              <a:ext uri="{FF2B5EF4-FFF2-40B4-BE49-F238E27FC236}">
                <a16:creationId xmlns:a16="http://schemas.microsoft.com/office/drawing/2014/main" id="{A2256B07-8321-446F-9304-38989281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rider-flow-copy-5">
            <a:extLst xmlns:a="http://schemas.openxmlformats.org/drawingml/2006/main">
              <a:ext uri="{FF2B5EF4-FFF2-40B4-BE49-F238E27FC236}">
                <a16:creationId xmlns:a16="http://schemas.microsoft.com/office/drawing/2014/main" id="{794CC137-5378-4BB5-AC5D-62EB163F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OTP / POD + close</a:t>
            </a:r>
          </a:p>
        </p:txBody>
      </p:sp>
      <p:sp>
        <p:nvSpPr>
          <p:cNvPr id="27" name="rider-flow-control-box">
            <a:extLst xmlns:a="http://schemas.openxmlformats.org/drawingml/2006/main">
              <a:ext uri="{FF2B5EF4-FFF2-40B4-BE49-F238E27FC236}">
                <a16:creationId xmlns:a16="http://schemas.microsoft.com/office/drawing/2014/main" id="{1F6FCDE3-F729-497F-AD6D-8AEA6853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123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8" name="rider-flow-control-head">
            <a:extLst xmlns:a="http://schemas.openxmlformats.org/drawingml/2006/main">
              <a:ext uri="{FF2B5EF4-FFF2-40B4-BE49-F238E27FC236}">
                <a16:creationId xmlns:a16="http://schemas.microsoft.com/office/drawing/2014/main" id="{770897CF-9AB3-4AC1-8F02-5EA2FE33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OPERATIONAL CONTROL</a:t>
            </a:r>
          </a:p>
        </p:txBody>
      </p:sp>
      <p:sp>
        <p:nvSpPr>
          <p:cNvPr id="29" name="rider-flow-control-copy">
            <a:extLst xmlns:a="http://schemas.openxmlformats.org/drawingml/2006/main">
              <a:ext uri="{FF2B5EF4-FFF2-40B4-BE49-F238E27FC236}">
                <a16:creationId xmlns:a16="http://schemas.microsoft.com/office/drawing/2014/main" id="{530AF965-9F95-41D9-8D9A-A7CA9200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Only the assigned rider should change delivery state. Delivery completion should require proof, and COD should be accepted only within the rider deposit/control rules.</a:t>
            </a:r>
          </a:p>
        </p:txBody>
      </p:sp>
      <p:sp>
        <p:nvSpPr>
          <p:cNvPr id="30" name="footer-label-21">
            <a:extLst xmlns:a="http://schemas.openxmlformats.org/drawingml/2006/main">
              <a:ext uri="{FF2B5EF4-FFF2-40B4-BE49-F238E27FC236}">
                <a16:creationId xmlns:a16="http://schemas.microsoft.com/office/drawing/2014/main" id="{5E6F3A21-26AB-4344-8133-45D7A3EB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1" name="footer-page-21">
            <a:extLst xmlns:a="http://schemas.openxmlformats.org/drawingml/2006/main">
              <a:ext uri="{FF2B5EF4-FFF2-40B4-BE49-F238E27FC236}">
                <a16:creationId xmlns:a16="http://schemas.microsoft.com/office/drawing/2014/main" id="{4F5F8514-0D91-433A-9269-74054C2E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78843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rtner-access-section">
            <a:extLst xmlns:a="http://schemas.openxmlformats.org/drawingml/2006/main">
              <a:ext uri="{FF2B5EF4-FFF2-40B4-BE49-F238E27FC236}">
                <a16:creationId xmlns:a16="http://schemas.microsoft.com/office/drawing/2014/main" id="{AEC9DB19-BEFE-4A36-9949-B5170768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DOMESTIC PARTNER</a:t>
            </a:r>
          </a:p>
        </p:txBody>
      </p:sp>
      <p:sp>
        <p:nvSpPr>
          <p:cNvPr id="2" name="partner-access-title">
            <a:extLst xmlns:a="http://schemas.openxmlformats.org/drawingml/2006/main">
              <a:ext uri="{FF2B5EF4-FFF2-40B4-BE49-F238E27FC236}">
                <a16:creationId xmlns:a16="http://schemas.microsoft.com/office/drawing/2014/main" id="{38E5373D-B28B-4F18-AA7C-BBC06AFE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0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Domestic partners operate assigned coverage and manifests</a:t>
            </a:r>
          </a:p>
        </p:txBody>
      </p:sp>
      <p:cxnSp>
        <p:nvCxnSpPr>
          <p:cNvPr id="15" name="partner-access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partner-access-left">
            <a:extLst xmlns:a="http://schemas.openxmlformats.org/drawingml/2006/main">
              <a:ext uri="{FF2B5EF4-FFF2-40B4-BE49-F238E27FC236}">
                <a16:creationId xmlns:a16="http://schemas.microsoft.com/office/drawing/2014/main" id="{3238D25A-9D29-4DCF-A634-2B9B1D73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partner-access-right">
            <a:extLst xmlns:a="http://schemas.openxmlformats.org/drawingml/2006/main">
              <a:ext uri="{FF2B5EF4-FFF2-40B4-BE49-F238E27FC236}">
                <a16:creationId xmlns:a16="http://schemas.microsoft.com/office/drawing/2014/main" id="{E3FD4DD1-0F5D-4C70-A287-B363D498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partner-access-lh">
            <a:extLst xmlns:a="http://schemas.openxmlformats.org/drawingml/2006/main">
              <a:ext uri="{FF2B5EF4-FFF2-40B4-BE49-F238E27FC236}">
                <a16:creationId xmlns:a16="http://schemas.microsoft.com/office/drawing/2014/main" id="{2B81254F-B097-4BD6-85A8-784AE967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START / ACCESS</a:t>
            </a:r>
          </a:p>
        </p:txBody>
      </p:sp>
      <p:sp>
        <p:nvSpPr>
          <p:cNvPr id="7" name="partner-access-lb">
            <a:extLst xmlns:a="http://schemas.openxmlformats.org/drawingml/2006/main">
              <a:ext uri="{FF2B5EF4-FFF2-40B4-BE49-F238E27FC236}">
                <a16:creationId xmlns:a16="http://schemas.microsoft.com/office/drawing/2014/main" id="{2C5279BB-6819-475E-9534-CD85AD9E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Partner registration is available with business details and requires Admin approval. Staff access is created under authorized partner management.</a:t>
            </a:r>
          </a:p>
        </p:txBody>
      </p:sp>
      <p:sp>
        <p:nvSpPr>
          <p:cNvPr id="8" name="partner-access-rh">
            <a:extLst xmlns:a="http://schemas.openxmlformats.org/drawingml/2006/main">
              <a:ext uri="{FF2B5EF4-FFF2-40B4-BE49-F238E27FC236}">
                <a16:creationId xmlns:a16="http://schemas.microsoft.com/office/drawing/2014/main" id="{B63AD280-8A44-402F-8AF5-DD8084E7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SERVICES YOU USE</a:t>
            </a:r>
          </a:p>
        </p:txBody>
      </p:sp>
      <p:sp>
        <p:nvSpPr>
          <p:cNvPr id="9" name="partner-access-rb">
            <a:extLst xmlns:a="http://schemas.openxmlformats.org/drawingml/2006/main">
              <a:ext uri="{FF2B5EF4-FFF2-40B4-BE49-F238E27FC236}">
                <a16:creationId xmlns:a16="http://schemas.microsoft.com/office/drawing/2014/main" id="{C321FDB3-BD6A-4783-A8E7-05CBACAA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Assigned deliveries and exceptions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Coverage zones and rates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Manifest receipt and shipment status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Bag/shipment scanning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POD upload and review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Staff management</a:t>
            </a:r>
          </a:p>
        </p:txBody>
      </p:sp>
      <p:sp>
        <p:nvSpPr>
          <p:cNvPr id="10" name="partner-access-status">
            <a:extLst xmlns:a="http://schemas.openxmlformats.org/drawingml/2006/main">
              <a:ext uri="{FF2B5EF4-FFF2-40B4-BE49-F238E27FC236}">
                <a16:creationId xmlns:a16="http://schemas.microsoft.com/office/drawing/2014/main" id="{1FE01992-BEE3-4579-82E3-F1A1D1B4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Partner notification can fall back to an in-app database notification when no live partner API is configured.</a:t>
            </a:r>
          </a:p>
        </p:txBody>
      </p:sp>
      <p:sp>
        <p:nvSpPr>
          <p:cNvPr id="11" name="footer-label-22">
            <a:extLst xmlns:a="http://schemas.openxmlformats.org/drawingml/2006/main">
              <a:ext uri="{FF2B5EF4-FFF2-40B4-BE49-F238E27FC236}">
                <a16:creationId xmlns:a16="http://schemas.microsoft.com/office/drawing/2014/main" id="{29ED6A00-34AD-4232-A6C6-B90E6BEE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2" name="footer-page-22">
            <a:extLst xmlns:a="http://schemas.openxmlformats.org/drawingml/2006/main">
              <a:ext uri="{FF2B5EF4-FFF2-40B4-BE49-F238E27FC236}">
                <a16:creationId xmlns:a16="http://schemas.microsoft.com/office/drawing/2014/main" id="{1753DEC4-0C37-4C68-89FD-8AB835B5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1016820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rtner-flow-section">
            <a:extLst xmlns:a="http://schemas.openxmlformats.org/drawingml/2006/main">
              <a:ext uri="{FF2B5EF4-FFF2-40B4-BE49-F238E27FC236}">
                <a16:creationId xmlns:a16="http://schemas.microsoft.com/office/drawing/2014/main" id="{1061CEFE-41B0-4750-8EAF-A7981851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DOMESTIC PARTNER</a:t>
            </a:r>
          </a:p>
        </p:txBody>
      </p:sp>
      <p:sp>
        <p:nvSpPr>
          <p:cNvPr id="2" name="partner-flow-title">
            <a:extLst xmlns:a="http://schemas.openxmlformats.org/drawingml/2006/main">
              <a:ext uri="{FF2B5EF4-FFF2-40B4-BE49-F238E27FC236}">
                <a16:creationId xmlns:a16="http://schemas.microsoft.com/office/drawing/2014/main" id="{74C1ABF0-8D15-4FD3-889F-8DB4AD3A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Domestic partner journey: receive, scan, deliver or forward</a:t>
            </a:r>
          </a:p>
        </p:txBody>
      </p:sp>
      <p:cxnSp>
        <p:nvCxnSpPr>
          <p:cNvPr id="34" name="partner-flow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5" name="partner-flow-edge-0"/>
          <p:cNvCxnSpPr/>
          <p:nvPr/>
        </p:nvCxnSpPr>
        <p:spPr>
          <a:xfrm xmlns:a="http://schemas.openxmlformats.org/drawingml/2006/main">
            <a:off x="22225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6" name="partner-flow-edge-1"/>
          <p:cNvCxnSpPr/>
          <p:nvPr/>
        </p:nvCxnSpPr>
        <p:spPr>
          <a:xfrm xmlns:a="http://schemas.openxmlformats.org/drawingml/2006/main">
            <a:off x="41211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7" name="partner-flow-edge-2"/>
          <p:cNvCxnSpPr/>
          <p:nvPr/>
        </p:nvCxnSpPr>
        <p:spPr>
          <a:xfrm xmlns:a="http://schemas.openxmlformats.org/drawingml/2006/main">
            <a:off x="60198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8" name="partner-flow-edge-3"/>
          <p:cNvCxnSpPr/>
          <p:nvPr/>
        </p:nvCxnSpPr>
        <p:spPr>
          <a:xfrm xmlns:a="http://schemas.openxmlformats.org/drawingml/2006/main">
            <a:off x="79184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partner-flow-edge-4"/>
          <p:cNvCxnSpPr/>
          <p:nvPr/>
        </p:nvCxnSpPr>
        <p:spPr>
          <a:xfrm xmlns:a="http://schemas.openxmlformats.org/drawingml/2006/main">
            <a:off x="98171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partner-flow-node-0">
            <a:extLst xmlns:a="http://schemas.openxmlformats.org/drawingml/2006/main">
              <a:ext uri="{FF2B5EF4-FFF2-40B4-BE49-F238E27FC236}">
                <a16:creationId xmlns:a16="http://schemas.microsoft.com/office/drawing/2014/main" id="{7AE01F09-42BB-4280-8A5B-11FB346F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partner-flow-step-0">
            <a:extLst xmlns:a="http://schemas.openxmlformats.org/drawingml/2006/main">
              <a:ext uri="{FF2B5EF4-FFF2-40B4-BE49-F238E27FC236}">
                <a16:creationId xmlns:a16="http://schemas.microsoft.com/office/drawing/2014/main" id="{E5107239-304E-4A87-962F-F00295CE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partner-flow-copy-0">
            <a:extLst xmlns:a="http://schemas.openxmlformats.org/drawingml/2006/main">
              <a:ext uri="{FF2B5EF4-FFF2-40B4-BE49-F238E27FC236}">
                <a16:creationId xmlns:a16="http://schemas.microsoft.com/office/drawing/2014/main" id="{439BFDE5-168E-4DEE-B78F-CEBB21D5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View manifest</a:t>
            </a:r>
          </a:p>
        </p:txBody>
      </p:sp>
      <p:sp>
        <p:nvSpPr>
          <p:cNvPr id="12" name="partner-flow-node-1">
            <a:extLst xmlns:a="http://schemas.openxmlformats.org/drawingml/2006/main">
              <a:ext uri="{FF2B5EF4-FFF2-40B4-BE49-F238E27FC236}">
                <a16:creationId xmlns:a16="http://schemas.microsoft.com/office/drawing/2014/main" id="{6D13DF6D-12D4-4521-87D5-8170D622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partner-flow-step-1">
            <a:extLst xmlns:a="http://schemas.openxmlformats.org/drawingml/2006/main">
              <a:ext uri="{FF2B5EF4-FFF2-40B4-BE49-F238E27FC236}">
                <a16:creationId xmlns:a16="http://schemas.microsoft.com/office/drawing/2014/main" id="{98941FE0-E4A3-4F3A-9556-4529C51D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partner-flow-copy-1">
            <a:extLst xmlns:a="http://schemas.openxmlformats.org/drawingml/2006/main">
              <a:ext uri="{FF2B5EF4-FFF2-40B4-BE49-F238E27FC236}">
                <a16:creationId xmlns:a16="http://schemas.microsoft.com/office/drawing/2014/main" id="{2666CDAF-4B0A-4776-B3B9-25B642DD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Receive shipment</a:t>
            </a:r>
          </a:p>
        </p:txBody>
      </p:sp>
      <p:sp>
        <p:nvSpPr>
          <p:cNvPr id="15" name="partner-flow-node-2">
            <a:extLst xmlns:a="http://schemas.openxmlformats.org/drawingml/2006/main">
              <a:ext uri="{FF2B5EF4-FFF2-40B4-BE49-F238E27FC236}">
                <a16:creationId xmlns:a16="http://schemas.microsoft.com/office/drawing/2014/main" id="{AE8C9908-32B0-4DE4-9874-CC9521CB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partner-flow-step-2">
            <a:extLst xmlns:a="http://schemas.openxmlformats.org/drawingml/2006/main">
              <a:ext uri="{FF2B5EF4-FFF2-40B4-BE49-F238E27FC236}">
                <a16:creationId xmlns:a16="http://schemas.microsoft.com/office/drawing/2014/main" id="{96FEA114-5730-47BA-922F-40412559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partner-flow-copy-2">
            <a:extLst xmlns:a="http://schemas.openxmlformats.org/drawingml/2006/main">
              <a:ext uri="{FF2B5EF4-FFF2-40B4-BE49-F238E27FC236}">
                <a16:creationId xmlns:a16="http://schemas.microsoft.com/office/drawing/2014/main" id="{1A24FCC1-DE27-469D-8287-363359A0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Process / scan</a:t>
            </a:r>
          </a:p>
        </p:txBody>
      </p:sp>
      <p:sp>
        <p:nvSpPr>
          <p:cNvPr id="18" name="partner-flow-node-3">
            <a:extLst xmlns:a="http://schemas.openxmlformats.org/drawingml/2006/main">
              <a:ext uri="{FF2B5EF4-FFF2-40B4-BE49-F238E27FC236}">
                <a16:creationId xmlns:a16="http://schemas.microsoft.com/office/drawing/2014/main" id="{C3098D88-A2EC-42CE-8FB1-009EF30B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partner-flow-step-3">
            <a:extLst xmlns:a="http://schemas.openxmlformats.org/drawingml/2006/main">
              <a:ext uri="{FF2B5EF4-FFF2-40B4-BE49-F238E27FC236}">
                <a16:creationId xmlns:a16="http://schemas.microsoft.com/office/drawing/2014/main" id="{A986885F-720E-4B59-BF42-E673E9CA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partner-flow-copy-3">
            <a:extLst xmlns:a="http://schemas.openxmlformats.org/drawingml/2006/main">
              <a:ext uri="{FF2B5EF4-FFF2-40B4-BE49-F238E27FC236}">
                <a16:creationId xmlns:a16="http://schemas.microsoft.com/office/drawing/2014/main" id="{A6C42D46-9188-413D-96E9-30889C47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Dispatch</a:t>
            </a:r>
          </a:p>
        </p:txBody>
      </p:sp>
      <p:sp>
        <p:nvSpPr>
          <p:cNvPr id="21" name="partner-flow-node-4">
            <a:extLst xmlns:a="http://schemas.openxmlformats.org/drawingml/2006/main">
              <a:ext uri="{FF2B5EF4-FFF2-40B4-BE49-F238E27FC236}">
                <a16:creationId xmlns:a16="http://schemas.microsoft.com/office/drawing/2014/main" id="{35583B2C-B6B3-4F0D-95D0-1147ED9B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partner-flow-step-4">
            <a:extLst xmlns:a="http://schemas.openxmlformats.org/drawingml/2006/main">
              <a:ext uri="{FF2B5EF4-FFF2-40B4-BE49-F238E27FC236}">
                <a16:creationId xmlns:a16="http://schemas.microsoft.com/office/drawing/2014/main" id="{BE4183BF-0975-46CD-A8E1-1179502D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partner-flow-copy-4">
            <a:extLst xmlns:a="http://schemas.openxmlformats.org/drawingml/2006/main">
              <a:ext uri="{FF2B5EF4-FFF2-40B4-BE49-F238E27FC236}">
                <a16:creationId xmlns:a16="http://schemas.microsoft.com/office/drawing/2014/main" id="{573CC61F-1ACF-42EC-B71D-0B066D0D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Deliver + POD</a:t>
            </a:r>
          </a:p>
        </p:txBody>
      </p:sp>
      <p:sp>
        <p:nvSpPr>
          <p:cNvPr id="24" name="partner-flow-node-5">
            <a:extLst xmlns:a="http://schemas.openxmlformats.org/drawingml/2006/main">
              <a:ext uri="{FF2B5EF4-FFF2-40B4-BE49-F238E27FC236}">
                <a16:creationId xmlns:a16="http://schemas.microsoft.com/office/drawing/2014/main" id="{F6E6A8AC-395F-4F30-93D9-86771D34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partner-flow-step-5">
            <a:extLst xmlns:a="http://schemas.openxmlformats.org/drawingml/2006/main">
              <a:ext uri="{FF2B5EF4-FFF2-40B4-BE49-F238E27FC236}">
                <a16:creationId xmlns:a16="http://schemas.microsoft.com/office/drawing/2014/main" id="{036454B3-EC03-4127-9B94-9889F27B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partner-flow-copy-5">
            <a:extLst xmlns:a="http://schemas.openxmlformats.org/drawingml/2006/main">
              <a:ext uri="{FF2B5EF4-FFF2-40B4-BE49-F238E27FC236}">
                <a16:creationId xmlns:a16="http://schemas.microsoft.com/office/drawing/2014/main" id="{598EA880-2213-431F-BD5C-91217728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Exception / forward</a:t>
            </a:r>
          </a:p>
        </p:txBody>
      </p:sp>
      <p:sp>
        <p:nvSpPr>
          <p:cNvPr id="27" name="partner-flow-control-box">
            <a:extLst xmlns:a="http://schemas.openxmlformats.org/drawingml/2006/main">
              <a:ext uri="{FF2B5EF4-FFF2-40B4-BE49-F238E27FC236}">
                <a16:creationId xmlns:a16="http://schemas.microsoft.com/office/drawing/2014/main" id="{74835A0B-B206-4559-AD66-96388FA7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123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8" name="partner-flow-control-head">
            <a:extLst xmlns:a="http://schemas.openxmlformats.org/drawingml/2006/main">
              <a:ext uri="{FF2B5EF4-FFF2-40B4-BE49-F238E27FC236}">
                <a16:creationId xmlns:a16="http://schemas.microsoft.com/office/drawing/2014/main" id="{3D52CEAA-EA18-4E7B-9820-075A88AD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OPERATIONAL CONTROL</a:t>
            </a:r>
          </a:p>
        </p:txBody>
      </p:sp>
      <p:sp>
        <p:nvSpPr>
          <p:cNvPr id="29" name="partner-flow-control-copy">
            <a:extLst xmlns:a="http://schemas.openxmlformats.org/drawingml/2006/main">
              <a:ext uri="{FF2B5EF4-FFF2-40B4-BE49-F238E27FC236}">
                <a16:creationId xmlns:a16="http://schemas.microsoft.com/office/drawing/2014/main" id="{374A0FBA-814E-4465-8ADE-39843534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Duplicate manifest assignment and invalid state transitions should be blocked. Forwarding must preserve the previous partner, new partner, actor, reason and timestamp.</a:t>
            </a:r>
          </a:p>
        </p:txBody>
      </p:sp>
      <p:sp>
        <p:nvSpPr>
          <p:cNvPr id="30" name="footer-label-23">
            <a:extLst xmlns:a="http://schemas.openxmlformats.org/drawingml/2006/main">
              <a:ext uri="{FF2B5EF4-FFF2-40B4-BE49-F238E27FC236}">
                <a16:creationId xmlns:a16="http://schemas.microsoft.com/office/drawing/2014/main" id="{79B77406-9A10-4915-9190-A4CA879F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1" name="footer-page-23">
            <a:extLst xmlns:a="http://schemas.openxmlformats.org/drawingml/2006/main">
              <a:ext uri="{FF2B5EF4-FFF2-40B4-BE49-F238E27FC236}">
                <a16:creationId xmlns:a16="http://schemas.microsoft.com/office/drawing/2014/main" id="{D2FFD8E6-119A-4FD0-88FB-45D5B42F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479752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overseas-access-section">
            <a:extLst xmlns:a="http://schemas.openxmlformats.org/drawingml/2006/main">
              <a:ext uri="{FF2B5EF4-FFF2-40B4-BE49-F238E27FC236}">
                <a16:creationId xmlns:a16="http://schemas.microsoft.com/office/drawing/2014/main" id="{2CCAE0CF-086F-4E8B-B531-1A0036D7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OVERSEAS / INTERNATIONAL PARTNER</a:t>
            </a:r>
          </a:p>
        </p:txBody>
      </p:sp>
      <p:sp>
        <p:nvSpPr>
          <p:cNvPr id="2" name="overseas-access-title">
            <a:extLst xmlns:a="http://schemas.openxmlformats.org/drawingml/2006/main">
              <a:ext uri="{FF2B5EF4-FFF2-40B4-BE49-F238E27FC236}">
                <a16:creationId xmlns:a16="http://schemas.microsoft.com/office/drawing/2014/main" id="{805C87CD-3E82-4031-BC21-68B30214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Overseas partners keep cross-border movement visible</a:t>
            </a:r>
          </a:p>
        </p:txBody>
      </p:sp>
      <p:cxnSp>
        <p:nvCxnSpPr>
          <p:cNvPr id="15" name="overseas-access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overseas-access-left">
            <a:extLst xmlns:a="http://schemas.openxmlformats.org/drawingml/2006/main">
              <a:ext uri="{FF2B5EF4-FFF2-40B4-BE49-F238E27FC236}">
                <a16:creationId xmlns:a16="http://schemas.microsoft.com/office/drawing/2014/main" id="{96B9E3A4-2141-422F-BEFF-BABAF592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overseas-access-right">
            <a:extLst xmlns:a="http://schemas.openxmlformats.org/drawingml/2006/main">
              <a:ext uri="{FF2B5EF4-FFF2-40B4-BE49-F238E27FC236}">
                <a16:creationId xmlns:a16="http://schemas.microsoft.com/office/drawing/2014/main" id="{DEBC0A06-D6AE-4546-8EF9-830843B2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overseas-access-lh">
            <a:extLst xmlns:a="http://schemas.openxmlformats.org/drawingml/2006/main">
              <a:ext uri="{FF2B5EF4-FFF2-40B4-BE49-F238E27FC236}">
                <a16:creationId xmlns:a16="http://schemas.microsoft.com/office/drawing/2014/main" id="{A1E56647-A45A-4AF1-9E2C-E987CD26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START / ACCESS</a:t>
            </a:r>
          </a:p>
        </p:txBody>
      </p:sp>
      <p:sp>
        <p:nvSpPr>
          <p:cNvPr id="7" name="overseas-access-lb">
            <a:extLst xmlns:a="http://schemas.openxmlformats.org/drawingml/2006/main">
              <a:ext uri="{FF2B5EF4-FFF2-40B4-BE49-F238E27FC236}">
                <a16:creationId xmlns:a16="http://schemas.microsoft.com/office/drawing/2014/main" id="{53F03A47-38C9-4828-9A58-41AFD88A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Access is controlled by authorized administration. Partner and staff users log in to their assigned overseas workspace rather than public customer registration.</a:t>
            </a:r>
          </a:p>
        </p:txBody>
      </p:sp>
      <p:sp>
        <p:nvSpPr>
          <p:cNvPr id="8" name="overseas-access-rh">
            <a:extLst xmlns:a="http://schemas.openxmlformats.org/drawingml/2006/main">
              <a:ext uri="{FF2B5EF4-FFF2-40B4-BE49-F238E27FC236}">
                <a16:creationId xmlns:a16="http://schemas.microsoft.com/office/drawing/2014/main" id="{905E140C-51E8-4004-A019-49433AFD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SERVICES YOU USE</a:t>
            </a:r>
          </a:p>
        </p:txBody>
      </p:sp>
      <p:sp>
        <p:nvSpPr>
          <p:cNvPr id="9" name="overseas-access-rb">
            <a:extLst xmlns:a="http://schemas.openxmlformats.org/drawingml/2006/main">
              <a:ext uri="{FF2B5EF4-FFF2-40B4-BE49-F238E27FC236}">
                <a16:creationId xmlns:a16="http://schemas.microsoft.com/office/drawing/2014/main" id="{B93E7D6D-6541-4803-94BA-38CE063C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Assigned international shipments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Hubs and transit points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Scan-based status updates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Shipment documents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Partner/staff operations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Exception and delivery updates</a:t>
            </a:r>
          </a:p>
        </p:txBody>
      </p:sp>
      <p:sp>
        <p:nvSpPr>
          <p:cNvPr id="10" name="overseas-access-status">
            <a:extLst xmlns:a="http://schemas.openxmlformats.org/drawingml/2006/main">
              <a:ext uri="{FF2B5EF4-FFF2-40B4-BE49-F238E27FC236}">
                <a16:creationId xmlns:a16="http://schemas.microsoft.com/office/drawing/2014/main" id="{015E869B-D5DC-411E-A86E-6C246AFE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Official carrier APIs are not assumed active. Carrier credentials, webhook contracts and event mapping are required for live automation.</a:t>
            </a:r>
          </a:p>
        </p:txBody>
      </p:sp>
      <p:sp>
        <p:nvSpPr>
          <p:cNvPr id="11" name="footer-label-24">
            <a:extLst xmlns:a="http://schemas.openxmlformats.org/drawingml/2006/main">
              <a:ext uri="{FF2B5EF4-FFF2-40B4-BE49-F238E27FC236}">
                <a16:creationId xmlns:a16="http://schemas.microsoft.com/office/drawing/2014/main" id="{15CEF989-1B73-4489-91F1-73452095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2" name="footer-page-24">
            <a:extLst xmlns:a="http://schemas.openxmlformats.org/drawingml/2006/main">
              <a:ext uri="{FF2B5EF4-FFF2-40B4-BE49-F238E27FC236}">
                <a16:creationId xmlns:a16="http://schemas.microsoft.com/office/drawing/2014/main" id="{FC4A3E8D-7CCC-4D80-A5CC-F3B487D1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680390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overseas-flow-section">
            <a:extLst xmlns:a="http://schemas.openxmlformats.org/drawingml/2006/main">
              <a:ext uri="{FF2B5EF4-FFF2-40B4-BE49-F238E27FC236}">
                <a16:creationId xmlns:a16="http://schemas.microsoft.com/office/drawing/2014/main" id="{BB137AC1-A935-4B17-B092-96BB8DB4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OVERSEAS / INTERNATIONAL PARTNER</a:t>
            </a:r>
          </a:p>
        </p:txBody>
      </p:sp>
      <p:sp>
        <p:nvSpPr>
          <p:cNvPr id="2" name="overseas-flow-title">
            <a:extLst xmlns:a="http://schemas.openxmlformats.org/drawingml/2006/main">
              <a:ext uri="{FF2B5EF4-FFF2-40B4-BE49-F238E27FC236}">
                <a16:creationId xmlns:a16="http://schemas.microsoft.com/office/drawing/2014/main" id="{924146C2-97DD-4722-BC98-87821BA2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Overseas journey: scan each custody change</a:t>
            </a:r>
          </a:p>
        </p:txBody>
      </p:sp>
      <p:cxnSp>
        <p:nvCxnSpPr>
          <p:cNvPr id="34" name="overseas-flow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5" name="overseas-flow-edge-0"/>
          <p:cNvCxnSpPr/>
          <p:nvPr/>
        </p:nvCxnSpPr>
        <p:spPr>
          <a:xfrm xmlns:a="http://schemas.openxmlformats.org/drawingml/2006/main">
            <a:off x="22225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6" name="overseas-flow-edge-1"/>
          <p:cNvCxnSpPr/>
          <p:nvPr/>
        </p:nvCxnSpPr>
        <p:spPr>
          <a:xfrm xmlns:a="http://schemas.openxmlformats.org/drawingml/2006/main">
            <a:off x="41211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7" name="overseas-flow-edge-2"/>
          <p:cNvCxnSpPr/>
          <p:nvPr/>
        </p:nvCxnSpPr>
        <p:spPr>
          <a:xfrm xmlns:a="http://schemas.openxmlformats.org/drawingml/2006/main">
            <a:off x="60198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8" name="overseas-flow-edge-3"/>
          <p:cNvCxnSpPr/>
          <p:nvPr/>
        </p:nvCxnSpPr>
        <p:spPr>
          <a:xfrm xmlns:a="http://schemas.openxmlformats.org/drawingml/2006/main">
            <a:off x="79184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overseas-flow-edge-4"/>
          <p:cNvCxnSpPr/>
          <p:nvPr/>
        </p:nvCxnSpPr>
        <p:spPr>
          <a:xfrm xmlns:a="http://schemas.openxmlformats.org/drawingml/2006/main">
            <a:off x="98171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overseas-flow-node-0">
            <a:extLst xmlns:a="http://schemas.openxmlformats.org/drawingml/2006/main">
              <a:ext uri="{FF2B5EF4-FFF2-40B4-BE49-F238E27FC236}">
                <a16:creationId xmlns:a16="http://schemas.microsoft.com/office/drawing/2014/main" id="{33A41597-D943-4D4E-AD08-B76ABDC3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overseas-flow-step-0">
            <a:extLst xmlns:a="http://schemas.openxmlformats.org/drawingml/2006/main">
              <a:ext uri="{FF2B5EF4-FFF2-40B4-BE49-F238E27FC236}">
                <a16:creationId xmlns:a16="http://schemas.microsoft.com/office/drawing/2014/main" id="{464BF4E6-C273-42A8-831A-05A31018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overseas-flow-copy-0">
            <a:extLst xmlns:a="http://schemas.openxmlformats.org/drawingml/2006/main">
              <a:ext uri="{FF2B5EF4-FFF2-40B4-BE49-F238E27FC236}">
                <a16:creationId xmlns:a16="http://schemas.microsoft.com/office/drawing/2014/main" id="{9E824598-77E7-4A0D-904A-45D80D4A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Assigned shipment</a:t>
            </a:r>
          </a:p>
        </p:txBody>
      </p:sp>
      <p:sp>
        <p:nvSpPr>
          <p:cNvPr id="12" name="overseas-flow-node-1">
            <a:extLst xmlns:a="http://schemas.openxmlformats.org/drawingml/2006/main">
              <a:ext uri="{FF2B5EF4-FFF2-40B4-BE49-F238E27FC236}">
                <a16:creationId xmlns:a16="http://schemas.microsoft.com/office/drawing/2014/main" id="{52C47A7B-16C8-4D0E-A16A-32F189B1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overseas-flow-step-1">
            <a:extLst xmlns:a="http://schemas.openxmlformats.org/drawingml/2006/main">
              <a:ext uri="{FF2B5EF4-FFF2-40B4-BE49-F238E27FC236}">
                <a16:creationId xmlns:a16="http://schemas.microsoft.com/office/drawing/2014/main" id="{53311A26-5AA2-41A9-A1C7-F916E350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overseas-flow-copy-1">
            <a:extLst xmlns:a="http://schemas.openxmlformats.org/drawingml/2006/main">
              <a:ext uri="{FF2B5EF4-FFF2-40B4-BE49-F238E27FC236}">
                <a16:creationId xmlns:a16="http://schemas.microsoft.com/office/drawing/2014/main" id="{124E06CB-A29B-47FB-83E6-60E11D59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Origin hub scan</a:t>
            </a:r>
          </a:p>
        </p:txBody>
      </p:sp>
      <p:sp>
        <p:nvSpPr>
          <p:cNvPr id="15" name="overseas-flow-node-2">
            <a:extLst xmlns:a="http://schemas.openxmlformats.org/drawingml/2006/main">
              <a:ext uri="{FF2B5EF4-FFF2-40B4-BE49-F238E27FC236}">
                <a16:creationId xmlns:a16="http://schemas.microsoft.com/office/drawing/2014/main" id="{3E974BCC-8B0D-4A90-BBEC-34498F8A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overseas-flow-step-2">
            <a:extLst xmlns:a="http://schemas.openxmlformats.org/drawingml/2006/main">
              <a:ext uri="{FF2B5EF4-FFF2-40B4-BE49-F238E27FC236}">
                <a16:creationId xmlns:a16="http://schemas.microsoft.com/office/drawing/2014/main" id="{31C5857C-2229-443F-A713-B069A9E6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overseas-flow-copy-2">
            <a:extLst xmlns:a="http://schemas.openxmlformats.org/drawingml/2006/main">
              <a:ext uri="{FF2B5EF4-FFF2-40B4-BE49-F238E27FC236}">
                <a16:creationId xmlns:a16="http://schemas.microsoft.com/office/drawing/2014/main" id="{18B62639-C63A-4CDE-94CC-F6E9EE6B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Transit update</a:t>
            </a:r>
          </a:p>
        </p:txBody>
      </p:sp>
      <p:sp>
        <p:nvSpPr>
          <p:cNvPr id="18" name="overseas-flow-node-3">
            <a:extLst xmlns:a="http://schemas.openxmlformats.org/drawingml/2006/main">
              <a:ext uri="{FF2B5EF4-FFF2-40B4-BE49-F238E27FC236}">
                <a16:creationId xmlns:a16="http://schemas.microsoft.com/office/drawing/2014/main" id="{DCBF2773-68DF-4968-B8A8-64794917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overseas-flow-step-3">
            <a:extLst xmlns:a="http://schemas.openxmlformats.org/drawingml/2006/main">
              <a:ext uri="{FF2B5EF4-FFF2-40B4-BE49-F238E27FC236}">
                <a16:creationId xmlns:a16="http://schemas.microsoft.com/office/drawing/2014/main" id="{689C1EA3-2809-4BB8-95E0-9F2FFFC6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overseas-flow-copy-3">
            <a:extLst xmlns:a="http://schemas.openxmlformats.org/drawingml/2006/main">
              <a:ext uri="{FF2B5EF4-FFF2-40B4-BE49-F238E27FC236}">
                <a16:creationId xmlns:a16="http://schemas.microsoft.com/office/drawing/2014/main" id="{DEC66635-981D-4A9C-991C-BC2E1724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Destination hub</a:t>
            </a:r>
          </a:p>
        </p:txBody>
      </p:sp>
      <p:sp>
        <p:nvSpPr>
          <p:cNvPr id="21" name="overseas-flow-node-4">
            <a:extLst xmlns:a="http://schemas.openxmlformats.org/drawingml/2006/main">
              <a:ext uri="{FF2B5EF4-FFF2-40B4-BE49-F238E27FC236}">
                <a16:creationId xmlns:a16="http://schemas.microsoft.com/office/drawing/2014/main" id="{7F165CE5-3D0C-4D04-A634-EE3143AE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overseas-flow-step-4">
            <a:extLst xmlns:a="http://schemas.openxmlformats.org/drawingml/2006/main">
              <a:ext uri="{FF2B5EF4-FFF2-40B4-BE49-F238E27FC236}">
                <a16:creationId xmlns:a16="http://schemas.microsoft.com/office/drawing/2014/main" id="{9DBD2A93-8271-43E5-B457-D3927C43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overseas-flow-copy-4">
            <a:extLst xmlns:a="http://schemas.openxmlformats.org/drawingml/2006/main">
              <a:ext uri="{FF2B5EF4-FFF2-40B4-BE49-F238E27FC236}">
                <a16:creationId xmlns:a16="http://schemas.microsoft.com/office/drawing/2014/main" id="{CBA8A9E4-7858-48DC-870F-0AD5EFC9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Final partner</a:t>
            </a:r>
          </a:p>
        </p:txBody>
      </p:sp>
      <p:sp>
        <p:nvSpPr>
          <p:cNvPr id="24" name="overseas-flow-node-5">
            <a:extLst xmlns:a="http://schemas.openxmlformats.org/drawingml/2006/main">
              <a:ext uri="{FF2B5EF4-FFF2-40B4-BE49-F238E27FC236}">
                <a16:creationId xmlns:a16="http://schemas.microsoft.com/office/drawing/2014/main" id="{F1A3E540-BB7C-430A-B696-D9D1A679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overseas-flow-step-5">
            <a:extLst xmlns:a="http://schemas.openxmlformats.org/drawingml/2006/main">
              <a:ext uri="{FF2B5EF4-FFF2-40B4-BE49-F238E27FC236}">
                <a16:creationId xmlns:a16="http://schemas.microsoft.com/office/drawing/2014/main" id="{6B6D69E5-CBE1-4BD2-9CE3-13A228BC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overseas-flow-copy-5">
            <a:extLst xmlns:a="http://schemas.openxmlformats.org/drawingml/2006/main">
              <a:ext uri="{FF2B5EF4-FFF2-40B4-BE49-F238E27FC236}">
                <a16:creationId xmlns:a16="http://schemas.microsoft.com/office/drawing/2014/main" id="{72CDA4E9-8DFC-49CF-ACE5-59F0CDBB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Delivered / exception</a:t>
            </a:r>
          </a:p>
        </p:txBody>
      </p:sp>
      <p:sp>
        <p:nvSpPr>
          <p:cNvPr id="27" name="overseas-flow-control-box">
            <a:extLst xmlns:a="http://schemas.openxmlformats.org/drawingml/2006/main">
              <a:ext uri="{FF2B5EF4-FFF2-40B4-BE49-F238E27FC236}">
                <a16:creationId xmlns:a16="http://schemas.microsoft.com/office/drawing/2014/main" id="{5AFA9773-ED18-461C-B289-8D5CEE5E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123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8" name="overseas-flow-control-head">
            <a:extLst xmlns:a="http://schemas.openxmlformats.org/drawingml/2006/main">
              <a:ext uri="{FF2B5EF4-FFF2-40B4-BE49-F238E27FC236}">
                <a16:creationId xmlns:a16="http://schemas.microsoft.com/office/drawing/2014/main" id="{5C1A16ED-068F-433B-AA70-ACE09128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OPERATIONAL CONTROL</a:t>
            </a:r>
          </a:p>
        </p:txBody>
      </p:sp>
      <p:sp>
        <p:nvSpPr>
          <p:cNvPr id="29" name="overseas-flow-control-copy">
            <a:extLst xmlns:a="http://schemas.openxmlformats.org/drawingml/2006/main">
              <a:ext uri="{FF2B5EF4-FFF2-40B4-BE49-F238E27FC236}">
                <a16:creationId xmlns:a16="http://schemas.microsoft.com/office/drawing/2014/main" id="{68F3D0D1-848E-4E8A-BB53-44745284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Partner-specific events should map into a single customer-friendly event history, with consistent Nepal time display and original partner timestamps retained.</a:t>
            </a:r>
          </a:p>
        </p:txBody>
      </p:sp>
      <p:sp>
        <p:nvSpPr>
          <p:cNvPr id="30" name="footer-label-25">
            <a:extLst xmlns:a="http://schemas.openxmlformats.org/drawingml/2006/main">
              <a:ext uri="{FF2B5EF4-FFF2-40B4-BE49-F238E27FC236}">
                <a16:creationId xmlns:a16="http://schemas.microsoft.com/office/drawing/2014/main" id="{E61161B4-EBB9-4129-8C39-1BA8915A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1" name="footer-page-25">
            <a:extLst xmlns:a="http://schemas.openxmlformats.org/drawingml/2006/main">
              <a:ext uri="{FF2B5EF4-FFF2-40B4-BE49-F238E27FC236}">
                <a16:creationId xmlns:a16="http://schemas.microsoft.com/office/drawing/2014/main" id="{4E8BC3CB-0A11-47B1-A614-A0073FE1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227811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gency-access-section">
            <a:extLst xmlns:a="http://schemas.openxmlformats.org/drawingml/2006/main">
              <a:ext uri="{FF2B5EF4-FFF2-40B4-BE49-F238E27FC236}">
                <a16:creationId xmlns:a16="http://schemas.microsoft.com/office/drawing/2014/main" id="{F77A8994-4EFB-4D36-A60E-96A293F7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AGENCY / CORPORATE BRANCH</a:t>
            </a:r>
          </a:p>
        </p:txBody>
      </p:sp>
      <p:sp>
        <p:nvSpPr>
          <p:cNvPr id="2" name="agency-access-title">
            <a:extLst xmlns:a="http://schemas.openxmlformats.org/drawingml/2006/main">
              <a:ext uri="{FF2B5EF4-FFF2-40B4-BE49-F238E27FC236}">
                <a16:creationId xmlns:a16="http://schemas.microsoft.com/office/drawing/2014/main" id="{6DC8F3B5-2102-4C6D-B611-D164A5B6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01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Agency teams manage branch customers and shipment handling</a:t>
            </a:r>
          </a:p>
        </p:txBody>
      </p:sp>
      <p:cxnSp>
        <p:nvCxnSpPr>
          <p:cNvPr id="15" name="agency-access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agency-access-left">
            <a:extLst xmlns:a="http://schemas.openxmlformats.org/drawingml/2006/main">
              <a:ext uri="{FF2B5EF4-FFF2-40B4-BE49-F238E27FC236}">
                <a16:creationId xmlns:a16="http://schemas.microsoft.com/office/drawing/2014/main" id="{D17625E1-44B3-4FCF-9E7B-F5F534FE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agency-access-right">
            <a:extLst xmlns:a="http://schemas.openxmlformats.org/drawingml/2006/main">
              <a:ext uri="{FF2B5EF4-FFF2-40B4-BE49-F238E27FC236}">
                <a16:creationId xmlns:a16="http://schemas.microsoft.com/office/drawing/2014/main" id="{D77C2A82-B1D8-4AE0-97CA-8BD129B9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agency-access-lh">
            <a:extLst xmlns:a="http://schemas.openxmlformats.org/drawingml/2006/main">
              <a:ext uri="{FF2B5EF4-FFF2-40B4-BE49-F238E27FC236}">
                <a16:creationId xmlns:a16="http://schemas.microsoft.com/office/drawing/2014/main" id="{6F19353E-4783-4464-A16F-F45AEABD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START / ACCESS</a:t>
            </a:r>
          </a:p>
        </p:txBody>
      </p:sp>
      <p:sp>
        <p:nvSpPr>
          <p:cNvPr id="7" name="agency-access-lb">
            <a:extLst xmlns:a="http://schemas.openxmlformats.org/drawingml/2006/main">
              <a:ext uri="{FF2B5EF4-FFF2-40B4-BE49-F238E27FC236}">
                <a16:creationId xmlns:a16="http://schemas.microsoft.com/office/drawing/2014/main" id="{5FDDCF36-08AC-4766-ADF2-80F4806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Agency access is controlled. Agency administrators can manage authorized staff; staff use their own login and assigned permissions.</a:t>
            </a:r>
          </a:p>
        </p:txBody>
      </p:sp>
      <p:sp>
        <p:nvSpPr>
          <p:cNvPr id="8" name="agency-access-rh">
            <a:extLst xmlns:a="http://schemas.openxmlformats.org/drawingml/2006/main">
              <a:ext uri="{FF2B5EF4-FFF2-40B4-BE49-F238E27FC236}">
                <a16:creationId xmlns:a16="http://schemas.microsoft.com/office/drawing/2014/main" id="{4AC69468-13F2-4D44-BF3E-21081154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SERVICES YOU USE</a:t>
            </a:r>
          </a:p>
        </p:txBody>
      </p:sp>
      <p:sp>
        <p:nvSpPr>
          <p:cNvPr id="9" name="agency-access-rb">
            <a:extLst xmlns:a="http://schemas.openxmlformats.org/drawingml/2006/main">
              <a:ext uri="{FF2B5EF4-FFF2-40B4-BE49-F238E27FC236}">
                <a16:creationId xmlns:a16="http://schemas.microsoft.com/office/drawing/2014/main" id="{C230BDA8-0122-42A7-8FB9-C8957418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Agency dashboard and customer handling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Shipment creation and details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Staff accounts and access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Operational visibility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Tracking and documents</a:t>
            </a:r>
          </a:p>
        </p:txBody>
      </p:sp>
      <p:sp>
        <p:nvSpPr>
          <p:cNvPr id="10" name="agency-access-status">
            <a:extLst xmlns:a="http://schemas.openxmlformats.org/drawingml/2006/main">
              <a:ext uri="{FF2B5EF4-FFF2-40B4-BE49-F238E27FC236}">
                <a16:creationId xmlns:a16="http://schemas.microsoft.com/office/drawing/2014/main" id="{9FBED5E6-D702-4854-A9D9-6E843ED1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Agency capabilities should remain separated from system-wide Admin privileges and from other agencies' data.</a:t>
            </a:r>
          </a:p>
        </p:txBody>
      </p:sp>
      <p:sp>
        <p:nvSpPr>
          <p:cNvPr id="11" name="footer-label-26">
            <a:extLst xmlns:a="http://schemas.openxmlformats.org/drawingml/2006/main">
              <a:ext uri="{FF2B5EF4-FFF2-40B4-BE49-F238E27FC236}">
                <a16:creationId xmlns:a16="http://schemas.microsoft.com/office/drawing/2014/main" id="{BBBEF075-75C6-44DA-89AD-E512D10E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2" name="footer-page-26">
            <a:extLst xmlns:a="http://schemas.openxmlformats.org/drawingml/2006/main">
              <a:ext uri="{FF2B5EF4-FFF2-40B4-BE49-F238E27FC236}">
                <a16:creationId xmlns:a16="http://schemas.microsoft.com/office/drawing/2014/main" id="{DB91D48B-817E-4E0D-AF49-2B047AC5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142604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agency-flow-section">
            <a:extLst xmlns:a="http://schemas.openxmlformats.org/drawingml/2006/main">
              <a:ext uri="{FF2B5EF4-FFF2-40B4-BE49-F238E27FC236}">
                <a16:creationId xmlns:a16="http://schemas.microsoft.com/office/drawing/2014/main" id="{92454BEC-8D63-4211-BD70-04392730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AGENCY / CORPORATE BRANCH</a:t>
            </a:r>
          </a:p>
        </p:txBody>
      </p:sp>
      <p:sp>
        <p:nvSpPr>
          <p:cNvPr id="2" name="agency-flow-title">
            <a:extLst xmlns:a="http://schemas.openxmlformats.org/drawingml/2006/main">
              <a:ext uri="{FF2B5EF4-FFF2-40B4-BE49-F238E27FC236}">
                <a16:creationId xmlns:a16="http://schemas.microsoft.com/office/drawing/2014/main" id="{CE6D0D49-D3C5-4517-83B3-BC3767EF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3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Agency journey: capture a booking and hand it into the network</a:t>
            </a:r>
          </a:p>
        </p:txBody>
      </p:sp>
      <p:cxnSp>
        <p:nvCxnSpPr>
          <p:cNvPr id="34" name="agency-flow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5" name="agency-flow-edge-0"/>
          <p:cNvCxnSpPr/>
          <p:nvPr/>
        </p:nvCxnSpPr>
        <p:spPr>
          <a:xfrm xmlns:a="http://schemas.openxmlformats.org/drawingml/2006/main">
            <a:off x="22225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6" name="agency-flow-edge-1"/>
          <p:cNvCxnSpPr/>
          <p:nvPr/>
        </p:nvCxnSpPr>
        <p:spPr>
          <a:xfrm xmlns:a="http://schemas.openxmlformats.org/drawingml/2006/main">
            <a:off x="41211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7" name="agency-flow-edge-2"/>
          <p:cNvCxnSpPr/>
          <p:nvPr/>
        </p:nvCxnSpPr>
        <p:spPr>
          <a:xfrm xmlns:a="http://schemas.openxmlformats.org/drawingml/2006/main">
            <a:off x="60198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8" name="agency-flow-edge-3"/>
          <p:cNvCxnSpPr/>
          <p:nvPr/>
        </p:nvCxnSpPr>
        <p:spPr>
          <a:xfrm xmlns:a="http://schemas.openxmlformats.org/drawingml/2006/main">
            <a:off x="79184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agency-flow-edge-4"/>
          <p:cNvCxnSpPr/>
          <p:nvPr/>
        </p:nvCxnSpPr>
        <p:spPr>
          <a:xfrm xmlns:a="http://schemas.openxmlformats.org/drawingml/2006/main">
            <a:off x="98171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agency-flow-node-0">
            <a:extLst xmlns:a="http://schemas.openxmlformats.org/drawingml/2006/main">
              <a:ext uri="{FF2B5EF4-FFF2-40B4-BE49-F238E27FC236}">
                <a16:creationId xmlns:a16="http://schemas.microsoft.com/office/drawing/2014/main" id="{CBBBD8D0-4B1F-483F-AA2C-A7008141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agency-flow-step-0">
            <a:extLst xmlns:a="http://schemas.openxmlformats.org/drawingml/2006/main">
              <a:ext uri="{FF2B5EF4-FFF2-40B4-BE49-F238E27FC236}">
                <a16:creationId xmlns:a16="http://schemas.microsoft.com/office/drawing/2014/main" id="{A11062EC-B55C-4E5A-A2CD-FDE7F3B3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agency-flow-copy-0">
            <a:extLst xmlns:a="http://schemas.openxmlformats.org/drawingml/2006/main">
              <a:ext uri="{FF2B5EF4-FFF2-40B4-BE49-F238E27FC236}">
                <a16:creationId xmlns:a16="http://schemas.microsoft.com/office/drawing/2014/main" id="{6A9445C6-DAF0-403D-85A5-0AADD822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Admin creates access</a:t>
            </a:r>
          </a:p>
        </p:txBody>
      </p:sp>
      <p:sp>
        <p:nvSpPr>
          <p:cNvPr id="12" name="agency-flow-node-1">
            <a:extLst xmlns:a="http://schemas.openxmlformats.org/drawingml/2006/main">
              <a:ext uri="{FF2B5EF4-FFF2-40B4-BE49-F238E27FC236}">
                <a16:creationId xmlns:a16="http://schemas.microsoft.com/office/drawing/2014/main" id="{0FA7F001-D264-452F-BD0B-47F81BCC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agency-flow-step-1">
            <a:extLst xmlns:a="http://schemas.openxmlformats.org/drawingml/2006/main">
              <a:ext uri="{FF2B5EF4-FFF2-40B4-BE49-F238E27FC236}">
                <a16:creationId xmlns:a16="http://schemas.microsoft.com/office/drawing/2014/main" id="{924BDAAD-F762-4128-ADB8-4830032F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agency-flow-copy-1">
            <a:extLst xmlns:a="http://schemas.openxmlformats.org/drawingml/2006/main">
              <a:ext uri="{FF2B5EF4-FFF2-40B4-BE49-F238E27FC236}">
                <a16:creationId xmlns:a16="http://schemas.microsoft.com/office/drawing/2014/main" id="{34CD2B8C-0CB3-4DE2-A258-7A8F782B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Staff login</a:t>
            </a:r>
          </a:p>
        </p:txBody>
      </p:sp>
      <p:sp>
        <p:nvSpPr>
          <p:cNvPr id="15" name="agency-flow-node-2">
            <a:extLst xmlns:a="http://schemas.openxmlformats.org/drawingml/2006/main">
              <a:ext uri="{FF2B5EF4-FFF2-40B4-BE49-F238E27FC236}">
                <a16:creationId xmlns:a16="http://schemas.microsoft.com/office/drawing/2014/main" id="{118393F9-D6A8-412A-867C-82D34C00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agency-flow-step-2">
            <a:extLst xmlns:a="http://schemas.openxmlformats.org/drawingml/2006/main">
              <a:ext uri="{FF2B5EF4-FFF2-40B4-BE49-F238E27FC236}">
                <a16:creationId xmlns:a16="http://schemas.microsoft.com/office/drawing/2014/main" id="{22A42325-9FAD-45E6-BCC7-E50EB846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agency-flow-copy-2">
            <a:extLst xmlns:a="http://schemas.openxmlformats.org/drawingml/2006/main">
              <a:ext uri="{FF2B5EF4-FFF2-40B4-BE49-F238E27FC236}">
                <a16:creationId xmlns:a16="http://schemas.microsoft.com/office/drawing/2014/main" id="{B5CEF180-B64F-418C-AC56-8D000C9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Capture customer</a:t>
            </a:r>
          </a:p>
        </p:txBody>
      </p:sp>
      <p:sp>
        <p:nvSpPr>
          <p:cNvPr id="18" name="agency-flow-node-3">
            <a:extLst xmlns:a="http://schemas.openxmlformats.org/drawingml/2006/main">
              <a:ext uri="{FF2B5EF4-FFF2-40B4-BE49-F238E27FC236}">
                <a16:creationId xmlns:a16="http://schemas.microsoft.com/office/drawing/2014/main" id="{E459165A-DFD1-4C3C-B9EA-8C133CC9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agency-flow-step-3">
            <a:extLst xmlns:a="http://schemas.openxmlformats.org/drawingml/2006/main">
              <a:ext uri="{FF2B5EF4-FFF2-40B4-BE49-F238E27FC236}">
                <a16:creationId xmlns:a16="http://schemas.microsoft.com/office/drawing/2014/main" id="{CD358050-2888-45E9-9319-07A799EB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agency-flow-copy-3">
            <a:extLst xmlns:a="http://schemas.openxmlformats.org/drawingml/2006/main">
              <a:ext uri="{FF2B5EF4-FFF2-40B4-BE49-F238E27FC236}">
                <a16:creationId xmlns:a16="http://schemas.microsoft.com/office/drawing/2014/main" id="{B9FE1100-DF86-45F4-BACB-C78F5F2C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Create shipment</a:t>
            </a:r>
          </a:p>
        </p:txBody>
      </p:sp>
      <p:sp>
        <p:nvSpPr>
          <p:cNvPr id="21" name="agency-flow-node-4">
            <a:extLst xmlns:a="http://schemas.openxmlformats.org/drawingml/2006/main">
              <a:ext uri="{FF2B5EF4-FFF2-40B4-BE49-F238E27FC236}">
                <a16:creationId xmlns:a16="http://schemas.microsoft.com/office/drawing/2014/main" id="{054F91D9-09E2-4CC9-8FEF-868CBE9D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agency-flow-step-4">
            <a:extLst xmlns:a="http://schemas.openxmlformats.org/drawingml/2006/main">
              <a:ext uri="{FF2B5EF4-FFF2-40B4-BE49-F238E27FC236}">
                <a16:creationId xmlns:a16="http://schemas.microsoft.com/office/drawing/2014/main" id="{F1FA70AC-38B5-43F8-8BA3-01DAF78C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agency-flow-copy-4">
            <a:extLst xmlns:a="http://schemas.openxmlformats.org/drawingml/2006/main">
              <a:ext uri="{FF2B5EF4-FFF2-40B4-BE49-F238E27FC236}">
                <a16:creationId xmlns:a16="http://schemas.microsoft.com/office/drawing/2014/main" id="{CD06F882-5B08-460B-9704-0B6EC540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Handoff + tracking</a:t>
            </a:r>
          </a:p>
        </p:txBody>
      </p:sp>
      <p:sp>
        <p:nvSpPr>
          <p:cNvPr id="24" name="agency-flow-node-5">
            <a:extLst xmlns:a="http://schemas.openxmlformats.org/drawingml/2006/main">
              <a:ext uri="{FF2B5EF4-FFF2-40B4-BE49-F238E27FC236}">
                <a16:creationId xmlns:a16="http://schemas.microsoft.com/office/drawing/2014/main" id="{6137E74B-09D1-49BA-90CB-AC67845B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agency-flow-step-5">
            <a:extLst xmlns:a="http://schemas.openxmlformats.org/drawingml/2006/main">
              <a:ext uri="{FF2B5EF4-FFF2-40B4-BE49-F238E27FC236}">
                <a16:creationId xmlns:a16="http://schemas.microsoft.com/office/drawing/2014/main" id="{707BE364-7045-4B32-B6D3-5B50576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agency-flow-copy-5">
            <a:extLst xmlns:a="http://schemas.openxmlformats.org/drawingml/2006/main">
              <a:ext uri="{FF2B5EF4-FFF2-40B4-BE49-F238E27FC236}">
                <a16:creationId xmlns:a16="http://schemas.microsoft.com/office/drawing/2014/main" id="{85CC692C-1F65-429D-B795-B547BA45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Support customer</a:t>
            </a:r>
          </a:p>
        </p:txBody>
      </p:sp>
      <p:sp>
        <p:nvSpPr>
          <p:cNvPr id="27" name="agency-flow-control-box">
            <a:extLst xmlns:a="http://schemas.openxmlformats.org/drawingml/2006/main">
              <a:ext uri="{FF2B5EF4-FFF2-40B4-BE49-F238E27FC236}">
                <a16:creationId xmlns:a16="http://schemas.microsoft.com/office/drawing/2014/main" id="{C18C6C18-9C28-4DAD-B477-2C8F28E9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123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8" name="agency-flow-control-head">
            <a:extLst xmlns:a="http://schemas.openxmlformats.org/drawingml/2006/main">
              <a:ext uri="{FF2B5EF4-FFF2-40B4-BE49-F238E27FC236}">
                <a16:creationId xmlns:a16="http://schemas.microsoft.com/office/drawing/2014/main" id="{5572564B-0118-4842-B030-1EB3DC9B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OPERATIONAL CONTROL</a:t>
            </a:r>
          </a:p>
        </p:txBody>
      </p:sp>
      <p:sp>
        <p:nvSpPr>
          <p:cNvPr id="29" name="agency-flow-control-copy">
            <a:extLst xmlns:a="http://schemas.openxmlformats.org/drawingml/2006/main">
              <a:ext uri="{FF2B5EF4-FFF2-40B4-BE49-F238E27FC236}">
                <a16:creationId xmlns:a16="http://schemas.microsoft.com/office/drawing/2014/main" id="{7DB8B155-1C5B-4804-9BDC-850D0561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Each staff action should be attributable to the staff member and agency. Customer, shipment and document visibility must stay within the authorized branch scope.</a:t>
            </a:r>
          </a:p>
        </p:txBody>
      </p:sp>
      <p:sp>
        <p:nvSpPr>
          <p:cNvPr id="30" name="footer-label-27">
            <a:extLst xmlns:a="http://schemas.openxmlformats.org/drawingml/2006/main">
              <a:ext uri="{FF2B5EF4-FFF2-40B4-BE49-F238E27FC236}">
                <a16:creationId xmlns:a16="http://schemas.microsoft.com/office/drawing/2014/main" id="{7A5181DA-1CB3-4C12-B911-9FAA9BE2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1" name="footer-page-27">
            <a:extLst xmlns:a="http://schemas.openxmlformats.org/drawingml/2006/main">
              <a:ext uri="{FF2B5EF4-FFF2-40B4-BE49-F238E27FC236}">
                <a16:creationId xmlns:a16="http://schemas.microsoft.com/office/drawing/2014/main" id="{638FA575-C9FE-44DC-A388-80D18C5E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30127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dmin-access-section">
            <a:extLst xmlns:a="http://schemas.openxmlformats.org/drawingml/2006/main">
              <a:ext uri="{FF2B5EF4-FFF2-40B4-BE49-F238E27FC236}">
                <a16:creationId xmlns:a16="http://schemas.microsoft.com/office/drawing/2014/main" id="{08E17D38-62B5-4A28-B901-B5773228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ADMIN / OPERATIONS / FINANCE</a:t>
            </a:r>
          </a:p>
        </p:txBody>
      </p:sp>
      <p:sp>
        <p:nvSpPr>
          <p:cNvPr id="2" name="admin-access-title">
            <a:extLst xmlns:a="http://schemas.openxmlformats.org/drawingml/2006/main">
              <a:ext uri="{FF2B5EF4-FFF2-40B4-BE49-F238E27FC236}">
                <a16:creationId xmlns:a16="http://schemas.microsoft.com/office/drawing/2014/main" id="{866BCA5F-E291-4B42-919C-30570663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Administration is the approval and control layer</a:t>
            </a:r>
          </a:p>
        </p:txBody>
      </p:sp>
      <p:cxnSp>
        <p:nvCxnSpPr>
          <p:cNvPr id="15" name="admin-access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admin-access-left">
            <a:extLst xmlns:a="http://schemas.openxmlformats.org/drawingml/2006/main">
              <a:ext uri="{FF2B5EF4-FFF2-40B4-BE49-F238E27FC236}">
                <a16:creationId xmlns:a16="http://schemas.microsoft.com/office/drawing/2014/main" id="{B90487F2-CA21-4B80-89AB-09D9F352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admin-access-right">
            <a:extLst xmlns:a="http://schemas.openxmlformats.org/drawingml/2006/main">
              <a:ext uri="{FF2B5EF4-FFF2-40B4-BE49-F238E27FC236}">
                <a16:creationId xmlns:a16="http://schemas.microsoft.com/office/drawing/2014/main" id="{0583B3A5-FBD8-40B5-AF6E-E2483933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admin-access-lh">
            <a:extLst xmlns:a="http://schemas.openxmlformats.org/drawingml/2006/main">
              <a:ext uri="{FF2B5EF4-FFF2-40B4-BE49-F238E27FC236}">
                <a16:creationId xmlns:a16="http://schemas.microsoft.com/office/drawing/2014/main" id="{BE231E9B-DFC2-416A-9DF0-412810B8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START / ACCESS</a:t>
            </a:r>
          </a:p>
        </p:txBody>
      </p:sp>
      <p:sp>
        <p:nvSpPr>
          <p:cNvPr id="7" name="admin-access-lb">
            <a:extLst xmlns:a="http://schemas.openxmlformats.org/drawingml/2006/main">
              <a:ext uri="{FF2B5EF4-FFF2-40B4-BE49-F238E27FC236}">
                <a16:creationId xmlns:a16="http://schemas.microsoft.com/office/drawing/2014/main" id="{CF19051B-10A8-4C3A-AA31-45810EBC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Admin accounts use controlled creation. Super Admin, general Admin, Domestic Admin, International Admin and Staff receive only the permissions required for their work.</a:t>
            </a:r>
          </a:p>
        </p:txBody>
      </p:sp>
      <p:sp>
        <p:nvSpPr>
          <p:cNvPr id="8" name="admin-access-rh">
            <a:extLst xmlns:a="http://schemas.openxmlformats.org/drawingml/2006/main">
              <a:ext uri="{FF2B5EF4-FFF2-40B4-BE49-F238E27FC236}">
                <a16:creationId xmlns:a16="http://schemas.microsoft.com/office/drawing/2014/main" id="{FB8EE412-AADA-4BBF-B08A-3B5E1DE8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SERVICES YOU USE</a:t>
            </a:r>
          </a:p>
        </p:txBody>
      </p:sp>
      <p:sp>
        <p:nvSpPr>
          <p:cNvPr id="9" name="admin-access-rb">
            <a:extLst xmlns:a="http://schemas.openxmlformats.org/drawingml/2006/main">
              <a:ext uri="{FF2B5EF4-FFF2-40B4-BE49-F238E27FC236}">
                <a16:creationId xmlns:a16="http://schemas.microsoft.com/office/drawing/2014/main" id="{2083F71D-3D46-4F6C-9FA0-4F57CC15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Registration approval and all users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Service, partner, zone and rate setup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Shipment, pickup, manifest and POD control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Rider monitoring and assignment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COD/settlement and reports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Notifications, audit and exceptions</a:t>
            </a:r>
          </a:p>
        </p:txBody>
      </p:sp>
      <p:sp>
        <p:nvSpPr>
          <p:cNvPr id="10" name="admin-access-status">
            <a:extLst xmlns:a="http://schemas.openxmlformats.org/drawingml/2006/main">
              <a:ext uri="{FF2B5EF4-FFF2-40B4-BE49-F238E27FC236}">
                <a16:creationId xmlns:a16="http://schemas.microsoft.com/office/drawing/2014/main" id="{8E403195-8D7E-4FEA-A59E-109BF396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Never use predictable permanent production passwords; use secure owner-controlled setup and password reset.</a:t>
            </a:r>
          </a:p>
        </p:txBody>
      </p:sp>
      <p:sp>
        <p:nvSpPr>
          <p:cNvPr id="11" name="footer-label-28">
            <a:extLst xmlns:a="http://schemas.openxmlformats.org/drawingml/2006/main">
              <a:ext uri="{FF2B5EF4-FFF2-40B4-BE49-F238E27FC236}">
                <a16:creationId xmlns:a16="http://schemas.microsoft.com/office/drawing/2014/main" id="{7A74442A-7234-4045-A4F7-C2E10C92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2" name="footer-page-28">
            <a:extLst xmlns:a="http://schemas.openxmlformats.org/drawingml/2006/main">
              <a:ext uri="{FF2B5EF4-FFF2-40B4-BE49-F238E27FC236}">
                <a16:creationId xmlns:a16="http://schemas.microsoft.com/office/drawing/2014/main" id="{EF4868A9-867F-4E03-8DA4-FB580D22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794058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admin-flow-section">
            <a:extLst xmlns:a="http://schemas.openxmlformats.org/drawingml/2006/main">
              <a:ext uri="{FF2B5EF4-FFF2-40B4-BE49-F238E27FC236}">
                <a16:creationId xmlns:a16="http://schemas.microsoft.com/office/drawing/2014/main" id="{FFBF8BBA-6C30-427A-9793-D85BF7EE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ADMIN / OPERATIONS / FINANCE</a:t>
            </a:r>
          </a:p>
        </p:txBody>
      </p:sp>
      <p:sp>
        <p:nvSpPr>
          <p:cNvPr id="2" name="admin-flow-title">
            <a:extLst xmlns:a="http://schemas.openxmlformats.org/drawingml/2006/main">
              <a:ext uri="{FF2B5EF4-FFF2-40B4-BE49-F238E27FC236}">
                <a16:creationId xmlns:a16="http://schemas.microsoft.com/office/drawing/2014/main" id="{FA54E489-E11A-43AF-BFC7-4540C996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Admin journey: configure, monitor, intervene and reconcile</a:t>
            </a:r>
          </a:p>
        </p:txBody>
      </p:sp>
      <p:cxnSp>
        <p:nvCxnSpPr>
          <p:cNvPr id="34" name="admin-flow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5" name="admin-flow-edge-0"/>
          <p:cNvCxnSpPr/>
          <p:nvPr/>
        </p:nvCxnSpPr>
        <p:spPr>
          <a:xfrm xmlns:a="http://schemas.openxmlformats.org/drawingml/2006/main">
            <a:off x="22225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6" name="admin-flow-edge-1"/>
          <p:cNvCxnSpPr/>
          <p:nvPr/>
        </p:nvCxnSpPr>
        <p:spPr>
          <a:xfrm xmlns:a="http://schemas.openxmlformats.org/drawingml/2006/main">
            <a:off x="41211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7" name="admin-flow-edge-2"/>
          <p:cNvCxnSpPr/>
          <p:nvPr/>
        </p:nvCxnSpPr>
        <p:spPr>
          <a:xfrm xmlns:a="http://schemas.openxmlformats.org/drawingml/2006/main">
            <a:off x="60198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8" name="admin-flow-edge-3"/>
          <p:cNvCxnSpPr/>
          <p:nvPr/>
        </p:nvCxnSpPr>
        <p:spPr>
          <a:xfrm xmlns:a="http://schemas.openxmlformats.org/drawingml/2006/main">
            <a:off x="79184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admin-flow-edge-4"/>
          <p:cNvCxnSpPr/>
          <p:nvPr/>
        </p:nvCxnSpPr>
        <p:spPr>
          <a:xfrm xmlns:a="http://schemas.openxmlformats.org/drawingml/2006/main">
            <a:off x="98171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admin-flow-node-0">
            <a:extLst xmlns:a="http://schemas.openxmlformats.org/drawingml/2006/main">
              <a:ext uri="{FF2B5EF4-FFF2-40B4-BE49-F238E27FC236}">
                <a16:creationId xmlns:a16="http://schemas.microsoft.com/office/drawing/2014/main" id="{1691947A-8E86-4AD2-BE33-E6BD2482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admin-flow-step-0">
            <a:extLst xmlns:a="http://schemas.openxmlformats.org/drawingml/2006/main">
              <a:ext uri="{FF2B5EF4-FFF2-40B4-BE49-F238E27FC236}">
                <a16:creationId xmlns:a16="http://schemas.microsoft.com/office/drawing/2014/main" id="{ECA8320F-D6A7-48F9-A27F-881D09C4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admin-flow-copy-0">
            <a:extLst xmlns:a="http://schemas.openxmlformats.org/drawingml/2006/main">
              <a:ext uri="{FF2B5EF4-FFF2-40B4-BE49-F238E27FC236}">
                <a16:creationId xmlns:a16="http://schemas.microsoft.com/office/drawing/2014/main" id="{CAB90A63-8964-42ED-A887-7DE361B3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Approve identities</a:t>
            </a:r>
          </a:p>
        </p:txBody>
      </p:sp>
      <p:sp>
        <p:nvSpPr>
          <p:cNvPr id="12" name="admin-flow-node-1">
            <a:extLst xmlns:a="http://schemas.openxmlformats.org/drawingml/2006/main">
              <a:ext uri="{FF2B5EF4-FFF2-40B4-BE49-F238E27FC236}">
                <a16:creationId xmlns:a16="http://schemas.microsoft.com/office/drawing/2014/main" id="{A872852A-FDA8-45F8-A3B9-9B208F91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admin-flow-step-1">
            <a:extLst xmlns:a="http://schemas.openxmlformats.org/drawingml/2006/main">
              <a:ext uri="{FF2B5EF4-FFF2-40B4-BE49-F238E27FC236}">
                <a16:creationId xmlns:a16="http://schemas.microsoft.com/office/drawing/2014/main" id="{BAE01C23-A3EC-42CB-A995-D1D1A0CE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admin-flow-copy-1">
            <a:extLst xmlns:a="http://schemas.openxmlformats.org/drawingml/2006/main">
              <a:ext uri="{FF2B5EF4-FFF2-40B4-BE49-F238E27FC236}">
                <a16:creationId xmlns:a16="http://schemas.microsoft.com/office/drawing/2014/main" id="{AA0875C0-3C08-42CD-8CED-38FC0497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Configure services</a:t>
            </a:r>
          </a:p>
        </p:txBody>
      </p:sp>
      <p:sp>
        <p:nvSpPr>
          <p:cNvPr id="15" name="admin-flow-node-2">
            <a:extLst xmlns:a="http://schemas.openxmlformats.org/drawingml/2006/main">
              <a:ext uri="{FF2B5EF4-FFF2-40B4-BE49-F238E27FC236}">
                <a16:creationId xmlns:a16="http://schemas.microsoft.com/office/drawing/2014/main" id="{AC9CF9F7-729D-474B-820A-9ACFE703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admin-flow-step-2">
            <a:extLst xmlns:a="http://schemas.openxmlformats.org/drawingml/2006/main">
              <a:ext uri="{FF2B5EF4-FFF2-40B4-BE49-F238E27FC236}">
                <a16:creationId xmlns:a16="http://schemas.microsoft.com/office/drawing/2014/main" id="{7ABBEF77-0F73-4118-9FBD-156215D9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admin-flow-copy-2">
            <a:extLst xmlns:a="http://schemas.openxmlformats.org/drawingml/2006/main">
              <a:ext uri="{FF2B5EF4-FFF2-40B4-BE49-F238E27FC236}">
                <a16:creationId xmlns:a16="http://schemas.microsoft.com/office/drawing/2014/main" id="{9584AEC1-CD2E-41C6-9B99-B6DA5E6A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Monitor operations</a:t>
            </a:r>
          </a:p>
        </p:txBody>
      </p:sp>
      <p:sp>
        <p:nvSpPr>
          <p:cNvPr id="18" name="admin-flow-node-3">
            <a:extLst xmlns:a="http://schemas.openxmlformats.org/drawingml/2006/main">
              <a:ext uri="{FF2B5EF4-FFF2-40B4-BE49-F238E27FC236}">
                <a16:creationId xmlns:a16="http://schemas.microsoft.com/office/drawing/2014/main" id="{AEA67924-1E89-4D45-9B2F-659E150D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admin-flow-step-3">
            <a:extLst xmlns:a="http://schemas.openxmlformats.org/drawingml/2006/main">
              <a:ext uri="{FF2B5EF4-FFF2-40B4-BE49-F238E27FC236}">
                <a16:creationId xmlns:a16="http://schemas.microsoft.com/office/drawing/2014/main" id="{4F1B8A80-F02E-4063-ADEF-34C615C6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admin-flow-copy-3">
            <a:extLst xmlns:a="http://schemas.openxmlformats.org/drawingml/2006/main">
              <a:ext uri="{FF2B5EF4-FFF2-40B4-BE49-F238E27FC236}">
                <a16:creationId xmlns:a16="http://schemas.microsoft.com/office/drawing/2014/main" id="{204D98B5-7072-475D-BB3E-8279CB02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Resolve exceptions</a:t>
            </a:r>
          </a:p>
        </p:txBody>
      </p:sp>
      <p:sp>
        <p:nvSpPr>
          <p:cNvPr id="21" name="admin-flow-node-4">
            <a:extLst xmlns:a="http://schemas.openxmlformats.org/drawingml/2006/main">
              <a:ext uri="{FF2B5EF4-FFF2-40B4-BE49-F238E27FC236}">
                <a16:creationId xmlns:a16="http://schemas.microsoft.com/office/drawing/2014/main" id="{9ED09A8F-B68C-49E6-BE14-5A8FF5D9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admin-flow-step-4">
            <a:extLst xmlns:a="http://schemas.openxmlformats.org/drawingml/2006/main">
              <a:ext uri="{FF2B5EF4-FFF2-40B4-BE49-F238E27FC236}">
                <a16:creationId xmlns:a16="http://schemas.microsoft.com/office/drawing/2014/main" id="{5F6FBC4F-85DB-4405-B865-07E1F536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admin-flow-copy-4">
            <a:extLst xmlns:a="http://schemas.openxmlformats.org/drawingml/2006/main">
              <a:ext uri="{FF2B5EF4-FFF2-40B4-BE49-F238E27FC236}">
                <a16:creationId xmlns:a16="http://schemas.microsoft.com/office/drawing/2014/main" id="{EF54D047-DC06-4F63-A850-5C9B5BFA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Verify COD / POD</a:t>
            </a:r>
          </a:p>
        </p:txBody>
      </p:sp>
      <p:sp>
        <p:nvSpPr>
          <p:cNvPr id="24" name="admin-flow-node-5">
            <a:extLst xmlns:a="http://schemas.openxmlformats.org/drawingml/2006/main">
              <a:ext uri="{FF2B5EF4-FFF2-40B4-BE49-F238E27FC236}">
                <a16:creationId xmlns:a16="http://schemas.microsoft.com/office/drawing/2014/main" id="{1728A9C6-79FA-4008-A0E7-0274AF33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190750"/>
            <a:ext cx="1746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admin-flow-step-5">
            <a:extLst xmlns:a="http://schemas.openxmlformats.org/drawingml/2006/main">
              <a:ext uri="{FF2B5EF4-FFF2-40B4-BE49-F238E27FC236}">
                <a16:creationId xmlns:a16="http://schemas.microsoft.com/office/drawing/2014/main" id="{E3D73D2F-8786-45FC-9421-8C10B6A5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admin-flow-copy-5">
            <a:extLst xmlns:a="http://schemas.openxmlformats.org/drawingml/2006/main">
              <a:ext uri="{FF2B5EF4-FFF2-40B4-BE49-F238E27FC236}">
                <a16:creationId xmlns:a16="http://schemas.microsoft.com/office/drawing/2014/main" id="{56F296E1-0C28-40E4-BE13-062F481B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571750"/>
            <a:ext cx="1479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Report + audit</a:t>
            </a:r>
          </a:p>
        </p:txBody>
      </p:sp>
      <p:sp>
        <p:nvSpPr>
          <p:cNvPr id="27" name="admin-flow-control-box">
            <a:extLst xmlns:a="http://schemas.openxmlformats.org/drawingml/2006/main">
              <a:ext uri="{FF2B5EF4-FFF2-40B4-BE49-F238E27FC236}">
                <a16:creationId xmlns:a16="http://schemas.microsoft.com/office/drawing/2014/main" id="{6327D66F-5580-4E04-8A24-A1FDF777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123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8" name="admin-flow-control-head">
            <a:extLst xmlns:a="http://schemas.openxmlformats.org/drawingml/2006/main">
              <a:ext uri="{FF2B5EF4-FFF2-40B4-BE49-F238E27FC236}">
                <a16:creationId xmlns:a16="http://schemas.microsoft.com/office/drawing/2014/main" id="{0031362A-6E48-405F-AEA0-5628E5B1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OPERATIONAL CONTROL</a:t>
            </a:r>
          </a:p>
        </p:txBody>
      </p:sp>
      <p:sp>
        <p:nvSpPr>
          <p:cNvPr id="29" name="admin-flow-control-copy">
            <a:extLst xmlns:a="http://schemas.openxmlformats.org/drawingml/2006/main">
              <a:ext uri="{FF2B5EF4-FFF2-40B4-BE49-F238E27FC236}">
                <a16:creationId xmlns:a16="http://schemas.microsoft.com/office/drawing/2014/main" id="{560F6844-A612-4869-BD49-6AA21539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The admin workspace should be an operations command center. High-risk actions need role checks, audit records, safe state transitions and finance reconciliation before settlement.</a:t>
            </a:r>
          </a:p>
        </p:txBody>
      </p:sp>
      <p:sp>
        <p:nvSpPr>
          <p:cNvPr id="30" name="footer-label-29">
            <a:extLst xmlns:a="http://schemas.openxmlformats.org/drawingml/2006/main">
              <a:ext uri="{FF2B5EF4-FFF2-40B4-BE49-F238E27FC236}">
                <a16:creationId xmlns:a16="http://schemas.microsoft.com/office/drawing/2014/main" id="{E4C2FC84-2D1B-4AB2-B539-63C8139D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1" name="footer-page-29">
            <a:extLst xmlns:a="http://schemas.openxmlformats.org/drawingml/2006/main">
              <a:ext uri="{FF2B5EF4-FFF2-40B4-BE49-F238E27FC236}">
                <a16:creationId xmlns:a16="http://schemas.microsoft.com/office/drawing/2014/main" id="{430BC42C-B5C7-4133-B3C9-D21A2088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06837778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ntrol-section">
            <a:extLst xmlns:a="http://schemas.openxmlformats.org/drawingml/2006/main">
              <a:ext uri="{FF2B5EF4-FFF2-40B4-BE49-F238E27FC236}">
                <a16:creationId xmlns:a16="http://schemas.microsoft.com/office/drawing/2014/main" id="{DE9BA445-8D27-4968-A479-A5480939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OPERATIONAL TRUTH</a:t>
            </a:r>
          </a:p>
        </p:txBody>
      </p:sp>
      <p:sp>
        <p:nvSpPr>
          <p:cNvPr id="2" name="control-title">
            <a:extLst xmlns:a="http://schemas.openxmlformats.org/drawingml/2006/main">
              <a:ext uri="{FF2B5EF4-FFF2-40B4-BE49-F238E27FC236}">
                <a16:creationId xmlns:a16="http://schemas.microsoft.com/office/drawing/2014/main" id="{7BA24047-D4A3-47BD-9CD2-A2D9CFA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Tracking, POD and COD form the control tower</a:t>
            </a:r>
          </a:p>
        </p:txBody>
      </p:sp>
      <p:cxnSp>
        <p:nvCxnSpPr>
          <p:cNvPr id="15" name="control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control-left">
            <a:extLst xmlns:a="http://schemas.openxmlformats.org/drawingml/2006/main">
              <a:ext uri="{FF2B5EF4-FFF2-40B4-BE49-F238E27FC236}">
                <a16:creationId xmlns:a16="http://schemas.microsoft.com/office/drawing/2014/main" id="{A87B0389-2F3F-4843-867F-28C01381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control-right">
            <a:extLst xmlns:a="http://schemas.openxmlformats.org/drawingml/2006/main">
              <a:ext uri="{FF2B5EF4-FFF2-40B4-BE49-F238E27FC236}">
                <a16:creationId xmlns:a16="http://schemas.microsoft.com/office/drawing/2014/main" id="{EA8C0FEA-BD93-4A03-8E8A-4802AEBD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control-lh">
            <a:extLst xmlns:a="http://schemas.openxmlformats.org/drawingml/2006/main">
              <a:ext uri="{FF2B5EF4-FFF2-40B4-BE49-F238E27FC236}">
                <a16:creationId xmlns:a16="http://schemas.microsoft.com/office/drawing/2014/main" id="{0A994D30-1A9C-4B95-BED0-46F878DF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SHIPMENT TRUTH</a:t>
            </a:r>
          </a:p>
        </p:txBody>
      </p:sp>
      <p:sp>
        <p:nvSpPr>
          <p:cNvPr id="7" name="control-lb">
            <a:extLst xmlns:a="http://schemas.openxmlformats.org/drawingml/2006/main">
              <a:ext uri="{FF2B5EF4-FFF2-40B4-BE49-F238E27FC236}">
                <a16:creationId xmlns:a16="http://schemas.microsoft.com/office/drawing/2014/main" id="{DDD89620-C638-4B25-9998-C9734AEF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Tracking number links booking, internal shipment, partner reference, rider assignment and every status event.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POD links delivery status to recipient, date/time, signature, photo/document and notes where supported.</a:t>
            </a:r>
          </a:p>
        </p:txBody>
      </p:sp>
      <p:sp>
        <p:nvSpPr>
          <p:cNvPr id="8" name="control-rh">
            <a:extLst xmlns:a="http://schemas.openxmlformats.org/drawingml/2006/main">
              <a:ext uri="{FF2B5EF4-FFF2-40B4-BE49-F238E27FC236}">
                <a16:creationId xmlns:a16="http://schemas.microsoft.com/office/drawing/2014/main" id="{F49EEC77-C9BD-4695-BCBA-104AA551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MONEY TRUTH</a:t>
            </a:r>
          </a:p>
        </p:txBody>
      </p:sp>
      <p:sp>
        <p:nvSpPr>
          <p:cNvPr id="9" name="control-rb">
            <a:extLst xmlns:a="http://schemas.openxmlformats.org/drawingml/2006/main">
              <a:ext uri="{FF2B5EF4-FFF2-40B4-BE49-F238E27FC236}">
                <a16:creationId xmlns:a16="http://schemas.microsoft.com/office/drawing/2014/main" id="{791425BD-7BEF-49FA-89C2-143B9810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COD records expected, collected, deposited, verified, settled and outstanding amounts.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Wallet credits and partner/rider/merchant settlement must happen once after verified delivery.</a:t>
            </a:r>
          </a:p>
        </p:txBody>
      </p:sp>
      <p:sp>
        <p:nvSpPr>
          <p:cNvPr id="10" name="control-note">
            <a:extLst xmlns:a="http://schemas.openxmlformats.org/drawingml/2006/main">
              <a:ext uri="{FF2B5EF4-FFF2-40B4-BE49-F238E27FC236}">
                <a16:creationId xmlns:a16="http://schemas.microsoft.com/office/drawing/2014/main" id="{E2E00F27-21BE-46A1-AD8D-B9C7CA10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B42318"/>
                </a:solidFill>
                <a:latin typeface="Nirmala UI"/>
                <a:ea typeface="Nirmala UI"/>
                <a:cs typeface="Nirmala UI"/>
              </a:rPr>
              <a:t>Goal: one event history and one financial ledger - no duplicate completion, no double COD settlement.</a:t>
            </a:r>
          </a:p>
        </p:txBody>
      </p:sp>
      <p:sp>
        <p:nvSpPr>
          <p:cNvPr id="11" name="footer-label-30">
            <a:extLst xmlns:a="http://schemas.openxmlformats.org/drawingml/2006/main">
              <a:ext uri="{FF2B5EF4-FFF2-40B4-BE49-F238E27FC236}">
                <a16:creationId xmlns:a16="http://schemas.microsoft.com/office/drawing/2014/main" id="{52B08123-0B45-4A55-9E76-0C8475EA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2" name="footer-page-30">
            <a:extLst xmlns:a="http://schemas.openxmlformats.org/drawingml/2006/main">
              <a:ext uri="{FF2B5EF4-FFF2-40B4-BE49-F238E27FC236}">
                <a16:creationId xmlns:a16="http://schemas.microsoft.com/office/drawing/2014/main" id="{0642A696-C36E-487F-BA40-8297E58E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8033135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xceptions-section">
            <a:extLst xmlns:a="http://schemas.openxmlformats.org/drawingml/2006/main">
              <a:ext uri="{FF2B5EF4-FFF2-40B4-BE49-F238E27FC236}">
                <a16:creationId xmlns:a16="http://schemas.microsoft.com/office/drawing/2014/main" id="{605FEE20-D976-4DD8-9C14-B911AFEE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EXCEPTIONS, FAILED DELIVERY AND RETURNS</a:t>
            </a:r>
          </a:p>
        </p:txBody>
      </p:sp>
      <p:sp>
        <p:nvSpPr>
          <p:cNvPr id="2" name="exceptions-title">
            <a:extLst xmlns:a="http://schemas.openxmlformats.org/drawingml/2006/main">
              <a:ext uri="{FF2B5EF4-FFF2-40B4-BE49-F238E27FC236}">
                <a16:creationId xmlns:a16="http://schemas.microsoft.com/office/drawing/2014/main" id="{D2E1E8B1-1847-4DB9-BAD1-50D7B680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Exception handling prevents silent operational failure</a:t>
            </a:r>
          </a:p>
        </p:txBody>
      </p:sp>
      <p:cxnSp>
        <p:nvCxnSpPr>
          <p:cNvPr id="21" name="exceptions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exception-row-0">
            <a:extLst xmlns:a="http://schemas.openxmlformats.org/drawingml/2006/main">
              <a:ext uri="{FF2B5EF4-FFF2-40B4-BE49-F238E27FC236}">
                <a16:creationId xmlns:a16="http://schemas.microsoft.com/office/drawing/2014/main" id="{97234CFE-D2ED-4065-BD8E-018AD102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1123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exception-head-0">
            <a:extLst xmlns:a="http://schemas.openxmlformats.org/drawingml/2006/main">
              <a:ext uri="{FF2B5EF4-FFF2-40B4-BE49-F238E27FC236}">
                <a16:creationId xmlns:a16="http://schemas.microsoft.com/office/drawing/2014/main" id="{629E186D-A98E-4811-AC93-66A3C350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PICKUP</a:t>
            </a:r>
          </a:p>
        </p:txBody>
      </p:sp>
      <p:sp>
        <p:nvSpPr>
          <p:cNvPr id="6" name="exception-copy-0">
            <a:extLst xmlns:a="http://schemas.openxmlformats.org/drawingml/2006/main">
              <a:ext uri="{FF2B5EF4-FFF2-40B4-BE49-F238E27FC236}">
                <a16:creationId xmlns:a16="http://schemas.microsoft.com/office/drawing/2014/main" id="{6E356975-A3CC-42D3-844C-65215AB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4787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Failed pickup, customer unavailable, parcel mismatch or cancellation</a:t>
            </a:r>
          </a:p>
        </p:txBody>
      </p:sp>
      <p:sp>
        <p:nvSpPr>
          <p:cNvPr id="7" name="exception-row-1">
            <a:extLst xmlns:a="http://schemas.openxmlformats.org/drawingml/2006/main">
              <a:ext uri="{FF2B5EF4-FFF2-40B4-BE49-F238E27FC236}">
                <a16:creationId xmlns:a16="http://schemas.microsoft.com/office/drawing/2014/main" id="{E1BAEE06-6D09-4F8A-8D39-967DB65F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6550"/>
            <a:ext cx="1123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8" name="exception-head-1">
            <a:extLst xmlns:a="http://schemas.openxmlformats.org/drawingml/2006/main">
              <a:ext uri="{FF2B5EF4-FFF2-40B4-BE49-F238E27FC236}">
                <a16:creationId xmlns:a16="http://schemas.microsoft.com/office/drawing/2014/main" id="{9C9D9E2E-9600-427A-9AB0-7CD06341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TRANSIT</a:t>
            </a:r>
          </a:p>
        </p:txBody>
      </p:sp>
      <p:sp>
        <p:nvSpPr>
          <p:cNvPr id="9" name="exception-copy-1">
            <a:extLst xmlns:a="http://schemas.openxmlformats.org/drawingml/2006/main">
              <a:ext uri="{FF2B5EF4-FFF2-40B4-BE49-F238E27FC236}">
                <a16:creationId xmlns:a16="http://schemas.microsoft.com/office/drawing/2014/main" id="{1666503C-44AF-4D7F-84F6-85BB7EA8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194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Delay, missed scan, damaged, lost, customs hold or partner exception</a:t>
            </a:r>
          </a:p>
        </p:txBody>
      </p:sp>
      <p:sp>
        <p:nvSpPr>
          <p:cNvPr id="10" name="exception-row-2">
            <a:extLst xmlns:a="http://schemas.openxmlformats.org/drawingml/2006/main">
              <a:ext uri="{FF2B5EF4-FFF2-40B4-BE49-F238E27FC236}">
                <a16:creationId xmlns:a16="http://schemas.microsoft.com/office/drawing/2014/main" id="{A1B3EB0A-BA60-4708-82A3-9215CA0D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48100"/>
            <a:ext cx="1123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11" name="exception-head-2">
            <a:extLst xmlns:a="http://schemas.openxmlformats.org/drawingml/2006/main">
              <a:ext uri="{FF2B5EF4-FFF2-40B4-BE49-F238E27FC236}">
                <a16:creationId xmlns:a16="http://schemas.microsoft.com/office/drawing/2014/main" id="{61F825BA-2ED5-402A-83E9-20D25B11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DELIVERY</a:t>
            </a:r>
          </a:p>
        </p:txBody>
      </p:sp>
      <p:sp>
        <p:nvSpPr>
          <p:cNvPr id="12" name="exception-copy-2">
            <a:extLst xmlns:a="http://schemas.openxmlformats.org/drawingml/2006/main">
              <a:ext uri="{FF2B5EF4-FFF2-40B4-BE49-F238E27FC236}">
                <a16:creationId xmlns:a16="http://schemas.microsoft.com/office/drawing/2014/main" id="{0D57CBB9-7E85-4D50-9923-B58BD630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9097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Recipient unavailable, wrong address, refused, COD mismatch or proof failure</a:t>
            </a:r>
          </a:p>
        </p:txBody>
      </p:sp>
      <p:sp>
        <p:nvSpPr>
          <p:cNvPr id="13" name="exception-row-3">
            <a:extLst xmlns:a="http://schemas.openxmlformats.org/drawingml/2006/main">
              <a:ext uri="{FF2B5EF4-FFF2-40B4-BE49-F238E27FC236}">
                <a16:creationId xmlns:a16="http://schemas.microsoft.com/office/drawing/2014/main" id="{4690E0C3-26B0-4FFC-AA27-C837DE1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1123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4" name="exception-head-3">
            <a:extLst xmlns:a="http://schemas.openxmlformats.org/drawingml/2006/main">
              <a:ext uri="{FF2B5EF4-FFF2-40B4-BE49-F238E27FC236}">
                <a16:creationId xmlns:a16="http://schemas.microsoft.com/office/drawing/2014/main" id="{EFA3D6E3-69DB-4831-817B-6F1727AA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RETURN</a:t>
            </a:r>
          </a:p>
        </p:txBody>
      </p:sp>
      <p:sp>
        <p:nvSpPr>
          <p:cNvPr id="15" name="exception-copy-3">
            <a:extLst xmlns:a="http://schemas.openxmlformats.org/drawingml/2006/main">
              <a:ext uri="{FF2B5EF4-FFF2-40B4-BE49-F238E27FC236}">
                <a16:creationId xmlns:a16="http://schemas.microsoft.com/office/drawing/2014/main" id="{546C350A-17A1-471C-83A9-74E288A5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625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Authorize return, create reverse custody events, notify parties and reconcile charges/COD</a:t>
            </a:r>
          </a:p>
        </p:txBody>
      </p:sp>
      <p:sp>
        <p:nvSpPr>
          <p:cNvPr id="16" name="exception-note">
            <a:extLst xmlns:a="http://schemas.openxmlformats.org/drawingml/2006/main">
              <a:ext uri="{FF2B5EF4-FFF2-40B4-BE49-F238E27FC236}">
                <a16:creationId xmlns:a16="http://schemas.microsoft.com/office/drawing/2014/main" id="{42B273DB-56D5-4C05-8A9A-52CCACCF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B42318"/>
                </a:solidFill>
                <a:latin typeface="Nirmala UI"/>
                <a:ea typeface="Nirmala UI"/>
                <a:cs typeface="Nirmala UI"/>
              </a:rPr>
              <a:t>Each exception needs a permitted transition, reason code, owner, customer-facing message, next action and SLA clock.</a:t>
            </a:r>
          </a:p>
        </p:txBody>
      </p:sp>
      <p:sp>
        <p:nvSpPr>
          <p:cNvPr id="17" name="footer-label-31">
            <a:extLst xmlns:a="http://schemas.openxmlformats.org/drawingml/2006/main">
              <a:ext uri="{FF2B5EF4-FFF2-40B4-BE49-F238E27FC236}">
                <a16:creationId xmlns:a16="http://schemas.microsoft.com/office/drawing/2014/main" id="{4F2A4F15-A29B-4930-8E0E-A655A2A9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8" name="footer-page-31">
            <a:extLst xmlns:a="http://schemas.openxmlformats.org/drawingml/2006/main">
              <a:ext uri="{FF2B5EF4-FFF2-40B4-BE49-F238E27FC236}">
                <a16:creationId xmlns:a16="http://schemas.microsoft.com/office/drawing/2014/main" id="{5E7FD965-7E91-4C38-ADB0-D9649065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5784509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nepal-section">
            <a:extLst xmlns:a="http://schemas.openxmlformats.org/drawingml/2006/main">
              <a:ext uri="{FF2B5EF4-FFF2-40B4-BE49-F238E27FC236}">
                <a16:creationId xmlns:a16="http://schemas.microsoft.com/office/drawing/2014/main" id="{378179BA-A1F7-42C3-B665-9251538F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NEPAL-SPECIFIC DESIGN</a:t>
            </a:r>
          </a:p>
        </p:txBody>
      </p:sp>
      <p:sp>
        <p:nvSpPr>
          <p:cNvPr id="2" name="nepal-title">
            <a:extLst xmlns:a="http://schemas.openxmlformats.org/drawingml/2006/main">
              <a:ext uri="{FF2B5EF4-FFF2-40B4-BE49-F238E27FC236}">
                <a16:creationId xmlns:a16="http://schemas.microsoft.com/office/drawing/2014/main" id="{C283A755-6DFA-4E0C-9626-C501A256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Nepal delivery works best with local address intelligence</a:t>
            </a:r>
          </a:p>
        </p:txBody>
      </p:sp>
      <p:cxnSp>
        <p:nvCxnSpPr>
          <p:cNvPr id="37" name="nepal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38" name="nepal-edge-0"/>
          <p:cNvCxnSpPr/>
          <p:nvPr/>
        </p:nvCxnSpPr>
        <p:spPr>
          <a:xfrm xmlns:a="http://schemas.openxmlformats.org/drawingml/2006/main">
            <a:off x="22225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9" name="nepal-edge-1"/>
          <p:cNvCxnSpPr/>
          <p:nvPr/>
        </p:nvCxnSpPr>
        <p:spPr>
          <a:xfrm xmlns:a="http://schemas.openxmlformats.org/drawingml/2006/main">
            <a:off x="41211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0" name="nepal-edge-2"/>
          <p:cNvCxnSpPr/>
          <p:nvPr/>
        </p:nvCxnSpPr>
        <p:spPr>
          <a:xfrm xmlns:a="http://schemas.openxmlformats.org/drawingml/2006/main">
            <a:off x="60198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1" name="nepal-edge-3"/>
          <p:cNvCxnSpPr/>
          <p:nvPr/>
        </p:nvCxnSpPr>
        <p:spPr>
          <a:xfrm xmlns:a="http://schemas.openxmlformats.org/drawingml/2006/main">
            <a:off x="791845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42" name="nepal-edge-4"/>
          <p:cNvCxnSpPr/>
          <p:nvPr/>
        </p:nvCxnSpPr>
        <p:spPr>
          <a:xfrm xmlns:a="http://schemas.openxmlformats.org/drawingml/2006/main">
            <a:off x="9817100" y="2800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nepal-node-0">
            <a:extLst xmlns:a="http://schemas.openxmlformats.org/drawingml/2006/main">
              <a:ext uri="{FF2B5EF4-FFF2-40B4-BE49-F238E27FC236}">
                <a16:creationId xmlns:a16="http://schemas.microsoft.com/office/drawing/2014/main" id="{1033CC18-3FC1-4E1D-B8A7-240FA748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9800"/>
            <a:ext cx="1746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nepal-step-0">
            <a:extLst xmlns:a="http://schemas.openxmlformats.org/drawingml/2006/main">
              <a:ext uri="{FF2B5EF4-FFF2-40B4-BE49-F238E27FC236}">
                <a16:creationId xmlns:a16="http://schemas.microsoft.com/office/drawing/2014/main" id="{549697E3-A185-4B9C-A723-115541FE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01</a:t>
            </a:r>
          </a:p>
        </p:txBody>
      </p:sp>
      <p:sp>
        <p:nvSpPr>
          <p:cNvPr id="11" name="nepal-copy-0">
            <a:extLst xmlns:a="http://schemas.openxmlformats.org/drawingml/2006/main">
              <a:ext uri="{FF2B5EF4-FFF2-40B4-BE49-F238E27FC236}">
                <a16:creationId xmlns:a16="http://schemas.microsoft.com/office/drawing/2014/main" id="{C680FEC0-F7C6-4749-AEFD-05481C85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479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Province</a:t>
            </a:r>
          </a:p>
        </p:txBody>
      </p:sp>
      <p:sp>
        <p:nvSpPr>
          <p:cNvPr id="12" name="nepal-node-1">
            <a:extLst xmlns:a="http://schemas.openxmlformats.org/drawingml/2006/main">
              <a:ext uri="{FF2B5EF4-FFF2-40B4-BE49-F238E27FC236}">
                <a16:creationId xmlns:a16="http://schemas.microsoft.com/office/drawing/2014/main" id="{49D7C887-ECCD-4A8D-AEFB-50662184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209800"/>
            <a:ext cx="1746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nepal-step-1">
            <a:extLst xmlns:a="http://schemas.openxmlformats.org/drawingml/2006/main">
              <a:ext uri="{FF2B5EF4-FFF2-40B4-BE49-F238E27FC236}">
                <a16:creationId xmlns:a16="http://schemas.microsoft.com/office/drawing/2014/main" id="{5FDCCCFF-7D36-4C46-843C-241CA3D8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324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  <p:sp>
        <p:nvSpPr>
          <p:cNvPr id="14" name="nepal-copy-1">
            <a:extLst xmlns:a="http://schemas.openxmlformats.org/drawingml/2006/main">
              <a:ext uri="{FF2B5EF4-FFF2-40B4-BE49-F238E27FC236}">
                <a16:creationId xmlns:a16="http://schemas.microsoft.com/office/drawing/2014/main" id="{3DE1CFC3-717F-4D93-B692-0782711F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590800"/>
            <a:ext cx="1479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District</a:t>
            </a:r>
          </a:p>
        </p:txBody>
      </p:sp>
      <p:sp>
        <p:nvSpPr>
          <p:cNvPr id="15" name="nepal-node-2">
            <a:extLst xmlns:a="http://schemas.openxmlformats.org/drawingml/2006/main">
              <a:ext uri="{FF2B5EF4-FFF2-40B4-BE49-F238E27FC236}">
                <a16:creationId xmlns:a16="http://schemas.microsoft.com/office/drawing/2014/main" id="{B7DEE349-749C-4636-87A3-56C0448C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209800"/>
            <a:ext cx="1746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nepal-step-2">
            <a:extLst xmlns:a="http://schemas.openxmlformats.org/drawingml/2006/main">
              <a:ext uri="{FF2B5EF4-FFF2-40B4-BE49-F238E27FC236}">
                <a16:creationId xmlns:a16="http://schemas.microsoft.com/office/drawing/2014/main" id="{C02DD1AA-BBDD-43CD-8F2F-DBC7DAEC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324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  <p:sp>
        <p:nvSpPr>
          <p:cNvPr id="17" name="nepal-copy-2">
            <a:extLst xmlns:a="http://schemas.openxmlformats.org/drawingml/2006/main">
              <a:ext uri="{FF2B5EF4-FFF2-40B4-BE49-F238E27FC236}">
                <a16:creationId xmlns:a16="http://schemas.microsoft.com/office/drawing/2014/main" id="{0D29E9E3-70E4-4F6E-A794-6C085EAA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590800"/>
            <a:ext cx="1479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Municipality</a:t>
            </a:r>
          </a:p>
        </p:txBody>
      </p:sp>
      <p:sp>
        <p:nvSpPr>
          <p:cNvPr id="18" name="nepal-node-3">
            <a:extLst xmlns:a="http://schemas.openxmlformats.org/drawingml/2006/main">
              <a:ext uri="{FF2B5EF4-FFF2-40B4-BE49-F238E27FC236}">
                <a16:creationId xmlns:a16="http://schemas.microsoft.com/office/drawing/2014/main" id="{BA61FE50-761A-494C-9899-10E5A0FE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1746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nepal-step-3">
            <a:extLst xmlns:a="http://schemas.openxmlformats.org/drawingml/2006/main">
              <a:ext uri="{FF2B5EF4-FFF2-40B4-BE49-F238E27FC236}">
                <a16:creationId xmlns:a16="http://schemas.microsoft.com/office/drawing/2014/main" id="{C380CEEA-AF10-4EDA-9EDD-046ECE0E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  <p:sp>
        <p:nvSpPr>
          <p:cNvPr id="20" name="nepal-copy-3">
            <a:extLst xmlns:a="http://schemas.openxmlformats.org/drawingml/2006/main">
              <a:ext uri="{FF2B5EF4-FFF2-40B4-BE49-F238E27FC236}">
                <a16:creationId xmlns:a16="http://schemas.microsoft.com/office/drawing/2014/main" id="{2AAC744A-FC39-4CDE-B78F-1D13B81E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1479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Ward</a:t>
            </a:r>
          </a:p>
        </p:txBody>
      </p:sp>
      <p:sp>
        <p:nvSpPr>
          <p:cNvPr id="21" name="nepal-node-4">
            <a:extLst xmlns:a="http://schemas.openxmlformats.org/drawingml/2006/main">
              <a:ext uri="{FF2B5EF4-FFF2-40B4-BE49-F238E27FC236}">
                <a16:creationId xmlns:a16="http://schemas.microsoft.com/office/drawing/2014/main" id="{2EACBFAC-A434-4A9E-898E-237C9C86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209800"/>
            <a:ext cx="1746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nepal-step-4">
            <a:extLst xmlns:a="http://schemas.openxmlformats.org/drawingml/2006/main">
              <a:ext uri="{FF2B5EF4-FFF2-40B4-BE49-F238E27FC236}">
                <a16:creationId xmlns:a16="http://schemas.microsoft.com/office/drawing/2014/main" id="{B36F496D-BCB0-4274-A3E5-82486F72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324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  <p:sp>
        <p:nvSpPr>
          <p:cNvPr id="23" name="nepal-copy-4">
            <a:extLst xmlns:a="http://schemas.openxmlformats.org/drawingml/2006/main">
              <a:ext uri="{FF2B5EF4-FFF2-40B4-BE49-F238E27FC236}">
                <a16:creationId xmlns:a16="http://schemas.microsoft.com/office/drawing/2014/main" id="{1973199E-8AD2-4720-BC37-4869C8D3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1479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Area + landmark</a:t>
            </a:r>
          </a:p>
        </p:txBody>
      </p:sp>
      <p:sp>
        <p:nvSpPr>
          <p:cNvPr id="24" name="nepal-node-5">
            <a:extLst xmlns:a="http://schemas.openxmlformats.org/drawingml/2006/main">
              <a:ext uri="{FF2B5EF4-FFF2-40B4-BE49-F238E27FC236}">
                <a16:creationId xmlns:a16="http://schemas.microsoft.com/office/drawing/2014/main" id="{4D4A6552-2E37-4878-9FA4-9E84CBF1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209800"/>
            <a:ext cx="1746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5" name="nepal-step-5">
            <a:extLst xmlns:a="http://schemas.openxmlformats.org/drawingml/2006/main">
              <a:ext uri="{FF2B5EF4-FFF2-40B4-BE49-F238E27FC236}">
                <a16:creationId xmlns:a16="http://schemas.microsoft.com/office/drawing/2014/main" id="{F8C22F29-BDBA-4526-BFB4-6BA356B5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324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  <p:sp>
        <p:nvSpPr>
          <p:cNvPr id="26" name="nepal-copy-5">
            <a:extLst xmlns:a="http://schemas.openxmlformats.org/drawingml/2006/main">
              <a:ext uri="{FF2B5EF4-FFF2-40B4-BE49-F238E27FC236}">
                <a16:creationId xmlns:a16="http://schemas.microsoft.com/office/drawing/2014/main" id="{8EF831F5-322D-462C-9C78-2EF548E3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590800"/>
            <a:ext cx="1479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GPS + phones</a:t>
            </a:r>
          </a:p>
        </p:txBody>
      </p:sp>
      <p:sp>
        <p:nvSpPr>
          <p:cNvPr id="27" name="nepal-stripe-head-0">
            <a:extLst xmlns:a="http://schemas.openxmlformats.org/drawingml/2006/main">
              <a:ext uri="{FF2B5EF4-FFF2-40B4-BE49-F238E27FC236}">
                <a16:creationId xmlns:a16="http://schemas.microsoft.com/office/drawing/2014/main" id="{B9DCEE4D-71E4-4678-85A0-E5E6F0B9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SERVICEABILITY</a:t>
            </a:r>
          </a:p>
        </p:txBody>
      </p:sp>
      <p:sp>
        <p:nvSpPr>
          <p:cNvPr id="28" name="nepal-stripe-copy-0">
            <a:extLst xmlns:a="http://schemas.openxmlformats.org/drawingml/2006/main">
              <a:ext uri="{FF2B5EF4-FFF2-40B4-BE49-F238E27FC236}">
                <a16:creationId xmlns:a16="http://schemas.microsoft.com/office/drawing/2014/main" id="{CA27A1E8-11B3-46F3-8D47-43E134DC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2435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Connect the structured address to delivery zone, remote access, partner coverage and COD availability.</a:t>
            </a:r>
          </a:p>
        </p:txBody>
      </p:sp>
      <p:sp>
        <p:nvSpPr>
          <p:cNvPr id="29" name="nepal-stripe-head-1">
            <a:extLst xmlns:a="http://schemas.openxmlformats.org/drawingml/2006/main">
              <a:ext uri="{FF2B5EF4-FFF2-40B4-BE49-F238E27FC236}">
                <a16:creationId xmlns:a16="http://schemas.microsoft.com/office/drawing/2014/main" id="{1AC4EE7E-5D07-481E-B585-E05FA06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005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CONNECTIVITY</a:t>
            </a:r>
          </a:p>
        </p:txBody>
      </p:sp>
      <p:sp>
        <p:nvSpPr>
          <p:cNvPr id="30" name="nepal-stripe-copy-1">
            <a:extLst xmlns:a="http://schemas.openxmlformats.org/drawingml/2006/main">
              <a:ext uri="{FF2B5EF4-FFF2-40B4-BE49-F238E27FC236}">
                <a16:creationId xmlns:a16="http://schemas.microsoft.com/office/drawing/2014/main" id="{91D50E34-1DAB-4FD9-9DA7-DF160F66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Preserve safe status and proof capture when mobile connectivity is weak; synchronize when restored.</a:t>
            </a:r>
          </a:p>
        </p:txBody>
      </p:sp>
      <p:sp>
        <p:nvSpPr>
          <p:cNvPr id="31" name="nepal-stripe-head-2">
            <a:extLst xmlns:a="http://schemas.openxmlformats.org/drawingml/2006/main">
              <a:ext uri="{FF2B5EF4-FFF2-40B4-BE49-F238E27FC236}">
                <a16:creationId xmlns:a16="http://schemas.microsoft.com/office/drawing/2014/main" id="{B363A779-358B-4C36-8D70-71D732E9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CUSTOMER CARE</a:t>
            </a:r>
          </a:p>
        </p:txBody>
      </p:sp>
      <p:sp>
        <p:nvSpPr>
          <p:cNvPr id="32" name="nepal-stripe-copy-2">
            <a:extLst xmlns:a="http://schemas.openxmlformats.org/drawingml/2006/main">
              <a:ext uri="{FF2B5EF4-FFF2-40B4-BE49-F238E27FC236}">
                <a16:creationId xmlns:a16="http://schemas.microsoft.com/office/drawing/2014/main" id="{D324B32E-388A-4872-A631-3E7C64D4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Use Nepali/English explanations, landmark-friendly directions and clear exception contacts.</a:t>
            </a:r>
          </a:p>
        </p:txBody>
      </p:sp>
      <p:sp>
        <p:nvSpPr>
          <p:cNvPr id="33" name="footer-label-32">
            <a:extLst xmlns:a="http://schemas.openxmlformats.org/drawingml/2006/main">
              <a:ext uri="{FF2B5EF4-FFF2-40B4-BE49-F238E27FC236}">
                <a16:creationId xmlns:a16="http://schemas.microsoft.com/office/drawing/2014/main" id="{9EBFE036-3D2B-4E1F-A14D-AD856E84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34" name="footer-page-32">
            <a:extLst xmlns:a="http://schemas.openxmlformats.org/drawingml/2006/main">
              <a:ext uri="{FF2B5EF4-FFF2-40B4-BE49-F238E27FC236}">
                <a16:creationId xmlns:a16="http://schemas.microsoft.com/office/drawing/2014/main" id="{3EE87BF3-20B0-472E-9094-022223B4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8673412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urity-section">
            <a:extLst xmlns:a="http://schemas.openxmlformats.org/drawingml/2006/main">
              <a:ext uri="{FF2B5EF4-FFF2-40B4-BE49-F238E27FC236}">
                <a16:creationId xmlns:a16="http://schemas.microsoft.com/office/drawing/2014/main" id="{B21E6E7F-B561-4054-8769-65EAF39E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SECURITY AND DATA CONTROLS</a:t>
            </a:r>
          </a:p>
        </p:txBody>
      </p:sp>
      <p:sp>
        <p:nvSpPr>
          <p:cNvPr id="2" name="security-title">
            <a:extLst xmlns:a="http://schemas.openxmlformats.org/drawingml/2006/main">
              <a:ext uri="{FF2B5EF4-FFF2-40B4-BE49-F238E27FC236}">
                <a16:creationId xmlns:a16="http://schemas.microsoft.com/office/drawing/2014/main" id="{654E7788-66A9-41C6-BEED-40D805D7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Role security and auditability protect customers and cash</a:t>
            </a:r>
          </a:p>
        </p:txBody>
      </p:sp>
      <p:cxnSp>
        <p:nvCxnSpPr>
          <p:cNvPr id="15" name="security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security-left">
            <a:extLst xmlns:a="http://schemas.openxmlformats.org/drawingml/2006/main">
              <a:ext uri="{FF2B5EF4-FFF2-40B4-BE49-F238E27FC236}">
                <a16:creationId xmlns:a16="http://schemas.microsoft.com/office/drawing/2014/main" id="{5B86F70C-46D8-48A3-81D7-8F3267A6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4D6"/>
            </a:solidFill>
            <a:prstDash val="solid"/>
          </a:ln>
        </p:spPr>
      </p:sp>
      <p:sp>
        <p:nvSpPr>
          <p:cNvPr id="5" name="security-right">
            <a:extLst xmlns:a="http://schemas.openxmlformats.org/drawingml/2006/main">
              <a:ext uri="{FF2B5EF4-FFF2-40B4-BE49-F238E27FC236}">
                <a16:creationId xmlns:a16="http://schemas.microsoft.com/office/drawing/2014/main" id="{5DAAC470-91F6-4A33-AC76-110F7825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3816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security-lh">
            <a:extLst xmlns:a="http://schemas.openxmlformats.org/drawingml/2006/main">
              <a:ext uri="{FF2B5EF4-FFF2-40B4-BE49-F238E27FC236}">
                <a16:creationId xmlns:a16="http://schemas.microsoft.com/office/drawing/2014/main" id="{7D277AB7-4FE2-4D32-93B3-1270E2CD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ACCESS CONTROL</a:t>
            </a:r>
          </a:p>
        </p:txBody>
      </p:sp>
      <p:sp>
        <p:nvSpPr>
          <p:cNvPr id="7" name="security-lb">
            <a:extLst xmlns:a="http://schemas.openxmlformats.org/drawingml/2006/main">
              <a:ext uri="{FF2B5EF4-FFF2-40B4-BE49-F238E27FC236}">
                <a16:creationId xmlns:a16="http://schemas.microsoft.com/office/drawing/2014/main" id="{A29F2A84-3D55-411F-A9D5-0C5F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Approved account and secure password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Role-specific dashboard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Ownership and partner/agency scoping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Admin-only sensitive registration data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Authorized POD and document access</a:t>
            </a:r>
          </a:p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Rate limiting and CSRF/session controls</a:t>
            </a:r>
          </a:p>
        </p:txBody>
      </p:sp>
      <p:sp>
        <p:nvSpPr>
          <p:cNvPr id="8" name="security-rh">
            <a:extLst xmlns:a="http://schemas.openxmlformats.org/drawingml/2006/main">
              <a:ext uri="{FF2B5EF4-FFF2-40B4-BE49-F238E27FC236}">
                <a16:creationId xmlns:a16="http://schemas.microsoft.com/office/drawing/2014/main" id="{8C71A65E-123A-41FA-805D-F10F8C7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202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HIGH-RISK CONTROLS</a:t>
            </a:r>
          </a:p>
        </p:txBody>
      </p:sp>
      <p:sp>
        <p:nvSpPr>
          <p:cNvPr id="9" name="security-rb">
            <a:extLst xmlns:a="http://schemas.openxmlformats.org/drawingml/2006/main">
              <a:ext uri="{FF2B5EF4-FFF2-40B4-BE49-F238E27FC236}">
                <a16:creationId xmlns:a16="http://schemas.microsoft.com/office/drawing/2014/main" id="{6C016FED-8D04-4727-B11E-9BF76516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0035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No delivered-before-pickup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No cancelled job assignment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One assigned rider completion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One COD collection/settlement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No public private-file exposure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Audit every privileged change</a:t>
            </a:r>
          </a:p>
        </p:txBody>
      </p:sp>
      <p:sp>
        <p:nvSpPr>
          <p:cNvPr id="10" name="security-note">
            <a:extLst xmlns:a="http://schemas.openxmlformats.org/drawingml/2006/main">
              <a:ext uri="{FF2B5EF4-FFF2-40B4-BE49-F238E27FC236}">
                <a16:creationId xmlns:a16="http://schemas.microsoft.com/office/drawing/2014/main" id="{004D9054-35E4-4F9C-9FDC-66E7291C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1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B42318"/>
                </a:solidFill>
                <a:latin typeface="Nirmala UI"/>
                <a:ea typeface="Nirmala UI"/>
                <a:cs typeface="Nirmala UI"/>
              </a:rPr>
              <a:t>Production secrets, APP_KEY, database passwords, carrier credentials and payment keys remain in protected environment configuration - never in Git, slides, documents or logs.</a:t>
            </a:r>
          </a:p>
        </p:txBody>
      </p:sp>
      <p:sp>
        <p:nvSpPr>
          <p:cNvPr id="11" name="footer-label-33">
            <a:extLst xmlns:a="http://schemas.openxmlformats.org/drawingml/2006/main">
              <a:ext uri="{FF2B5EF4-FFF2-40B4-BE49-F238E27FC236}">
                <a16:creationId xmlns:a16="http://schemas.microsoft.com/office/drawing/2014/main" id="{934B01DE-AB9C-4E9A-8DFF-28A1AE51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2" name="footer-page-33">
            <a:extLst xmlns:a="http://schemas.openxmlformats.org/drawingml/2006/main">
              <a:ext uri="{FF2B5EF4-FFF2-40B4-BE49-F238E27FC236}">
                <a16:creationId xmlns:a16="http://schemas.microsoft.com/office/drawing/2014/main" id="{D601A723-9B62-4787-AA9E-0472B5CC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41877013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ady-section">
            <a:extLst xmlns:a="http://schemas.openxmlformats.org/drawingml/2006/main">
              <a:ext uri="{FF2B5EF4-FFF2-40B4-BE49-F238E27FC236}">
                <a16:creationId xmlns:a16="http://schemas.microsoft.com/office/drawing/2014/main" id="{DD87B5BA-2FF8-4840-B5DF-0B871191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CURRENT READINESS</a:t>
            </a:r>
          </a:p>
        </p:txBody>
      </p:sp>
      <p:sp>
        <p:nvSpPr>
          <p:cNvPr id="2" name="ready-title">
            <a:extLst xmlns:a="http://schemas.openxmlformats.org/drawingml/2006/main">
              <a:ext uri="{FF2B5EF4-FFF2-40B4-BE49-F238E27FC236}">
                <a16:creationId xmlns:a16="http://schemas.microsoft.com/office/drawing/2014/main" id="{E7AA48C9-C6AF-427B-A42D-80749CE0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4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Be clear about what is live, configurable and still dependent</a:t>
            </a:r>
          </a:p>
        </p:txBody>
      </p:sp>
      <p:cxnSp>
        <p:nvCxnSpPr>
          <p:cNvPr id="20" name="ready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sp>
        <p:nvSpPr>
          <p:cNvPr id="4" name="ready-row-0">
            <a:extLst xmlns:a="http://schemas.openxmlformats.org/drawingml/2006/main">
              <a:ext uri="{FF2B5EF4-FFF2-40B4-BE49-F238E27FC236}">
                <a16:creationId xmlns:a16="http://schemas.microsoft.com/office/drawing/2014/main" id="{C2B24C2F-D222-4A43-9C42-3A903F9D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47850"/>
            <a:ext cx="1123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5" name="ready-head-0">
            <a:extLst xmlns:a="http://schemas.openxmlformats.org/drawingml/2006/main">
              <a:ext uri="{FF2B5EF4-FFF2-40B4-BE49-F238E27FC236}">
                <a16:creationId xmlns:a16="http://schemas.microsoft.com/office/drawing/2014/main" id="{50945CCA-F956-427F-82C3-E12E8018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15803D"/>
                </a:solidFill>
                <a:latin typeface="Nirmala UI"/>
                <a:ea typeface="Nirmala UI"/>
                <a:cs typeface="Nirmala UI"/>
              </a:rPr>
              <a:t>AVAILABLE NOW</a:t>
            </a:r>
          </a:p>
        </p:txBody>
      </p:sp>
      <p:sp>
        <p:nvSpPr>
          <p:cNvPr id="6" name="ready-copy-0">
            <a:extLst xmlns:a="http://schemas.openxmlformats.org/drawingml/2006/main">
              <a:ext uri="{FF2B5EF4-FFF2-40B4-BE49-F238E27FC236}">
                <a16:creationId xmlns:a16="http://schemas.microsoft.com/office/drawing/2014/main" id="{A1C37671-BC22-4DC4-AE88-B94A608E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718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Registration/approval, role dashboards, shipments, public tracking, HAWB, zones/rates, manifests, POD, seller/rider/COD workflows.</a:t>
            </a:r>
          </a:p>
        </p:txBody>
      </p:sp>
      <p:sp>
        <p:nvSpPr>
          <p:cNvPr id="7" name="ready-row-1">
            <a:extLst xmlns:a="http://schemas.openxmlformats.org/drawingml/2006/main">
              <a:ext uri="{FF2B5EF4-FFF2-40B4-BE49-F238E27FC236}">
                <a16:creationId xmlns:a16="http://schemas.microsoft.com/office/drawing/2014/main" id="{9582573F-33C6-4176-BE1D-70D2A950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6550"/>
            <a:ext cx="1123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8" name="ready-head-1">
            <a:extLst xmlns:a="http://schemas.openxmlformats.org/drawingml/2006/main">
              <a:ext uri="{FF2B5EF4-FFF2-40B4-BE49-F238E27FC236}">
                <a16:creationId xmlns:a16="http://schemas.microsoft.com/office/drawing/2014/main" id="{8A0BC643-CADA-4749-8179-1AE22A36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CONFIGURABLE / MANUAL</a:t>
            </a:r>
          </a:p>
        </p:txBody>
      </p:sp>
      <p:sp>
        <p:nvSpPr>
          <p:cNvPr id="9" name="ready-copy-1">
            <a:extLst xmlns:a="http://schemas.openxmlformats.org/drawingml/2006/main">
              <a:ext uri="{FF2B5EF4-FFF2-40B4-BE49-F238E27FC236}">
                <a16:creationId xmlns:a16="http://schemas.microsoft.com/office/drawing/2014/main" id="{375DE1DF-0459-4465-A3F6-761B62F3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718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Remote-area data, partner notification fallback, partner rates, operational status updates and some settlement inputs.</a:t>
            </a:r>
          </a:p>
        </p:txBody>
      </p:sp>
      <p:sp>
        <p:nvSpPr>
          <p:cNvPr id="10" name="ready-row-2">
            <a:extLst xmlns:a="http://schemas.openxmlformats.org/drawingml/2006/main">
              <a:ext uri="{FF2B5EF4-FFF2-40B4-BE49-F238E27FC236}">
                <a16:creationId xmlns:a16="http://schemas.microsoft.com/office/drawing/2014/main" id="{C12867AE-8143-41B0-99D6-D3792768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1123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1" name="ready-head-2">
            <a:extLst xmlns:a="http://schemas.openxmlformats.org/drawingml/2006/main">
              <a:ext uri="{FF2B5EF4-FFF2-40B4-BE49-F238E27FC236}">
                <a16:creationId xmlns:a16="http://schemas.microsoft.com/office/drawing/2014/main" id="{8ACFE296-20FA-4A2E-B589-C5B28F25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B42318"/>
                </a:solidFill>
                <a:latin typeface="Nirmala UI"/>
                <a:ea typeface="Nirmala UI"/>
                <a:cs typeface="Nirmala UI"/>
              </a:rPr>
              <a:t>NEEDS EXTERNAL ACTIVATION</a:t>
            </a:r>
          </a:p>
        </p:txBody>
      </p:sp>
      <p:sp>
        <p:nvSpPr>
          <p:cNvPr id="12" name="ready-copy-2">
            <a:extLst xmlns:a="http://schemas.openxmlformats.org/drawingml/2006/main">
              <a:ext uri="{FF2B5EF4-FFF2-40B4-BE49-F238E27FC236}">
                <a16:creationId xmlns:a16="http://schemas.microsoft.com/office/drawing/2014/main" id="{35B2DE41-AA1B-46E7-AB90-15C3D887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718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Khalti/eSewa live credentials, carrier APIs/webhooks, production mail/SMS, maps/route services and partner integration contracts.</a:t>
            </a:r>
          </a:p>
        </p:txBody>
      </p:sp>
      <p:sp>
        <p:nvSpPr>
          <p:cNvPr id="13" name="ready-row-3">
            <a:extLst xmlns:a="http://schemas.openxmlformats.org/drawingml/2006/main">
              <a:ext uri="{FF2B5EF4-FFF2-40B4-BE49-F238E27FC236}">
                <a16:creationId xmlns:a16="http://schemas.microsoft.com/office/drawing/2014/main" id="{84234F29-66D0-48AE-B03E-2E23755C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33950"/>
            <a:ext cx="1123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ready-head-3">
            <a:extLst xmlns:a="http://schemas.openxmlformats.org/drawingml/2006/main">
              <a:ext uri="{FF2B5EF4-FFF2-40B4-BE49-F238E27FC236}">
                <a16:creationId xmlns:a16="http://schemas.microsoft.com/office/drawing/2014/main" id="{AE3ED89F-20D5-4C77-BE73-777E3F18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FUTURE</a:t>
            </a:r>
          </a:p>
        </p:txBody>
      </p:sp>
      <p:sp>
        <p:nvSpPr>
          <p:cNvPr id="15" name="ready-copy-3">
            <a:extLst xmlns:a="http://schemas.openxmlformats.org/drawingml/2006/main">
              <a:ext uri="{FF2B5EF4-FFF2-40B4-BE49-F238E27FC236}">
                <a16:creationId xmlns:a16="http://schemas.microsoft.com/office/drawing/2014/main" id="{508019B2-5058-4239-A923-3B9E09B9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67300"/>
            <a:ext cx="718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350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Automatic partner scoring, ETA prediction, route optimization, offline rider sync, bulk/API merchant integrations and regional expansion.</a:t>
            </a:r>
          </a:p>
        </p:txBody>
      </p:sp>
      <p:sp>
        <p:nvSpPr>
          <p:cNvPr id="16" name="footer-label-34">
            <a:extLst xmlns:a="http://schemas.openxmlformats.org/drawingml/2006/main">
              <a:ext uri="{FF2B5EF4-FFF2-40B4-BE49-F238E27FC236}">
                <a16:creationId xmlns:a16="http://schemas.microsoft.com/office/drawing/2014/main" id="{4EE9DBDE-BEC5-4251-AD2B-3F554EBE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7" name="footer-page-34">
            <a:extLst xmlns:a="http://schemas.openxmlformats.org/drawingml/2006/main">
              <a:ext uri="{FF2B5EF4-FFF2-40B4-BE49-F238E27FC236}">
                <a16:creationId xmlns:a16="http://schemas.microsoft.com/office/drawing/2014/main" id="{07D0FAA5-2760-43EE-B429-B44C83C7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9803085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uture-section">
            <a:extLst xmlns:a="http://schemas.openxmlformats.org/drawingml/2006/main">
              <a:ext uri="{FF2B5EF4-FFF2-40B4-BE49-F238E27FC236}">
                <a16:creationId xmlns:a16="http://schemas.microsoft.com/office/drawing/2014/main" id="{19455BC1-EF75-4600-86D4-27FC95B0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ROADMAP</a:t>
            </a:r>
          </a:p>
        </p:txBody>
      </p:sp>
      <p:sp>
        <p:nvSpPr>
          <p:cNvPr id="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BD10FC72-1F7D-4102-85D4-17567792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3150" b="1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Future goal: become Nepal's logistics technology network</a:t>
            </a:r>
          </a:p>
        </p:txBody>
      </p:sp>
      <p:cxnSp>
        <p:nvCxnSpPr>
          <p:cNvPr id="19" name="future-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4D6"/>
            </a:solidFill>
            <a:prstDash val="solid"/>
          </a:ln>
        </p:spPr>
      </p:cxnSp>
      <p:cxnSp>
        <p:nvCxnSpPr>
          <p:cNvPr id="20" name="future-axis"/>
          <p:cNvCxnSpPr/>
          <p:nvPr/>
        </p:nvCxnSpPr>
        <p:spPr>
          <a:xfrm xmlns:a="http://schemas.openxmlformats.org/drawingml/2006/main">
            <a:off x="609600" y="3333750"/>
            <a:ext cx="1095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2545"/>
            </a:solidFill>
            <a:prstDash val="solid"/>
          </a:ln>
        </p:spPr>
      </p:cxnSp>
      <p:sp>
        <p:nvSpPr>
          <p:cNvPr id="5" name="future-node-0">
            <a:extLst xmlns:a="http://schemas.openxmlformats.org/drawingml/2006/main">
              <a:ext uri="{FF2B5EF4-FFF2-40B4-BE49-F238E27FC236}">
                <a16:creationId xmlns:a16="http://schemas.microsoft.com/office/drawing/2014/main" id="{F055B212-335A-48C4-A3A5-2EE4A3F7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6" name="future-label-0">
            <a:extLst xmlns:a="http://schemas.openxmlformats.org/drawingml/2006/main">
              <a:ext uri="{FF2B5EF4-FFF2-40B4-BE49-F238E27FC236}">
                <a16:creationId xmlns:a16="http://schemas.microsoft.com/office/drawing/2014/main" id="{0775C5B7-897D-4F97-A49A-751A6670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15803D"/>
                </a:solidFill>
                <a:latin typeface="Nirmala UI"/>
                <a:ea typeface="Nirmala UI"/>
                <a:cs typeface="Nirmala UI"/>
              </a:rPr>
              <a:t>NOW - STABILIZE</a:t>
            </a:r>
          </a:p>
        </p:txBody>
      </p:sp>
      <p:sp>
        <p:nvSpPr>
          <p:cNvPr id="7" name="future-copy-0">
            <a:extLst xmlns:a="http://schemas.openxmlformats.org/drawingml/2006/main">
              <a:ext uri="{FF2B5EF4-FFF2-40B4-BE49-F238E27FC236}">
                <a16:creationId xmlns:a16="http://schemas.microsoft.com/office/drawing/2014/main" id="{A69D02C0-D037-4536-B8C3-35CF32A0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Reliable deployment, RBAC, tracking events, POD/COD controls, partner and rate data.</a:t>
            </a:r>
          </a:p>
        </p:txBody>
      </p:sp>
      <p:sp>
        <p:nvSpPr>
          <p:cNvPr id="8" name="future-node-1">
            <a:extLst xmlns:a="http://schemas.openxmlformats.org/drawingml/2006/main">
              <a:ext uri="{FF2B5EF4-FFF2-40B4-BE49-F238E27FC236}">
                <a16:creationId xmlns:a16="http://schemas.microsoft.com/office/drawing/2014/main" id="{F5AAFCFB-057E-4B62-9523-163B666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67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future-label-1">
            <a:extLst xmlns:a="http://schemas.openxmlformats.org/drawingml/2006/main">
              <a:ext uri="{FF2B5EF4-FFF2-40B4-BE49-F238E27FC236}">
                <a16:creationId xmlns:a16="http://schemas.microsoft.com/office/drawing/2014/main" id="{5E42C3D4-0954-4CD5-813C-C5250F77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002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NEXT 6-12 MONTHS</a:t>
            </a:r>
          </a:p>
        </p:txBody>
      </p:sp>
      <p:sp>
        <p:nvSpPr>
          <p:cNvPr id="10" name="future-copy-1">
            <a:extLst xmlns:a="http://schemas.openxmlformats.org/drawingml/2006/main">
              <a:ext uri="{FF2B5EF4-FFF2-40B4-BE49-F238E27FC236}">
                <a16:creationId xmlns:a16="http://schemas.microsoft.com/office/drawing/2014/main" id="{19631D16-C2EC-47C0-915B-AF4ECE6F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Carrier APIs, partner score engine, merchant APIs/bulk tools, better dispatch and exception operations.</a:t>
            </a:r>
          </a:p>
        </p:txBody>
      </p:sp>
      <p:sp>
        <p:nvSpPr>
          <p:cNvPr id="11" name="future-node-2">
            <a:extLst xmlns:a="http://schemas.openxmlformats.org/drawingml/2006/main">
              <a:ext uri="{FF2B5EF4-FFF2-40B4-BE49-F238E27FC236}">
                <a16:creationId xmlns:a16="http://schemas.microsoft.com/office/drawing/2014/main" id="{A905F891-B620-4473-B9F9-9978ADC0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future-label-2">
            <a:extLst xmlns:a="http://schemas.openxmlformats.org/drawingml/2006/main">
              <a:ext uri="{FF2B5EF4-FFF2-40B4-BE49-F238E27FC236}">
                <a16:creationId xmlns:a16="http://schemas.microsoft.com/office/drawing/2014/main" id="{C43DF02F-6F35-4069-A134-0B622A87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2563EB"/>
                </a:solidFill>
                <a:latin typeface="Nirmala UI"/>
                <a:ea typeface="Nirmala UI"/>
                <a:cs typeface="Nirmala UI"/>
              </a:rPr>
              <a:t>1-3 YEARS</a:t>
            </a:r>
          </a:p>
        </p:txBody>
      </p:sp>
      <p:sp>
        <p:nvSpPr>
          <p:cNvPr id="13" name="future-copy-2">
            <a:extLst xmlns:a="http://schemas.openxmlformats.org/drawingml/2006/main">
              <a:ext uri="{FF2B5EF4-FFF2-40B4-BE49-F238E27FC236}">
                <a16:creationId xmlns:a16="http://schemas.microsoft.com/office/drawing/2014/main" id="{F522C7DC-353C-4F49-9CCC-87D9E165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0B2545"/>
                </a:solidFill>
                <a:latin typeface="Nirmala UI"/>
                <a:ea typeface="Nirmala UI"/>
                <a:cs typeface="Nirmala UI"/>
              </a:rPr>
              <a:t>National multi-carrier orchestration, fulfillment/warehousing, AI ETA/fraud/address support and South Asia corridors.</a:t>
            </a:r>
          </a:p>
        </p:txBody>
      </p:sp>
      <p:sp>
        <p:nvSpPr>
          <p:cNvPr id="14" name="future-principle">
            <a:extLst xmlns:a="http://schemas.openxmlformats.org/drawingml/2006/main">
              <a:ext uri="{FF2B5EF4-FFF2-40B4-BE49-F238E27FC236}">
                <a16:creationId xmlns:a16="http://schemas.microsoft.com/office/drawing/2014/main" id="{0260BA98-138E-4E4D-A2E1-0C0C8134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D97706"/>
                </a:solidFill>
                <a:latin typeface="Nirmala UI"/>
                <a:ea typeface="Nirmala UI"/>
                <a:cs typeface="Nirmala UI"/>
              </a:rPr>
              <a:t>Automation follows reliable data; AI is introduced only where operational history can support it.</a:t>
            </a:r>
          </a:p>
        </p:txBody>
      </p:sp>
      <p:sp>
        <p:nvSpPr>
          <p:cNvPr id="15" name="footer-label-35">
            <a:extLst xmlns:a="http://schemas.openxmlformats.org/drawingml/2006/main">
              <a:ext uri="{FF2B5EF4-FFF2-40B4-BE49-F238E27FC236}">
                <a16:creationId xmlns:a16="http://schemas.microsoft.com/office/drawing/2014/main" id="{6DCE1F4E-6A57-4B31-9334-017A62F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Professional project presentation</a:t>
            </a:r>
          </a:p>
        </p:txBody>
      </p:sp>
      <p:sp>
        <p:nvSpPr>
          <p:cNvPr id="16" name="footer-page-35">
            <a:extLst xmlns:a="http://schemas.openxmlformats.org/drawingml/2006/main">
              <a:ext uri="{FF2B5EF4-FFF2-40B4-BE49-F238E27FC236}">
                <a16:creationId xmlns:a16="http://schemas.microsoft.com/office/drawing/2014/main" id="{2777827C-2A59-48A6-B02F-3F8C403D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96842516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8E689F3A-56E6-4230-A107-6BD3FEA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6DCBF4"/>
                </a:solidFill>
                <a:latin typeface="Nirmala UI"/>
                <a:ea typeface="Nirmala UI"/>
                <a:cs typeface="Nirmala UI"/>
              </a:rPr>
              <a:t>COURIER with NETPACK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640588A-342A-468B-AB5E-5ECCF55A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rPr sz="4725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One booking. One network.</a:t>
            </a:r>
          </a:p>
          <a:p xmlns:a="http://schemas.openxmlformats.org/drawingml/2006/main">
            <a:pPr algn="l">
              <a:defRPr sz="4725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rPr sz="4725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One trusted delivery history.</a:t>
            </a:r>
          </a:p>
        </p:txBody>
      </p:sp>
      <p:sp>
        <p:nvSpPr>
          <p:cNvPr id="3" name="close-nepali">
            <a:extLst xmlns:a="http://schemas.openxmlformats.org/drawingml/2006/main">
              <a:ext uri="{FF2B5EF4-FFF2-40B4-BE49-F238E27FC236}">
                <a16:creationId xmlns:a16="http://schemas.microsoft.com/office/drawing/2014/main" id="{5376DEB3-DF9F-4524-93AA-F9F106B0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368B2538-DEF0-4E25-8E44-0C69954E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Next: validate every role in staging, activate approved integrations, then promote with evidence.</a:t>
            </a:r>
          </a:p>
        </p:txBody>
      </p:sp>
      <p:sp>
        <p:nvSpPr>
          <p:cNvPr id="5" name="footer-label-36">
            <a:extLst xmlns:a="http://schemas.openxmlformats.org/drawingml/2006/main">
              <a:ext uri="{FF2B5EF4-FFF2-40B4-BE49-F238E27FC236}">
                <a16:creationId xmlns:a16="http://schemas.microsoft.com/office/drawing/2014/main" id="{ABD97E6A-B741-4D1D-9CB8-EB8B0C7D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Door-to-door service solution</a:t>
            </a:r>
          </a:p>
        </p:txBody>
      </p:sp>
      <p:sp>
        <p:nvSpPr>
          <p:cNvPr id="6" name="footer-page-36">
            <a:extLst xmlns:a="http://schemas.openxmlformats.org/drawingml/2006/main">
              <a:ext uri="{FF2B5EF4-FFF2-40B4-BE49-F238E27FC236}">
                <a16:creationId xmlns:a16="http://schemas.microsoft.com/office/drawing/2014/main" id="{DE10EBCB-F3F9-4ED9-8B3A-D6D1023A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526173"/>
                </a:solidFill>
                <a:latin typeface="Nirmala UI"/>
                <a:ea typeface="Nirmala UI"/>
                <a:cs typeface="Nirmala U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713223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2026-09-01T11:30:09.1320000Z</dcterms:created>
  <dcterms:modified xsi:type="dcterms:W3CDTF">2026-09-01T11:30:09.1320000Z</dcterms:modified>
</coreProperties>
</file>